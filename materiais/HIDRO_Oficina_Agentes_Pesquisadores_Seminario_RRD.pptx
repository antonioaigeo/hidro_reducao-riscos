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(parte dos 10 min iniciais). Oficina de 90 minutos para agentes de proteção e defesa civil e pesquisadores. Objetivos: conhecer o HIDRO, discutir como usá-lo nas escolas e aplicar e avaliar o jogo com esta turma. Não foi possível ler o programa oficial do Seminário RRD 2026 na hora de montar este material: confirme duração, número de participantes e infraestrutura (computadores ou celulares, internet, projetor).
Pergunte: quem já realizou ações educativas em escolas? quem já usou jogos digitais em ações educativas?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OBJETIVOS (2 min). Três objetivos. O terceiro é o que diferencia esta oficina: vocês são especialistas e sua opinião ajuda a corrigir e a adaptar o jogo antes de ele chegar a mais escolas.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(2 min). Total de 90 minutos. A avaliação com a turma (25 min) é composta por: pós-teste e experiência (7 min), validação de conteúdo (10 min) e roda de conversa (8 min). O consentimento e o pré-teste (7 min) acontecem na abertura. Se a oficina for mais curta (60 min), reduza as formas de uso e faça o plano de parceria como tarefa.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(5 min). Para quem atua em defesa civil e pesquisa: a educação é parte da prevenção. (1) Marco de Sendai 2015-2030: prioriza incorporar o conhecimento sobre o risco de desastres na educação formal e não formal e reconhece crianças e jovens como agentes de mudança. (2) Lei 12.608/2012: a PNPDEC prevê orientar as comunidades a adotar comportamentos adequados de prevenção e de resposta em situação de desastre; o art. 29 acrescentou à LDB a orientação de incluir os princípios de proteção e defesa civil nos currículos do ensino fundamental e médio. Atenção: o art. 26 da LDB foi reorganizado depois (Lei 13.415/2017); confira a redação vigente antes de citar. (3) BNCC: é a linguagem que as escolas usam para planejar; conhecê-la facilita a parceria.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DESAFIO PEDAGÓGICO (5 min). Saber definir enchente não é o mesmo que saber o que fazer quando a água sobe. A educação para RRD precisa trabalhar três dimensões: conceitos (o que é), procedimentos (o que fazer e em que ordem) e atitudes (cuidar de si e do outro, cooperar, agir com responsabilidade).
A literatura sobre educação para redução de riscos de desastres (ERRD) aponta que pesquisas e práticas são relativamente recentes e que há necessidade de avançar na concepção de metodologias. Um exemplo é o artigo sobre o minicurso "Ações educativas para a redução de riscos e desastres" (II Seminário Internacional de Riscos e Desastres Socioambientais, 2019), disponível na Redalyc (doi: 10.19180/1809-2667.v23n12021p299-314).
Pergunta ao público: que metodologias vocês já usam para trabalhar decisão e procedimento, e não só conceito?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HIDRO EM UMA PÁGINA (4 min). Jogo educativo digital em pixel-art, que roda no navegador (computador, tablet ou celular). O estudante é o Hidro e precisa proteger casa, rua e comunidade em quatro cenários, seguindo um protocolo real de autoproteção. Traz quiz, conversas de mito ou verdade, glossário, medalhas, Modo Professor e opções de acessibilidade. Não coleta dados pessoais: o progresso fica no aparelho.
Público do jogo: estudantes do Ensino Fundamental, com apoio de professores e de agentes de proteção e defesa civil. Público desta oficina: agentes de proteção e defesa civil e pesquisadores, que podem levar o jogo às escolas e ajudar a validá-lo.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MECÂNICAS E APRENDIZAGEM (5 min). Cada mecânica do jogo tem uma intenção pedagógica.
- Ordem obrigatória: ensina que o protocolo tem sequência (proteção pessoal, aviso, ação). O jogo bloqueia e explica.
- Relógio do desastre: ensina urgência e priorização, mas pausa durante diálogos e quiz.
- Game over com explicação: mostra a consequência de decisões perigosas e permite tentar de novo (erro seguro).
- Mito ou verdade: confronta concepções alternativas.
- Quiz e glossário: consolidam conceitos e vocabulário técnico com o nome popular ao lado.
- Modo Professor: registro de decisões seguras e perigosas e do quiz por fase.
- Modo calmo: efeitos reduzidos e sem relógio, para sensibilidade sensorial, ansiedade ou primeiro contato.
- Dificuldade (Fácil/Normal/Difícil): ajusta a velocidade com que o perigo cresce, útil para diferenciar entre turmas ou estudantes.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DEMONSTRAÇÃO AO VIVO (15 min com perguntas). Abra o jogo no projetor. Roteiro: (1) menu: mostre o seletor de fases e o glossário (G); (2) Fase 1: equipar a capa, ligar para o 199, desligar o disjuntor; (3) chegue perto do poço de visita sem tampão para mostrar o aviso e o game over com explicação; (4) mostre o medidor de risco e a seta-guia; (5) abra o Modo Professor (T); (6) ligue o modo calmo (C) e mostre a diferença. Se a internet falhar, use as capturas dos slides da oficina dos alunos.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JOGUE E OBSERVE (20 min). Em duplas, cada participante joga uma fase (sugestão: Fase 1 ou Fase 2) e anota na Ficha de observação técnica (Instrumento 5) o que chamar a atenção: conceitos, terminologia, protocolo, realismo, linguagem, falhas técnicas e acessibilidade. Numa rodada, ligue o modo calmo (tecla C) e compare. Se houver poucos aparelhos, use o modo turma: um projetor e a plateia decide por votação. Circule pela sala e ajude com dúvidas técnicas. Ao final, peça que guardem as fichas: elas serão usadas na validação e na roda de conversa.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SERÁ A AVALIAÇÃO COM ESTA TURMA (4 min). Explique com transparência. A participação é voluntária e anônima: cada pessoa usa um código, não o nome. O consentimento e o pré-teste acontecem na abertura (Instrumentos 1 e 2). Depois do jogo, vêm o pós e a experiência (Instrumento 3), a validação de conteúdo (Instrumento 4) e a roda de conversa (Instrumento 6). Os dados são lançados na planilha, que calcula médias e o índice de validade de conteúdo. Transparência ética: se os dados forem usados em pesquisa, é preciso consentimento e aprovação do Comitê de Ética; se for apenas devolutiva para aperfeiçoar o jogo, use formulários anônimos. Ajuste o que for dito de acordo com a situação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VALIDAÇÃO DE CONTEÚDO (4 min). Aqui a expertise do público é o dado mais importante. São 24 itens em 6 dimensões (A a F). Escala de 1 a 4: 1 inadequado; 2 precisa de revisão importante; 3 adequado com pequenos ajustes; 4 totalmente adequado. Quem der 1 ou 2 escreve a sugestão de ajuste. Cada participante avalia apenas as dimensões da sua área, se preferir. A planilha calcula o I-CVI por item (nº de notas 3 ou 4 dividido pelo nº de avaliadores) e o índice geral. Referências usuais: I-CVI de 1,00 com até 5 avaliadores e de 0,78 ou mais com 6 ou mais (Lynn, 1986); S-CVI/Ave de 0,90 ou mais (Polit e Beck, 2006). Explique que não é uma prova: é a forma de registrar onde o jogo precisa melhorar.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PAPEL DA DEFESA CIVIL E DA PESQUISA (4 min). Vocês têm quatro papéis possíveis junto às escolas. (1) Formação: capacitar professores e equipes com o jogo e o material. (2) Apoio às ações: palestras, oficinas, semana de prevenção e simulados, com o jogo como estação. (3) Validação e adaptação local: garantir que fenômenos, telefones e alertas correspondam à realidade do município. (4) Pesquisa e avaliação: estudos de aprendizagem, de implementação e de acessibilidade, em parceria com universidades.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POSSIBILIDADES DE USO (3 min de visão geral, depois um slide por modelo). O HIDRO não precisa ser aplicado sempre da mesma forma. Escolha o modelo pela realidade da escola: tempo, número de aparelhos, parceiros e objetivos.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A (3 min). É o plano de aula completo do site. Aula 1: acolhida, base teórica (infiltração e escoamento, microdrenagem, risco), os quatro fenômenos, mito ou verdade e protocolo. Aula 2: organização, jogo em duplas (2 fases), roda de conversa e bilhete de saída. Existe uma versão para 1 aula. Bom para: escolas com uma ou duas aulas de Geografia ou Ciências e alguns computadores.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B (3 min). Rotação por estações resolve o problema de poucos aparelhos. Divida a turma em 4 grupos; cada estação dura cerca de 15 minutos (total de 60 min). Estações: 1) jogo HIDRO (2 ou 3 aparelhos); 2) experimento chuva na maquete; 3) mapa de riscos (croqui do entorno); 4) mito ou verdade e treino do protocolo. O professor circula e ao final há uma síntese coletiva. Exige mais organização prévia (materiais) e um monitor por estação, se possível.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C (3 min). Projeto interdisciplinar de 2 a 3 semanas. Semana 1 (Geografia e Ciências): base teórica e experimento de infiltração. Semana 2 (Geografia e Matemática): jogo, gráficos e porcentagens, mapa de riscos. Semana 3 (Língua Portuguesa e Artes): campanha de comunicação, debate e mostra final. O produto final pode ser uma mostra na escola ou a entrega das sugestões à gestão e à Defesa Civil. Bom para escolas com planejamento coletivo.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 (3 min). Semana de prevenção ou mostra de ciências: o HIDRO entra como estação de aprendizagem, ao lado de palestra de um agente de Defesa Civil, exposição de mapas de risco produzidos pelos estudantes e, quando existir, um simulado de evacuação conduzido pela escola com a Defesa Civil. Importante: o jogo prepara o terreno, mas não substitui o simulado real nem as orientações da Defesa Civil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MODELOS E e F (3 min). E: formação de professores, gestores e agentes: use o HIDRO como recurso de formação. O grupo vivencia o jogo, discute a proposta pedagógica e planeja a aplicação (foi o que fizemos hoje). Ideal em jornadas pedagógicas e encontros de formação continuada, com 3 a 4 horas. Em alguns municípios existem núcleos comunitários de defesa civil (NUDEC) e programas de defesa civil nas escolas: verifique o que há na sua região. F: clube, eletiva ou turno integral: permite trilhas de enriquecimento (mapas com SIG, projeto de diagnóstico, criação de fase) e projetos de longo prazo.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BNCC (5 min). Os textos integrais das habilidades estão no Plano de aula. A articulação é uma proposta: escolha o que dialoga com o seu planejamento. Códigos conferidos com o texto da BNCC (2018). Atenção: o currículo do seu estado ou município pode adaptar a redação. Para o 8º e o 9º ano, a articulação se dá sobretudo por Ciências, pelas Competências Gerais e pelos temas transversais; confira no seu currículo as habilidades de Geografia da unidade temática Natureza, ambientes e qualidade de vida.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ATIVIDADES PARA APLICAR (3 min). O Caderno de atividades descreve 11 atividades com objetivo, BNCC, materiais, passo a passo, variações para TEA e altas habilidades e forma de avaliar. Destaque duas: Chuva na maquete (experimento de infiltração e escoamento, com cálculo de porcentagem) e o Mapa de riscos do bairro (mapa temático). Ambas ligam o jogo ao território dos estudantes.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INCLUSÃO: ESTUDANTES AUTISTAS (4 min). Não há receita única: o autismo é muito variado. Converse com a família e com o AEE. O que o jogo oferece: modo calmo (tecla C ou menu PAUSAR) que liga efeitos reduzidos (sem relâmpagos, tremor de tela e flash) e sem relógio (o perigo não cresce com o tempo); dificuldade ajustável (Fácil/Normal/Difícil, no menu PAUSAR); botão SOM; alto contraste (H); guia (K); pausa a qualquer momento; preferências salvas no aparelho. Limites: textos longos e sem narração, linguagem figurada, sem ajuste de tamanho de letra dentro do jogo, controles que exigem coordenação. Estratégias: agenda visual, história social, avisos antes de mudanças, papéis claros na dupla, cartões de comunicação, tempo extra, linguagem literal. O Guia de inclusão traz agenda visual, história social e cartões prontos para imprimir.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INCLUSÃO: ALTAS HABILIDADES OU SUPERDOTAÇÃO (3 min). A identificação é feita por avaliação especializada: não rotule estudantes em sala, ofereça enriquecimento a quem se interessar. Modelo Triádico de Enriquecimento (Renzulli): Tipo I (exploratórias), Tipo II (treinamento em grupo) e Tipo III (investigações de problemas reais). Exemplos: dados e mapas de risco do município (por exemplo, materiais do Serviço Geológico do Brasil e do Cemaden, quando disponíveis); método racional Q = 0,278 x C x i x A; QGIS; diagnóstico de risco da escola; criar fase e quiz. Lembre da dupla condição (altas habilidades e autismo) e combine os apoios.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IDEIAS DE PESQUISA E COLABORAÇÃO (3 min). Para os pesquisadores da sala: quatro linhas possíveis. (1) Aprendizagem: pré e pós-teste, idealmente com grupo de comparação. (2) Validade de conteúdo e adaptação regional: repetir a validação com outros grupos de especialistas e adaptar mapas, fenômenos e alertas a diferentes municípios. (3) Inclusão e acessibilidade: barreiras e facilitadores para estudantes autistas e com altas habilidades. (4) Implementação: o que ajuda ou dificulta o uso em escolas públicas (tempo, aparelhos, formação). Os instrumentos e os cuidados éticos estão no material de avaliação.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AVALIAR A METODOLOGIA (4 min). Se você deseja investigar o jogo (pesquisa), o material de Instrumentos de avaliação traz: questionário de conhecimentos de 12 itens mais 2 abertas para pré e pós; escala de percepção de preparo; escala de experiência com o jogo; roteiro de observação; ficha de registro do Modo Professor; roteiros de grupo focal e de entrevista com professores. Desenho sugerido: pré e pós-teste em uma turma, somado a observação, registros do Modo Professor e grupo focal. Análise: Wilcoxon ou t pareado e ganho normalizado (Hake, 1998). Ética: autorização da escola, TCLE e TALE e aprovação no CEP (Resolução CNS 510/2016). As escalas foram elaboradas para esta oficina e não são validadas: interprete com cautela.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PLANO DE PARCERIA (8 min). Cada participante (ou grupo da mesma instituição) preenche a tabela com o seu contexto e escolhe um modelo de uso. Frases curtas. No final, 2 ou 3 voluntários compartilham. A tabela é editável: você pode projetar e preencher com o grupo ou imprimir uma cópia por participante.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DEVOLUTIVA DOS RESULTADOS (5 min). Ao final, mostre à turma os resultados da própria oficina. Abra a planilha, aba Resumo, e cole aqui os gráficos ou os números principais: confiança antes e depois, experiência com o jogo e o índice de validade de conteúdo (I-CVI) por dimensão, com os itens a revisar. Comente os limites: turma pequena, amostra de conveniência, escalas não validadas. Agradeça as contribuições e informe como os ajustes serão registrados no quadro de decisões.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CUIDADOS E LIMITES (3 min). Seja transparente com o público. (1) O jogo não substitui simulados nem treinamentos da Defesa Civil. (2) Os conteúdos são gerais: adapte ao município e confirme telefones e serviços de alerta locais. (3) Nunca ligue de verdade para 199, 193 ou 192 para treinar. (4) Acolha emoções: alguns estudantes viveram enchentes. (5) A efetividade do jogo ainda está em avaliação. (6) Licenciamento e direitos de uso: em definição; use para fins educacionais com crédito e consulte o autor para outros usos.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MATERIAIS (3 min). Apresente onde encontrar tudo. Substitua os campos entre colchetes pelo endereço do site e insira o QR code antes da oficina. O jogo está no itch.io. No site: plano de aula com BNCC, caderno de atividades, guia de inclusão, instrumentos de avaliação, slides das oficinas e cartões para imprimir.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REFERÊNCIAS. Conferidas com as fontes oficiais quanto aos textos de lei e da BNCC. Verifique sempre a redação vigente.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(10 min). Retome os objetivos. Abra para perguntas e para o compartilhamento dos planos. Convide os participantes a testar o jogo e a enviar sugestões: o material é melhorado com a experiência de quem aplica. Agradeça à organização do Seminário RRD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E"/>
        </a:solidFill>
      </p:bgPr>
    </p:bg>
    <p:spTree>
      <p:nvGrpSpPr>
        <p:cNvPr id="1" name=""/>
        <p:cNvGrpSpPr/>
        <p:nvPr/>
      </p:nvGrpSpPr>
      <p:grpSpPr>
        <a:xfrm>
          <a:off x="0" y="0"/>
          <a:ext cx="0" cy="0"/>
          <a:chOff x="0" y="0"/>
          <a:chExt cx="0" cy="0"/>
        </a:xfrm>
      </p:grpSpPr>
      <p:sp>
        <p:nvSpPr>
          <p:cNvPr id="3" name="Text 0"/>
          <p:cNvSpPr txBox="1"/>
          <p:nvPr/>
        </p:nvSpPr>
        <p:spPr>
          <a:xfrm>
            <a:off x="640080" y="640080"/>
            <a:ext cx="3749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300" b="1" spc="100" kern="0" dirty="0">
                <a:solidFill>
                  <a:srgbClr val="0F1B2E"/>
                </a:solidFill>
                <a:latin typeface="Calibri" pitchFamily="34" charset="0"/>
                <a:ea typeface="Calibri" pitchFamily="34" charset="-122"/>
                <a:cs typeface="Calibri" pitchFamily="34" charset="-120"/>
              </a:rPr>
              <a:t>SEMINÁRIO RRD 2026  |  OFICINA</a:t>
            </a:r>
            <a:endParaRPr lang="en-US" sz="1300" dirty="0"/>
          </a:p>
        </p:txBody>
      </p:sp>
      <p:sp>
        <p:nvSpPr>
          <p:cNvPr id="4" name="Text 1"/>
          <p:cNvSpPr txBox="1"/>
          <p:nvPr/>
        </p:nvSpPr>
        <p:spPr>
          <a:xfrm>
            <a:off x="640080" y="1234440"/>
            <a:ext cx="5486400" cy="22860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HIDRO: um jogo para educar em redução de riscos</a:t>
            </a:r>
            <a:endParaRPr lang="en-US" sz="4000" dirty="0"/>
          </a:p>
        </p:txBody>
      </p:sp>
      <p:sp>
        <p:nvSpPr>
          <p:cNvPr id="5" name="Text 2"/>
          <p:cNvSpPr txBox="1"/>
          <p:nvPr/>
        </p:nvSpPr>
        <p:spPr>
          <a:xfrm>
            <a:off x="640080" y="3611880"/>
            <a:ext cx="5394960" cy="1280160"/>
          </a:xfrm>
          <a:prstGeom prst="rect">
            <a:avLst/>
          </a:prstGeom>
          <a:noFill/>
          <a:ln/>
        </p:spPr>
        <p:txBody>
          <a:bodyPr wrap="square" lIns="0" tIns="0" rIns="0" bIns="0" rtlCol="0" anchor="t"/>
          <a:lstStyle/>
          <a:p>
            <a:pPr indent="0" marL="0">
              <a:buNone/>
            </a:pPr>
            <a:r>
              <a:rPr lang="en-US" sz="1900" dirty="0">
                <a:solidFill>
                  <a:srgbClr val="BFE3F6"/>
                </a:solidFill>
                <a:latin typeface="Calibri" pitchFamily="34" charset="0"/>
                <a:ea typeface="Calibri" pitchFamily="34" charset="-122"/>
                <a:cs typeface="Calibri" pitchFamily="34" charset="-120"/>
              </a:rPr>
              <a:t>Conhecer, aplicar e avaliar. Oficina para agentes de proteção e defesa civil e pesquisadores.</a:t>
            </a:r>
            <a:endParaRPr lang="en-US" sz="1900" dirty="0"/>
          </a:p>
        </p:txBody>
      </p:sp>
      <p:sp>
        <p:nvSpPr>
          <p:cNvPr id="6" name="Text 3"/>
          <p:cNvSpPr txBox="1"/>
          <p:nvPr/>
        </p:nvSpPr>
        <p:spPr>
          <a:xfrm>
            <a:off x="640080" y="4937760"/>
            <a:ext cx="548640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Antonio Idêrlian Pereira de Sousa</a:t>
            </a:r>
            <a:endParaRPr lang="en-US" sz="1700" dirty="0"/>
          </a:p>
        </p:txBody>
      </p:sp>
      <p:sp>
        <p:nvSpPr>
          <p:cNvPr id="7" name="Shape 4"/>
          <p:cNvSpPr/>
          <p:nvPr/>
        </p:nvSpPr>
        <p:spPr>
          <a:xfrm>
            <a:off x="640080" y="5440680"/>
            <a:ext cx="5394960" cy="914400"/>
          </a:xfrm>
          <a:prstGeom prst="roundRect">
            <a:avLst>
              <a:gd name="adj" fmla="val 12000"/>
            </a:avLst>
          </a:prstGeom>
          <a:solidFill>
            <a:srgbClr val="FFFFFF"/>
          </a:solidFill>
          <a:ln w="12700">
            <a:solidFill>
              <a:srgbClr val="FFFFFF"/>
            </a:solidFill>
            <a:prstDash val="solid"/>
          </a:ln>
        </p:spPr>
      </p:sp>
      <p:pic>
        <p:nvPicPr>
          <p:cNvPr id="8" name="Image 0" descr="art/logo-ufgd.png">    </p:cNvPr>
          <p:cNvPicPr>
            <a:picLocks noChangeAspect="1"/>
          </p:cNvPicPr>
          <p:nvPr/>
        </p:nvPicPr>
        <p:blipFill>
          <a:blip r:embed="rId1"/>
          <a:stretch>
            <a:fillRect/>
          </a:stretch>
        </p:blipFill>
        <p:spPr>
          <a:xfrm>
            <a:off x="898365" y="5541264"/>
            <a:ext cx="1479905" cy="713232"/>
          </a:xfrm>
          <a:prstGeom prst="rect">
            <a:avLst/>
          </a:prstGeom>
        </p:spPr>
      </p:pic>
      <p:pic>
        <p:nvPicPr>
          <p:cNvPr id="9" name="Image 1" descr="art/logo-fca.png">    </p:cNvPr>
          <p:cNvPicPr>
            <a:picLocks noChangeAspect="1"/>
          </p:cNvPicPr>
          <p:nvPr/>
        </p:nvPicPr>
        <p:blipFill>
          <a:blip r:embed="rId2"/>
          <a:stretch>
            <a:fillRect/>
          </a:stretch>
        </p:blipFill>
        <p:spPr>
          <a:xfrm>
            <a:off x="2636554" y="5541264"/>
            <a:ext cx="1384978" cy="713232"/>
          </a:xfrm>
          <a:prstGeom prst="rect">
            <a:avLst/>
          </a:prstGeom>
        </p:spPr>
      </p:pic>
      <p:pic>
        <p:nvPicPr>
          <p:cNvPr id="10" name="Image 2" descr="art/logo-ppgg.png">    </p:cNvPr>
          <p:cNvPicPr>
            <a:picLocks noChangeAspect="1"/>
          </p:cNvPicPr>
          <p:nvPr/>
        </p:nvPicPr>
        <p:blipFill>
          <a:blip r:embed="rId3"/>
          <a:stretch>
            <a:fillRect/>
          </a:stretch>
        </p:blipFill>
        <p:spPr>
          <a:xfrm>
            <a:off x="4279817" y="5541264"/>
            <a:ext cx="1496938" cy="713232"/>
          </a:xfrm>
          <a:prstGeom prst="rect">
            <a:avLst/>
          </a:prstGeom>
        </p:spPr>
      </p:pic>
      <p:pic>
        <p:nvPicPr>
          <p:cNvPr id="11" name="Image 3" descr="art/hero.png">    </p:cNvPr>
          <p:cNvPicPr>
            <a:picLocks noChangeAspect="1"/>
          </p:cNvPicPr>
          <p:nvPr/>
        </p:nvPicPr>
        <p:blipFill>
          <a:blip r:embed="rId4"/>
          <a:stretch>
            <a:fillRect/>
          </a:stretch>
        </p:blipFill>
        <p:spPr>
          <a:xfrm>
            <a:off x="6355080" y="1371600"/>
            <a:ext cx="5394960" cy="2967228"/>
          </a:xfrm>
          <a:prstGeom prst="rect">
            <a:avLst/>
          </a:prstGeom>
        </p:spPr>
      </p:pic>
      <p:sp>
        <p:nvSpPr>
          <p:cNvPr id="12" name="Text 5"/>
          <p:cNvSpPr txBox="1"/>
          <p:nvPr/>
        </p:nvSpPr>
        <p:spPr>
          <a:xfrm>
            <a:off x="6355080" y="4430268"/>
            <a:ext cx="5394960" cy="274320"/>
          </a:xfrm>
          <a:prstGeom prst="rect">
            <a:avLst/>
          </a:prstGeom>
          <a:noFill/>
          <a:ln/>
        </p:spPr>
        <p:txBody>
          <a:bodyPr wrap="square" lIns="0" tIns="0" rIns="0" bIns="0" rtlCol="0" anchor="t"/>
          <a:lstStyle/>
          <a:p>
            <a:pPr algn="r" indent="0" marL="0">
              <a:buNone/>
            </a:pPr>
            <a:r>
              <a:rPr lang="en-US" sz="1100" dirty="0">
                <a:solidFill>
                  <a:srgbClr val="B8CCE6"/>
                </a:solidFill>
                <a:latin typeface="Calibri" pitchFamily="34" charset="0"/>
                <a:ea typeface="Calibri" pitchFamily="34" charset="-122"/>
                <a:cs typeface="Calibri" pitchFamily="34" charset="-120"/>
              </a:rPr>
              <a:t>Cena do jogo HIDRO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ABERTURA</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O que vamos fazer juntos</a:t>
            </a:r>
            <a:endParaRPr lang="en-US" sz="3400" dirty="0"/>
          </a:p>
        </p:txBody>
      </p:sp>
      <p:sp>
        <p:nvSpPr>
          <p:cNvPr id="5" name="Shape 2"/>
          <p:cNvSpPr/>
          <p:nvPr/>
        </p:nvSpPr>
        <p:spPr>
          <a:xfrm>
            <a:off x="548640" y="1828800"/>
            <a:ext cx="11064240" cy="128016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777240" y="2084832"/>
            <a:ext cx="768096" cy="768096"/>
          </a:xfrm>
          <a:prstGeom prst="ellipse">
            <a:avLst/>
          </a:prstGeom>
          <a:solidFill>
            <a:srgbClr val="2A9FD6"/>
          </a:solidFill>
          <a:ln w="12700">
            <a:solidFill>
              <a:srgbClr val="2A9FD6"/>
            </a:solidFill>
            <a:prstDash val="solid"/>
          </a:ln>
        </p:spPr>
      </p:sp>
      <p:pic>
        <p:nvPicPr>
          <p:cNvPr id="7" name="Image 0" descr="art/icons/Gamepad_w.png">    </p:cNvPr>
          <p:cNvPicPr>
            <a:picLocks noChangeAspect="1"/>
          </p:cNvPicPr>
          <p:nvPr/>
        </p:nvPicPr>
        <p:blipFill>
          <a:blip r:embed="rId1"/>
          <a:stretch>
            <a:fillRect/>
          </a:stretch>
        </p:blipFill>
        <p:spPr>
          <a:xfrm>
            <a:off x="961583" y="2269175"/>
            <a:ext cx="399410" cy="399410"/>
          </a:xfrm>
          <a:prstGeom prst="rect">
            <a:avLst/>
          </a:prstGeom>
        </p:spPr>
      </p:pic>
      <p:sp>
        <p:nvSpPr>
          <p:cNvPr id="8" name="Text 4"/>
          <p:cNvSpPr txBox="1"/>
          <p:nvPr/>
        </p:nvSpPr>
        <p:spPr>
          <a:xfrm>
            <a:off x="1783080" y="1920240"/>
            <a:ext cx="9601200" cy="10972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Conhecer o HIDRO: </a:t>
            </a:r>
            <a:pPr indent="0" marL="0">
              <a:buNone/>
            </a:pPr>
            <a:r>
              <a:rPr lang="en-US" sz="2000" dirty="0">
                <a:solidFill>
                  <a:srgbClr val="14213D"/>
                </a:solidFill>
                <a:latin typeface="Calibri" pitchFamily="34" charset="0"/>
                <a:ea typeface="Calibri" pitchFamily="34" charset="-122"/>
                <a:cs typeface="Calibri" pitchFamily="34" charset="-120"/>
              </a:rPr>
              <a:t>o que é, como ensina e o que ele registra.</a:t>
            </a:r>
            <a:endParaRPr lang="en-US" sz="2000" dirty="0"/>
          </a:p>
        </p:txBody>
      </p:sp>
      <p:sp>
        <p:nvSpPr>
          <p:cNvPr id="9" name="Shape 5"/>
          <p:cNvSpPr/>
          <p:nvPr/>
        </p:nvSpPr>
        <p:spPr>
          <a:xfrm>
            <a:off x="548640" y="3291840"/>
            <a:ext cx="11064240" cy="128016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0" name="Shape 6"/>
          <p:cNvSpPr/>
          <p:nvPr/>
        </p:nvSpPr>
        <p:spPr>
          <a:xfrm>
            <a:off x="777240" y="3547872"/>
            <a:ext cx="768096" cy="768096"/>
          </a:xfrm>
          <a:prstGeom prst="ellipse">
            <a:avLst/>
          </a:prstGeom>
          <a:solidFill>
            <a:srgbClr val="2FA36B"/>
          </a:solidFill>
          <a:ln w="12700">
            <a:solidFill>
              <a:srgbClr val="2FA36B"/>
            </a:solidFill>
            <a:prstDash val="solid"/>
          </a:ln>
        </p:spPr>
      </p:sp>
      <p:pic>
        <p:nvPicPr>
          <p:cNvPr id="11" name="Image 1" descr="art/icons/School_w.png">    </p:cNvPr>
          <p:cNvPicPr>
            <a:picLocks noChangeAspect="1"/>
          </p:cNvPicPr>
          <p:nvPr/>
        </p:nvPicPr>
        <p:blipFill>
          <a:blip r:embed="rId2"/>
          <a:stretch>
            <a:fillRect/>
          </a:stretch>
        </p:blipFill>
        <p:spPr>
          <a:xfrm>
            <a:off x="961583" y="3732215"/>
            <a:ext cx="399410" cy="399410"/>
          </a:xfrm>
          <a:prstGeom prst="rect">
            <a:avLst/>
          </a:prstGeom>
        </p:spPr>
      </p:pic>
      <p:sp>
        <p:nvSpPr>
          <p:cNvPr id="12" name="Text 7"/>
          <p:cNvSpPr txBox="1"/>
          <p:nvPr/>
        </p:nvSpPr>
        <p:spPr>
          <a:xfrm>
            <a:off x="1783080" y="3383280"/>
            <a:ext cx="9601200" cy="10972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Explorar formas de usar nas escolas: </a:t>
            </a:r>
            <a:pPr indent="0" marL="0">
              <a:buNone/>
            </a:pPr>
            <a:r>
              <a:rPr lang="en-US" sz="2000" dirty="0">
                <a:solidFill>
                  <a:srgbClr val="14213D"/>
                </a:solidFill>
                <a:latin typeface="Calibri" pitchFamily="34" charset="0"/>
                <a:ea typeface="Calibri" pitchFamily="34" charset="-122"/>
                <a:cs typeface="Calibri" pitchFamily="34" charset="-120"/>
              </a:rPr>
              <a:t>com o apoio da Defesa Civil e da pesquisa: modelos, atividades, BNCC e inclusão.</a:t>
            </a:r>
            <a:endParaRPr lang="en-US" sz="2000" dirty="0"/>
          </a:p>
        </p:txBody>
      </p:sp>
      <p:sp>
        <p:nvSpPr>
          <p:cNvPr id="13" name="Shape 8"/>
          <p:cNvSpPr/>
          <p:nvPr/>
        </p:nvSpPr>
        <p:spPr>
          <a:xfrm>
            <a:off x="548640" y="4754880"/>
            <a:ext cx="11064240" cy="128016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4" name="Shape 9"/>
          <p:cNvSpPr/>
          <p:nvPr/>
        </p:nvSpPr>
        <p:spPr>
          <a:xfrm>
            <a:off x="777240" y="5010912"/>
            <a:ext cx="768096" cy="768096"/>
          </a:xfrm>
          <a:prstGeom prst="ellipse">
            <a:avLst/>
          </a:prstGeom>
          <a:solidFill>
            <a:srgbClr val="E57A2E"/>
          </a:solidFill>
          <a:ln w="12700">
            <a:solidFill>
              <a:srgbClr val="E57A2E"/>
            </a:solidFill>
            <a:prstDash val="solid"/>
          </a:ln>
        </p:spPr>
      </p:sp>
      <p:pic>
        <p:nvPicPr>
          <p:cNvPr id="15" name="Image 2" descr="art/icons/ClipboardList_w.png">    </p:cNvPr>
          <p:cNvPicPr>
            <a:picLocks noChangeAspect="1"/>
          </p:cNvPicPr>
          <p:nvPr/>
        </p:nvPicPr>
        <p:blipFill>
          <a:blip r:embed="rId3"/>
          <a:stretch>
            <a:fillRect/>
          </a:stretch>
        </p:blipFill>
        <p:spPr>
          <a:xfrm>
            <a:off x="961583" y="5195255"/>
            <a:ext cx="399410" cy="399410"/>
          </a:xfrm>
          <a:prstGeom prst="rect">
            <a:avLst/>
          </a:prstGeom>
        </p:spPr>
      </p:pic>
      <p:sp>
        <p:nvSpPr>
          <p:cNvPr id="16" name="Text 10"/>
          <p:cNvSpPr txBox="1"/>
          <p:nvPr/>
        </p:nvSpPr>
        <p:spPr>
          <a:xfrm>
            <a:off x="1783080" y="4846320"/>
            <a:ext cx="9601200" cy="10972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Aplicar e avaliar com esta turma: </a:t>
            </a:r>
            <a:pPr indent="0" marL="0">
              <a:buNone/>
            </a:pPr>
            <a:r>
              <a:rPr lang="en-US" sz="2000" dirty="0">
                <a:solidFill>
                  <a:srgbClr val="14213D"/>
                </a:solidFill>
                <a:latin typeface="Calibri" pitchFamily="34" charset="0"/>
                <a:ea typeface="Calibri" pitchFamily="34" charset="-122"/>
                <a:cs typeface="Calibri" pitchFamily="34" charset="-120"/>
              </a:rPr>
              <a:t>sua experiência de jogo e a validação técnica do conteúdo, para aperfeiçoar o jogo.</a:t>
            </a:r>
            <a:endParaRPr lang="en-US" sz="20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ABERTURA</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Roteiro da oficina (90 min)</a:t>
            </a:r>
            <a:endParaRPr lang="en-US" sz="3400" dirty="0"/>
          </a:p>
        </p:txBody>
      </p:sp>
      <p:sp>
        <p:nvSpPr>
          <p:cNvPr id="5" name="Shape 2"/>
          <p:cNvSpPr/>
          <p:nvPr/>
        </p:nvSpPr>
        <p:spPr>
          <a:xfrm>
            <a:off x="548640" y="1828800"/>
            <a:ext cx="265176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777240" y="1938528"/>
            <a:ext cx="1188720" cy="868680"/>
          </a:xfrm>
          <a:prstGeom prst="rect">
            <a:avLst/>
          </a:prstGeom>
          <a:noFill/>
          <a:ln/>
        </p:spPr>
        <p:txBody>
          <a:bodyPr wrap="square" lIns="0" tIns="0" rIns="0" bIns="0" rtlCol="0" anchor="t"/>
          <a:lstStyle/>
          <a:p>
            <a:pPr indent="0" marL="0">
              <a:buNone/>
            </a:pPr>
            <a:r>
              <a:rPr lang="en-US" sz="4800" b="1" dirty="0">
                <a:solidFill>
                  <a:srgbClr val="2A9FD6"/>
                </a:solidFill>
                <a:latin typeface="Calibri" pitchFamily="34" charset="0"/>
                <a:ea typeface="Calibri" pitchFamily="34" charset="-122"/>
                <a:cs typeface="Calibri" pitchFamily="34" charset="-120"/>
              </a:rPr>
              <a:t>10</a:t>
            </a:r>
            <a:endParaRPr lang="en-US" sz="4800" dirty="0"/>
          </a:p>
        </p:txBody>
      </p:sp>
      <p:sp>
        <p:nvSpPr>
          <p:cNvPr id="7" name="Text 4"/>
          <p:cNvSpPr txBox="1"/>
          <p:nvPr/>
        </p:nvSpPr>
        <p:spPr>
          <a:xfrm>
            <a:off x="1920240" y="2377440"/>
            <a:ext cx="914400" cy="3657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min</a:t>
            </a:r>
            <a:endParaRPr lang="en-US" sz="1600" dirty="0"/>
          </a:p>
        </p:txBody>
      </p:sp>
      <p:sp>
        <p:nvSpPr>
          <p:cNvPr id="8" name="Text 5"/>
          <p:cNvSpPr txBox="1"/>
          <p:nvPr/>
        </p:nvSpPr>
        <p:spPr>
          <a:xfrm>
            <a:off x="777240" y="2852928"/>
            <a:ext cx="2286000" cy="91440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Abertura, contexto, consentimento e pré</a:t>
            </a:r>
            <a:endParaRPr lang="en-US" sz="1600" dirty="0"/>
          </a:p>
        </p:txBody>
      </p:sp>
      <p:sp>
        <p:nvSpPr>
          <p:cNvPr id="9" name="Shape 6"/>
          <p:cNvSpPr/>
          <p:nvPr/>
        </p:nvSpPr>
        <p:spPr>
          <a:xfrm>
            <a:off x="3383280" y="1828800"/>
            <a:ext cx="265176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3611880" y="1938528"/>
            <a:ext cx="1188720" cy="868680"/>
          </a:xfrm>
          <a:prstGeom prst="rect">
            <a:avLst/>
          </a:prstGeom>
          <a:noFill/>
          <a:ln/>
        </p:spPr>
        <p:txBody>
          <a:bodyPr wrap="square" lIns="0" tIns="0" rIns="0" bIns="0" rtlCol="0" anchor="t"/>
          <a:lstStyle/>
          <a:p>
            <a:pPr indent="0" marL="0">
              <a:buNone/>
            </a:pPr>
            <a:r>
              <a:rPr lang="en-US" sz="4800" b="1" dirty="0">
                <a:solidFill>
                  <a:srgbClr val="E57A2E"/>
                </a:solidFill>
                <a:latin typeface="Calibri" pitchFamily="34" charset="0"/>
                <a:ea typeface="Calibri" pitchFamily="34" charset="-122"/>
                <a:cs typeface="Calibri" pitchFamily="34" charset="-120"/>
              </a:rPr>
              <a:t>10</a:t>
            </a:r>
            <a:endParaRPr lang="en-US" sz="4800" dirty="0"/>
          </a:p>
        </p:txBody>
      </p:sp>
      <p:sp>
        <p:nvSpPr>
          <p:cNvPr id="11" name="Text 8"/>
          <p:cNvSpPr txBox="1"/>
          <p:nvPr/>
        </p:nvSpPr>
        <p:spPr>
          <a:xfrm>
            <a:off x="4754880" y="2377440"/>
            <a:ext cx="914400" cy="3657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min</a:t>
            </a:r>
            <a:endParaRPr lang="en-US" sz="1600" dirty="0"/>
          </a:p>
        </p:txBody>
      </p:sp>
      <p:sp>
        <p:nvSpPr>
          <p:cNvPr id="12" name="Text 9"/>
          <p:cNvSpPr txBox="1"/>
          <p:nvPr/>
        </p:nvSpPr>
        <p:spPr>
          <a:xfrm>
            <a:off x="3611880" y="2852928"/>
            <a:ext cx="2286000" cy="91440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O jogo: demonstração</a:t>
            </a:r>
            <a:endParaRPr lang="en-US" sz="1600" dirty="0"/>
          </a:p>
        </p:txBody>
      </p:sp>
      <p:sp>
        <p:nvSpPr>
          <p:cNvPr id="13" name="Shape 10"/>
          <p:cNvSpPr/>
          <p:nvPr/>
        </p:nvSpPr>
        <p:spPr>
          <a:xfrm>
            <a:off x="6217920" y="1828800"/>
            <a:ext cx="265176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6446520" y="1938528"/>
            <a:ext cx="1188720" cy="868680"/>
          </a:xfrm>
          <a:prstGeom prst="rect">
            <a:avLst/>
          </a:prstGeom>
          <a:noFill/>
          <a:ln/>
        </p:spPr>
        <p:txBody>
          <a:bodyPr wrap="square" lIns="0" tIns="0" rIns="0" bIns="0" rtlCol="0" anchor="t"/>
          <a:lstStyle/>
          <a:p>
            <a:pPr indent="0" marL="0">
              <a:buNone/>
            </a:pPr>
            <a:r>
              <a:rPr lang="en-US" sz="4800" b="1" dirty="0">
                <a:solidFill>
                  <a:srgbClr val="2FA36B"/>
                </a:solidFill>
                <a:latin typeface="Calibri" pitchFamily="34" charset="0"/>
                <a:ea typeface="Calibri" pitchFamily="34" charset="-122"/>
                <a:cs typeface="Calibri" pitchFamily="34" charset="-120"/>
              </a:rPr>
              <a:t>20</a:t>
            </a:r>
            <a:endParaRPr lang="en-US" sz="4800" dirty="0"/>
          </a:p>
        </p:txBody>
      </p:sp>
      <p:sp>
        <p:nvSpPr>
          <p:cNvPr id="15" name="Text 12"/>
          <p:cNvSpPr txBox="1"/>
          <p:nvPr/>
        </p:nvSpPr>
        <p:spPr>
          <a:xfrm>
            <a:off x="7589520" y="2377440"/>
            <a:ext cx="914400" cy="3657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min</a:t>
            </a:r>
            <a:endParaRPr lang="en-US" sz="1600" dirty="0"/>
          </a:p>
        </p:txBody>
      </p:sp>
      <p:sp>
        <p:nvSpPr>
          <p:cNvPr id="16" name="Text 13"/>
          <p:cNvSpPr txBox="1"/>
          <p:nvPr/>
        </p:nvSpPr>
        <p:spPr>
          <a:xfrm>
            <a:off x="6446520" y="2852928"/>
            <a:ext cx="2286000" cy="91440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Jogue e observe</a:t>
            </a:r>
            <a:endParaRPr lang="en-US" sz="1600" dirty="0"/>
          </a:p>
        </p:txBody>
      </p:sp>
      <p:sp>
        <p:nvSpPr>
          <p:cNvPr id="17" name="Shape 14"/>
          <p:cNvSpPr/>
          <p:nvPr/>
        </p:nvSpPr>
        <p:spPr>
          <a:xfrm>
            <a:off x="9052560" y="1828800"/>
            <a:ext cx="265176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8" name="Text 15"/>
          <p:cNvSpPr txBox="1"/>
          <p:nvPr/>
        </p:nvSpPr>
        <p:spPr>
          <a:xfrm>
            <a:off x="9281160" y="1938528"/>
            <a:ext cx="1188720" cy="868680"/>
          </a:xfrm>
          <a:prstGeom prst="rect">
            <a:avLst/>
          </a:prstGeom>
          <a:noFill/>
          <a:ln/>
        </p:spPr>
        <p:txBody>
          <a:bodyPr wrap="square" lIns="0" tIns="0" rIns="0" bIns="0" rtlCol="0" anchor="t"/>
          <a:lstStyle/>
          <a:p>
            <a:pPr indent="0" marL="0">
              <a:buNone/>
            </a:pPr>
            <a:r>
              <a:rPr lang="en-US" sz="4800" b="1" dirty="0">
                <a:solidFill>
                  <a:srgbClr val="D9A21B"/>
                </a:solidFill>
                <a:latin typeface="Calibri" pitchFamily="34" charset="0"/>
                <a:ea typeface="Calibri" pitchFamily="34" charset="-122"/>
                <a:cs typeface="Calibri" pitchFamily="34" charset="-120"/>
              </a:rPr>
              <a:t>12</a:t>
            </a:r>
            <a:endParaRPr lang="en-US" sz="4800" dirty="0"/>
          </a:p>
        </p:txBody>
      </p:sp>
      <p:sp>
        <p:nvSpPr>
          <p:cNvPr id="19" name="Text 16"/>
          <p:cNvSpPr txBox="1"/>
          <p:nvPr/>
        </p:nvSpPr>
        <p:spPr>
          <a:xfrm>
            <a:off x="10424160" y="2377440"/>
            <a:ext cx="914400" cy="3657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min</a:t>
            </a:r>
            <a:endParaRPr lang="en-US" sz="1600" dirty="0"/>
          </a:p>
        </p:txBody>
      </p:sp>
      <p:sp>
        <p:nvSpPr>
          <p:cNvPr id="20" name="Text 17"/>
          <p:cNvSpPr txBox="1"/>
          <p:nvPr/>
        </p:nvSpPr>
        <p:spPr>
          <a:xfrm>
            <a:off x="9281160" y="2852928"/>
            <a:ext cx="2286000" cy="91440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Formas de uso nas escolas</a:t>
            </a:r>
            <a:endParaRPr lang="en-US" sz="1600" dirty="0"/>
          </a:p>
        </p:txBody>
      </p:sp>
      <p:sp>
        <p:nvSpPr>
          <p:cNvPr id="21" name="Shape 18"/>
          <p:cNvSpPr/>
          <p:nvPr/>
        </p:nvSpPr>
        <p:spPr>
          <a:xfrm>
            <a:off x="548640" y="4069080"/>
            <a:ext cx="265176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2" name="Text 19"/>
          <p:cNvSpPr txBox="1"/>
          <p:nvPr/>
        </p:nvSpPr>
        <p:spPr>
          <a:xfrm>
            <a:off x="777240" y="4178808"/>
            <a:ext cx="1188720" cy="868680"/>
          </a:xfrm>
          <a:prstGeom prst="rect">
            <a:avLst/>
          </a:prstGeom>
          <a:noFill/>
          <a:ln/>
        </p:spPr>
        <p:txBody>
          <a:bodyPr wrap="square" lIns="0" tIns="0" rIns="0" bIns="0" rtlCol="0" anchor="t"/>
          <a:lstStyle/>
          <a:p>
            <a:pPr indent="0" marL="0">
              <a:buNone/>
            </a:pPr>
            <a:r>
              <a:rPr lang="en-US" sz="4800" b="1" dirty="0">
                <a:solidFill>
                  <a:srgbClr val="D64545"/>
                </a:solidFill>
                <a:latin typeface="Calibri" pitchFamily="34" charset="0"/>
                <a:ea typeface="Calibri" pitchFamily="34" charset="-122"/>
                <a:cs typeface="Calibri" pitchFamily="34" charset="-120"/>
              </a:rPr>
              <a:t>25</a:t>
            </a:r>
            <a:endParaRPr lang="en-US" sz="4800" dirty="0"/>
          </a:p>
        </p:txBody>
      </p:sp>
      <p:sp>
        <p:nvSpPr>
          <p:cNvPr id="23" name="Text 20"/>
          <p:cNvSpPr txBox="1"/>
          <p:nvPr/>
        </p:nvSpPr>
        <p:spPr>
          <a:xfrm>
            <a:off x="1920240" y="4617720"/>
            <a:ext cx="914400" cy="3657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min</a:t>
            </a:r>
            <a:endParaRPr lang="en-US" sz="1600" dirty="0"/>
          </a:p>
        </p:txBody>
      </p:sp>
      <p:sp>
        <p:nvSpPr>
          <p:cNvPr id="24" name="Text 21"/>
          <p:cNvSpPr txBox="1"/>
          <p:nvPr/>
        </p:nvSpPr>
        <p:spPr>
          <a:xfrm>
            <a:off x="777240" y="5093208"/>
            <a:ext cx="2286000" cy="91440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Avaliação com a turma</a:t>
            </a:r>
            <a:endParaRPr lang="en-US" sz="1600" dirty="0"/>
          </a:p>
        </p:txBody>
      </p:sp>
      <p:sp>
        <p:nvSpPr>
          <p:cNvPr id="25" name="Shape 22"/>
          <p:cNvSpPr/>
          <p:nvPr/>
        </p:nvSpPr>
        <p:spPr>
          <a:xfrm>
            <a:off x="3383280" y="4069080"/>
            <a:ext cx="265176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6" name="Text 23"/>
          <p:cNvSpPr txBox="1"/>
          <p:nvPr/>
        </p:nvSpPr>
        <p:spPr>
          <a:xfrm>
            <a:off x="3611880" y="4178808"/>
            <a:ext cx="1188720" cy="868680"/>
          </a:xfrm>
          <a:prstGeom prst="rect">
            <a:avLst/>
          </a:prstGeom>
          <a:noFill/>
          <a:ln/>
        </p:spPr>
        <p:txBody>
          <a:bodyPr wrap="square" lIns="0" tIns="0" rIns="0" bIns="0" rtlCol="0" anchor="t"/>
          <a:lstStyle/>
          <a:p>
            <a:pPr indent="0" marL="0">
              <a:buNone/>
            </a:pPr>
            <a:r>
              <a:rPr lang="en-US" sz="4800" b="1" dirty="0">
                <a:solidFill>
                  <a:srgbClr val="1B2C4A"/>
                </a:solidFill>
                <a:latin typeface="Calibri" pitchFamily="34" charset="0"/>
                <a:ea typeface="Calibri" pitchFamily="34" charset="-122"/>
                <a:cs typeface="Calibri" pitchFamily="34" charset="-120"/>
              </a:rPr>
              <a:t>8</a:t>
            </a:r>
            <a:endParaRPr lang="en-US" sz="4800" dirty="0"/>
          </a:p>
        </p:txBody>
      </p:sp>
      <p:sp>
        <p:nvSpPr>
          <p:cNvPr id="27" name="Text 24"/>
          <p:cNvSpPr txBox="1"/>
          <p:nvPr/>
        </p:nvSpPr>
        <p:spPr>
          <a:xfrm>
            <a:off x="4754880" y="4617720"/>
            <a:ext cx="914400" cy="3657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min</a:t>
            </a:r>
            <a:endParaRPr lang="en-US" sz="1600" dirty="0"/>
          </a:p>
        </p:txBody>
      </p:sp>
      <p:sp>
        <p:nvSpPr>
          <p:cNvPr id="28" name="Text 25"/>
          <p:cNvSpPr txBox="1"/>
          <p:nvPr/>
        </p:nvSpPr>
        <p:spPr>
          <a:xfrm>
            <a:off x="3611880" y="5093208"/>
            <a:ext cx="2286000" cy="91440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Plano de parceria</a:t>
            </a:r>
            <a:endParaRPr lang="en-US" sz="1600" dirty="0"/>
          </a:p>
        </p:txBody>
      </p:sp>
      <p:sp>
        <p:nvSpPr>
          <p:cNvPr id="29" name="Shape 26"/>
          <p:cNvSpPr/>
          <p:nvPr/>
        </p:nvSpPr>
        <p:spPr>
          <a:xfrm>
            <a:off x="6217920" y="4069080"/>
            <a:ext cx="265176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30" name="Text 27"/>
          <p:cNvSpPr txBox="1"/>
          <p:nvPr/>
        </p:nvSpPr>
        <p:spPr>
          <a:xfrm>
            <a:off x="6446520" y="4178808"/>
            <a:ext cx="1188720" cy="868680"/>
          </a:xfrm>
          <a:prstGeom prst="rect">
            <a:avLst/>
          </a:prstGeom>
          <a:noFill/>
          <a:ln/>
        </p:spPr>
        <p:txBody>
          <a:bodyPr wrap="square" lIns="0" tIns="0" rIns="0" bIns="0" rtlCol="0" anchor="t"/>
          <a:lstStyle/>
          <a:p>
            <a:pPr indent="0" marL="0">
              <a:buNone/>
            </a:pPr>
            <a:r>
              <a:rPr lang="en-US" sz="4800" b="1" dirty="0">
                <a:solidFill>
                  <a:srgbClr val="000000"/>
                </a:solidFill>
                <a:latin typeface="Calibri" pitchFamily="34" charset="0"/>
                <a:ea typeface="Calibri" pitchFamily="34" charset="-122"/>
                <a:cs typeface="Calibri" pitchFamily="34" charset="-120"/>
              </a:rPr>
              <a:t>5</a:t>
            </a:r>
            <a:endParaRPr lang="en-US" sz="4800" dirty="0"/>
          </a:p>
        </p:txBody>
      </p:sp>
      <p:sp>
        <p:nvSpPr>
          <p:cNvPr id="31" name="Text 28"/>
          <p:cNvSpPr txBox="1"/>
          <p:nvPr/>
        </p:nvSpPr>
        <p:spPr>
          <a:xfrm>
            <a:off x="7589520" y="4617720"/>
            <a:ext cx="914400" cy="3657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min</a:t>
            </a:r>
            <a:endParaRPr lang="en-US" sz="1600" dirty="0"/>
          </a:p>
        </p:txBody>
      </p:sp>
      <p:sp>
        <p:nvSpPr>
          <p:cNvPr id="32" name="Text 29"/>
          <p:cNvSpPr txBox="1"/>
          <p:nvPr/>
        </p:nvSpPr>
        <p:spPr>
          <a:xfrm>
            <a:off x="6446520" y="5093208"/>
            <a:ext cx="2286000" cy="91440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Devolutiva e encerramento</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CONTEXTO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A educação faz parte da prevenção</a:t>
            </a:r>
            <a:endParaRPr lang="en-US" sz="3400" dirty="0"/>
          </a:p>
        </p:txBody>
      </p:sp>
      <p:sp>
        <p:nvSpPr>
          <p:cNvPr id="5" name="Shape 2"/>
          <p:cNvSpPr/>
          <p:nvPr/>
        </p:nvSpPr>
        <p:spPr>
          <a:xfrm>
            <a:off x="548640" y="1828800"/>
            <a:ext cx="3520440" cy="429768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1847088" y="2057400"/>
            <a:ext cx="914400" cy="914400"/>
          </a:xfrm>
          <a:prstGeom prst="ellipse">
            <a:avLst/>
          </a:prstGeom>
          <a:solidFill>
            <a:srgbClr val="2A9FD6"/>
          </a:solidFill>
          <a:ln w="12700">
            <a:solidFill>
              <a:srgbClr val="2A9FD6"/>
            </a:solidFill>
            <a:prstDash val="solid"/>
          </a:ln>
        </p:spPr>
      </p:sp>
      <p:pic>
        <p:nvPicPr>
          <p:cNvPr id="7" name="Image 0" descr="art/icons/Globe_w.png">    </p:cNvPr>
          <p:cNvPicPr>
            <a:picLocks noChangeAspect="1"/>
          </p:cNvPicPr>
          <p:nvPr/>
        </p:nvPicPr>
        <p:blipFill>
          <a:blip r:embed="rId1"/>
          <a:stretch>
            <a:fillRect/>
          </a:stretch>
        </p:blipFill>
        <p:spPr>
          <a:xfrm>
            <a:off x="2066544" y="2276856"/>
            <a:ext cx="475488" cy="475488"/>
          </a:xfrm>
          <a:prstGeom prst="rect">
            <a:avLst/>
          </a:prstGeom>
        </p:spPr>
      </p:pic>
      <p:sp>
        <p:nvSpPr>
          <p:cNvPr id="8" name="Text 4"/>
          <p:cNvSpPr txBox="1"/>
          <p:nvPr/>
        </p:nvSpPr>
        <p:spPr>
          <a:xfrm>
            <a:off x="777240" y="3154680"/>
            <a:ext cx="3063240" cy="685800"/>
          </a:xfrm>
          <a:prstGeom prst="rect">
            <a:avLst/>
          </a:prstGeom>
          <a:noFill/>
          <a:ln/>
        </p:spPr>
        <p:txBody>
          <a:bodyPr wrap="square" lIns="0" tIns="0" rIns="0" bIns="0" rtlCol="0" anchor="t"/>
          <a:lstStyle/>
          <a:p>
            <a:pPr algn="ctr" indent="0" marL="0">
              <a:buNone/>
            </a:pPr>
            <a:r>
              <a:rPr lang="en-US" sz="1900" b="1" dirty="0">
                <a:solidFill>
                  <a:srgbClr val="14213D"/>
                </a:solidFill>
                <a:latin typeface="Calibri" pitchFamily="34" charset="0"/>
                <a:ea typeface="Calibri" pitchFamily="34" charset="-122"/>
                <a:cs typeface="Calibri" pitchFamily="34" charset="-120"/>
              </a:rPr>
              <a:t>Marco de Sendai (2015-2030)</a:t>
            </a:r>
            <a:endParaRPr lang="en-US" sz="1900" dirty="0"/>
          </a:p>
        </p:txBody>
      </p:sp>
      <p:sp>
        <p:nvSpPr>
          <p:cNvPr id="9" name="Text 5"/>
          <p:cNvSpPr txBox="1"/>
          <p:nvPr/>
        </p:nvSpPr>
        <p:spPr>
          <a:xfrm>
            <a:off x="822960" y="3886200"/>
            <a:ext cx="2971800" cy="2148840"/>
          </a:xfrm>
          <a:prstGeom prst="rect">
            <a:avLst/>
          </a:prstGeom>
          <a:noFill/>
          <a:ln/>
        </p:spPr>
        <p:txBody>
          <a:bodyPr wrap="square" lIns="0" tIns="0" rIns="0" bIns="0" rtlCol="0" anchor="t"/>
          <a:lstStyle/>
          <a:p>
            <a:pPr algn="ctr" indent="0" marL="0">
              <a:buNone/>
            </a:pPr>
            <a:r>
              <a:rPr lang="en-US" sz="1500" dirty="0">
                <a:solidFill>
                  <a:srgbClr val="4A5A73"/>
                </a:solidFill>
                <a:latin typeface="Calibri" pitchFamily="34" charset="0"/>
                <a:ea typeface="Calibri" pitchFamily="34" charset="-122"/>
                <a:cs typeface="Calibri" pitchFamily="34" charset="-120"/>
              </a:rPr>
              <a:t>Prioriza incorporar o conhecimento sobre o risco de desastres na educação formal e não formal e reconhece crianças e jovens como agentes de mudança.</a:t>
            </a:r>
            <a:endParaRPr lang="en-US" sz="1500" dirty="0"/>
          </a:p>
        </p:txBody>
      </p:sp>
      <p:sp>
        <p:nvSpPr>
          <p:cNvPr id="10" name="Shape 6"/>
          <p:cNvSpPr/>
          <p:nvPr/>
        </p:nvSpPr>
        <p:spPr>
          <a:xfrm>
            <a:off x="4343400" y="1828800"/>
            <a:ext cx="3520440" cy="429768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1" name="Shape 7"/>
          <p:cNvSpPr/>
          <p:nvPr/>
        </p:nvSpPr>
        <p:spPr>
          <a:xfrm>
            <a:off x="5641848" y="2057400"/>
            <a:ext cx="914400" cy="914400"/>
          </a:xfrm>
          <a:prstGeom prst="ellipse">
            <a:avLst/>
          </a:prstGeom>
          <a:solidFill>
            <a:srgbClr val="E57A2E"/>
          </a:solidFill>
          <a:ln w="12700">
            <a:solidFill>
              <a:srgbClr val="E57A2E"/>
            </a:solidFill>
            <a:prstDash val="solid"/>
          </a:ln>
        </p:spPr>
      </p:sp>
      <p:pic>
        <p:nvPicPr>
          <p:cNvPr id="12" name="Image 1" descr="art/icons/ScaleBalanced_w.png">    </p:cNvPr>
          <p:cNvPicPr>
            <a:picLocks noChangeAspect="1"/>
          </p:cNvPicPr>
          <p:nvPr/>
        </p:nvPicPr>
        <p:blipFill>
          <a:blip r:embed="rId2"/>
          <a:stretch>
            <a:fillRect/>
          </a:stretch>
        </p:blipFill>
        <p:spPr>
          <a:xfrm>
            <a:off x="5861304" y="2276856"/>
            <a:ext cx="475488" cy="475488"/>
          </a:xfrm>
          <a:prstGeom prst="rect">
            <a:avLst/>
          </a:prstGeom>
        </p:spPr>
      </p:pic>
      <p:sp>
        <p:nvSpPr>
          <p:cNvPr id="13" name="Text 8"/>
          <p:cNvSpPr txBox="1"/>
          <p:nvPr/>
        </p:nvSpPr>
        <p:spPr>
          <a:xfrm>
            <a:off x="4572000" y="3154680"/>
            <a:ext cx="3063240" cy="685800"/>
          </a:xfrm>
          <a:prstGeom prst="rect">
            <a:avLst/>
          </a:prstGeom>
          <a:noFill/>
          <a:ln/>
        </p:spPr>
        <p:txBody>
          <a:bodyPr wrap="square" lIns="0" tIns="0" rIns="0" bIns="0" rtlCol="0" anchor="t"/>
          <a:lstStyle/>
          <a:p>
            <a:pPr algn="ctr" indent="0" marL="0">
              <a:buNone/>
            </a:pPr>
            <a:r>
              <a:rPr lang="en-US" sz="1900" b="1" dirty="0">
                <a:solidFill>
                  <a:srgbClr val="14213D"/>
                </a:solidFill>
                <a:latin typeface="Calibri" pitchFamily="34" charset="0"/>
                <a:ea typeface="Calibri" pitchFamily="34" charset="-122"/>
                <a:cs typeface="Calibri" pitchFamily="34" charset="-120"/>
              </a:rPr>
              <a:t>Lei 12.608/2012</a:t>
            </a:r>
            <a:endParaRPr lang="en-US" sz="1900" dirty="0"/>
          </a:p>
        </p:txBody>
      </p:sp>
      <p:sp>
        <p:nvSpPr>
          <p:cNvPr id="14" name="Text 9"/>
          <p:cNvSpPr txBox="1"/>
          <p:nvPr/>
        </p:nvSpPr>
        <p:spPr>
          <a:xfrm>
            <a:off x="4617720" y="3886200"/>
            <a:ext cx="2971800" cy="2148840"/>
          </a:xfrm>
          <a:prstGeom prst="rect">
            <a:avLst/>
          </a:prstGeom>
          <a:noFill/>
          <a:ln/>
        </p:spPr>
        <p:txBody>
          <a:bodyPr wrap="square" lIns="0" tIns="0" rIns="0" bIns="0" rtlCol="0" anchor="t"/>
          <a:lstStyle/>
          <a:p>
            <a:pPr algn="ctr" indent="0" marL="0">
              <a:buNone/>
            </a:pPr>
            <a:r>
              <a:rPr lang="en-US" sz="1500" dirty="0">
                <a:solidFill>
                  <a:srgbClr val="4A5A73"/>
                </a:solidFill>
                <a:latin typeface="Calibri" pitchFamily="34" charset="0"/>
                <a:ea typeface="Calibri" pitchFamily="34" charset="-122"/>
                <a:cs typeface="Calibri" pitchFamily="34" charset="-120"/>
              </a:rPr>
              <a:t>A PNPDEC prevê orientar as comunidades a adotar comportamentos adequados de prevenção e resposta. O art. 29 acrescentou à LDB a inclusão dos princípios de defesa civil nos currículos (confira a redação vigente).</a:t>
            </a:r>
            <a:endParaRPr lang="en-US" sz="1500" dirty="0"/>
          </a:p>
        </p:txBody>
      </p:sp>
      <p:sp>
        <p:nvSpPr>
          <p:cNvPr id="15" name="Shape 10"/>
          <p:cNvSpPr/>
          <p:nvPr/>
        </p:nvSpPr>
        <p:spPr>
          <a:xfrm>
            <a:off x="8138160" y="1828800"/>
            <a:ext cx="3520440" cy="429768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9436608" y="2057400"/>
            <a:ext cx="914400" cy="914400"/>
          </a:xfrm>
          <a:prstGeom prst="ellipse">
            <a:avLst/>
          </a:prstGeom>
          <a:solidFill>
            <a:srgbClr val="2FA36B"/>
          </a:solidFill>
          <a:ln w="12700">
            <a:solidFill>
              <a:srgbClr val="2FA36B"/>
            </a:solidFill>
            <a:prstDash val="solid"/>
          </a:ln>
        </p:spPr>
      </p:sp>
      <p:pic>
        <p:nvPicPr>
          <p:cNvPr id="17" name="Image 2" descr="art/icons/BookOpen_w.png">    </p:cNvPr>
          <p:cNvPicPr>
            <a:picLocks noChangeAspect="1"/>
          </p:cNvPicPr>
          <p:nvPr/>
        </p:nvPicPr>
        <p:blipFill>
          <a:blip r:embed="rId3"/>
          <a:stretch>
            <a:fillRect/>
          </a:stretch>
        </p:blipFill>
        <p:spPr>
          <a:xfrm>
            <a:off x="9656064" y="2276856"/>
            <a:ext cx="475488" cy="475488"/>
          </a:xfrm>
          <a:prstGeom prst="rect">
            <a:avLst/>
          </a:prstGeom>
        </p:spPr>
      </p:pic>
      <p:sp>
        <p:nvSpPr>
          <p:cNvPr id="18" name="Text 12"/>
          <p:cNvSpPr txBox="1"/>
          <p:nvPr/>
        </p:nvSpPr>
        <p:spPr>
          <a:xfrm>
            <a:off x="8366760" y="3154680"/>
            <a:ext cx="3063240" cy="685800"/>
          </a:xfrm>
          <a:prstGeom prst="rect">
            <a:avLst/>
          </a:prstGeom>
          <a:noFill/>
          <a:ln/>
        </p:spPr>
        <p:txBody>
          <a:bodyPr wrap="square" lIns="0" tIns="0" rIns="0" bIns="0" rtlCol="0" anchor="t"/>
          <a:lstStyle/>
          <a:p>
            <a:pPr algn="ctr" indent="0" marL="0">
              <a:buNone/>
            </a:pPr>
            <a:r>
              <a:rPr lang="en-US" sz="1900" b="1" dirty="0">
                <a:solidFill>
                  <a:srgbClr val="14213D"/>
                </a:solidFill>
                <a:latin typeface="Calibri" pitchFamily="34" charset="0"/>
                <a:ea typeface="Calibri" pitchFamily="34" charset="-122"/>
                <a:cs typeface="Calibri" pitchFamily="34" charset="-120"/>
              </a:rPr>
              <a:t>BNCC: a linguagem das escolas</a:t>
            </a:r>
            <a:endParaRPr lang="en-US" sz="1900" dirty="0"/>
          </a:p>
        </p:txBody>
      </p:sp>
      <p:sp>
        <p:nvSpPr>
          <p:cNvPr id="19" name="Text 13"/>
          <p:cNvSpPr txBox="1"/>
          <p:nvPr/>
        </p:nvSpPr>
        <p:spPr>
          <a:xfrm>
            <a:off x="8412480" y="3886200"/>
            <a:ext cx="2971800" cy="2148840"/>
          </a:xfrm>
          <a:prstGeom prst="rect">
            <a:avLst/>
          </a:prstGeom>
          <a:noFill/>
          <a:ln/>
        </p:spPr>
        <p:txBody>
          <a:bodyPr wrap="square" lIns="0" tIns="0" rIns="0" bIns="0" rtlCol="0" anchor="t"/>
          <a:lstStyle/>
          <a:p>
            <a:pPr algn="ctr" indent="0" marL="0">
              <a:buNone/>
            </a:pPr>
            <a:r>
              <a:rPr lang="en-US" sz="1500" dirty="0">
                <a:solidFill>
                  <a:srgbClr val="4A5A73"/>
                </a:solidFill>
                <a:latin typeface="Calibri" pitchFamily="34" charset="0"/>
                <a:ea typeface="Calibri" pitchFamily="34" charset="-122"/>
                <a:cs typeface="Calibri" pitchFamily="34" charset="-120"/>
              </a:rPr>
              <a:t>Competências Gerais, temas transversais (Meio Ambiente, Cidadania e Civismo) e habilidades de Geografia, Ciências e Matemática. Conhecê-la facilita a parceria com professores.</a:t>
            </a:r>
            <a:endParaRPr lang="en-US" sz="15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CONTEXTO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Saber o que é não basta: é preciso saber decidir</a:t>
            </a:r>
            <a:endParaRPr lang="en-US" sz="3400" dirty="0"/>
          </a:p>
        </p:txBody>
      </p:sp>
      <p:sp>
        <p:nvSpPr>
          <p:cNvPr id="5" name="Shape 2"/>
          <p:cNvSpPr/>
          <p:nvPr/>
        </p:nvSpPr>
        <p:spPr>
          <a:xfrm>
            <a:off x="548640" y="1828800"/>
            <a:ext cx="3520440" cy="3017520"/>
          </a:xfrm>
          <a:prstGeom prst="roundRect">
            <a:avLst>
              <a:gd name="adj" fmla="val 4848"/>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1847088" y="2011680"/>
            <a:ext cx="914400" cy="914400"/>
          </a:xfrm>
          <a:prstGeom prst="ellipse">
            <a:avLst/>
          </a:prstGeom>
          <a:solidFill>
            <a:srgbClr val="2A9FD6"/>
          </a:solidFill>
          <a:ln w="12700">
            <a:solidFill>
              <a:srgbClr val="2A9FD6"/>
            </a:solidFill>
            <a:prstDash val="solid"/>
          </a:ln>
        </p:spPr>
      </p:sp>
      <p:pic>
        <p:nvPicPr>
          <p:cNvPr id="7" name="Image 0" descr="art/icons/MagnifyingGlass_w.png">    </p:cNvPr>
          <p:cNvPicPr>
            <a:picLocks noChangeAspect="1"/>
          </p:cNvPicPr>
          <p:nvPr/>
        </p:nvPicPr>
        <p:blipFill>
          <a:blip r:embed="rId1"/>
          <a:stretch>
            <a:fillRect/>
          </a:stretch>
        </p:blipFill>
        <p:spPr>
          <a:xfrm>
            <a:off x="2066544" y="2231136"/>
            <a:ext cx="475488" cy="475488"/>
          </a:xfrm>
          <a:prstGeom prst="rect">
            <a:avLst/>
          </a:prstGeom>
        </p:spPr>
      </p:pic>
      <p:sp>
        <p:nvSpPr>
          <p:cNvPr id="8" name="Text 4"/>
          <p:cNvSpPr txBox="1"/>
          <p:nvPr/>
        </p:nvSpPr>
        <p:spPr>
          <a:xfrm>
            <a:off x="731520" y="3063240"/>
            <a:ext cx="3154680" cy="457200"/>
          </a:xfrm>
          <a:prstGeom prst="rect">
            <a:avLst/>
          </a:prstGeom>
          <a:noFill/>
          <a:ln/>
        </p:spPr>
        <p:txBody>
          <a:bodyPr wrap="square" lIns="0" tIns="0" rIns="0" bIns="0" rtlCol="0" anchor="t"/>
          <a:lstStyle/>
          <a:p>
            <a:pPr algn="ctr" indent="0" marL="0">
              <a:buNone/>
            </a:pPr>
            <a:r>
              <a:rPr lang="en-US" sz="2200" b="1" dirty="0">
                <a:solidFill>
                  <a:srgbClr val="14213D"/>
                </a:solidFill>
                <a:latin typeface="Calibri" pitchFamily="34" charset="0"/>
                <a:ea typeface="Calibri" pitchFamily="34" charset="-122"/>
                <a:cs typeface="Calibri" pitchFamily="34" charset="-120"/>
              </a:rPr>
              <a:t>Conceitos</a:t>
            </a:r>
            <a:endParaRPr lang="en-US" sz="2200" dirty="0"/>
          </a:p>
        </p:txBody>
      </p:sp>
      <p:sp>
        <p:nvSpPr>
          <p:cNvPr id="9" name="Text 5"/>
          <p:cNvSpPr txBox="1"/>
          <p:nvPr/>
        </p:nvSpPr>
        <p:spPr>
          <a:xfrm>
            <a:off x="822960" y="3566160"/>
            <a:ext cx="2971800" cy="1188720"/>
          </a:xfrm>
          <a:prstGeom prst="rect">
            <a:avLst/>
          </a:prstGeom>
          <a:noFill/>
          <a:ln/>
        </p:spPr>
        <p:txBody>
          <a:bodyPr wrap="square" lIns="0" tIns="0" rIns="0" bIns="0" rtlCol="0" anchor="t"/>
          <a:lstStyle/>
          <a:p>
            <a:pPr algn="ctr" indent="0" marL="0">
              <a:buNone/>
            </a:pPr>
            <a:r>
              <a:rPr lang="en-US" sz="1500" dirty="0">
                <a:solidFill>
                  <a:srgbClr val="4A5A73"/>
                </a:solidFill>
                <a:latin typeface="Calibri" pitchFamily="34" charset="0"/>
                <a:ea typeface="Calibri" pitchFamily="34" charset="-122"/>
                <a:cs typeface="Calibri" pitchFamily="34" charset="-120"/>
              </a:rPr>
              <a:t>O que são alagamento, enxurrada, enchente, inundação (não são sinônimos) e deslizamento.</a:t>
            </a:r>
            <a:endParaRPr lang="en-US" sz="1500" dirty="0"/>
          </a:p>
        </p:txBody>
      </p:sp>
      <p:sp>
        <p:nvSpPr>
          <p:cNvPr id="10" name="Shape 6"/>
          <p:cNvSpPr/>
          <p:nvPr/>
        </p:nvSpPr>
        <p:spPr>
          <a:xfrm>
            <a:off x="4343400" y="1828800"/>
            <a:ext cx="3520440" cy="3017520"/>
          </a:xfrm>
          <a:prstGeom prst="roundRect">
            <a:avLst>
              <a:gd name="adj" fmla="val 4848"/>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1" name="Shape 7"/>
          <p:cNvSpPr/>
          <p:nvPr/>
        </p:nvSpPr>
        <p:spPr>
          <a:xfrm>
            <a:off x="5641848" y="2011680"/>
            <a:ext cx="914400" cy="914400"/>
          </a:xfrm>
          <a:prstGeom prst="ellipse">
            <a:avLst/>
          </a:prstGeom>
          <a:solidFill>
            <a:srgbClr val="E57A2E"/>
          </a:solidFill>
          <a:ln w="12700">
            <a:solidFill>
              <a:srgbClr val="E57A2E"/>
            </a:solidFill>
            <a:prstDash val="solid"/>
          </a:ln>
        </p:spPr>
      </p:sp>
      <p:pic>
        <p:nvPicPr>
          <p:cNvPr id="12" name="Image 1" descr="art/icons/ClipboardList_w.png">    </p:cNvPr>
          <p:cNvPicPr>
            <a:picLocks noChangeAspect="1"/>
          </p:cNvPicPr>
          <p:nvPr/>
        </p:nvPicPr>
        <p:blipFill>
          <a:blip r:embed="rId2"/>
          <a:stretch>
            <a:fillRect/>
          </a:stretch>
        </p:blipFill>
        <p:spPr>
          <a:xfrm>
            <a:off x="5861304" y="2231136"/>
            <a:ext cx="475488" cy="475488"/>
          </a:xfrm>
          <a:prstGeom prst="rect">
            <a:avLst/>
          </a:prstGeom>
        </p:spPr>
      </p:pic>
      <p:sp>
        <p:nvSpPr>
          <p:cNvPr id="13" name="Text 8"/>
          <p:cNvSpPr txBox="1"/>
          <p:nvPr/>
        </p:nvSpPr>
        <p:spPr>
          <a:xfrm>
            <a:off x="4526280" y="3063240"/>
            <a:ext cx="3154680" cy="457200"/>
          </a:xfrm>
          <a:prstGeom prst="rect">
            <a:avLst/>
          </a:prstGeom>
          <a:noFill/>
          <a:ln/>
        </p:spPr>
        <p:txBody>
          <a:bodyPr wrap="square" lIns="0" tIns="0" rIns="0" bIns="0" rtlCol="0" anchor="t"/>
          <a:lstStyle/>
          <a:p>
            <a:pPr algn="ctr" indent="0" marL="0">
              <a:buNone/>
            </a:pPr>
            <a:r>
              <a:rPr lang="en-US" sz="2200" b="1" dirty="0">
                <a:solidFill>
                  <a:srgbClr val="14213D"/>
                </a:solidFill>
                <a:latin typeface="Calibri" pitchFamily="34" charset="0"/>
                <a:ea typeface="Calibri" pitchFamily="34" charset="-122"/>
                <a:cs typeface="Calibri" pitchFamily="34" charset="-120"/>
              </a:rPr>
              <a:t>Procedimentos</a:t>
            </a:r>
            <a:endParaRPr lang="en-US" sz="2200" dirty="0"/>
          </a:p>
        </p:txBody>
      </p:sp>
      <p:sp>
        <p:nvSpPr>
          <p:cNvPr id="14" name="Text 9"/>
          <p:cNvSpPr txBox="1"/>
          <p:nvPr/>
        </p:nvSpPr>
        <p:spPr>
          <a:xfrm>
            <a:off x="4617720" y="3566160"/>
            <a:ext cx="2971800" cy="1188720"/>
          </a:xfrm>
          <a:prstGeom prst="rect">
            <a:avLst/>
          </a:prstGeom>
          <a:noFill/>
          <a:ln/>
        </p:spPr>
        <p:txBody>
          <a:bodyPr wrap="square" lIns="0" tIns="0" rIns="0" bIns="0" rtlCol="0" anchor="t"/>
          <a:lstStyle/>
          <a:p>
            <a:pPr algn="ctr" indent="0" marL="0">
              <a:buNone/>
            </a:pPr>
            <a:r>
              <a:rPr lang="en-US" sz="1500" dirty="0">
                <a:solidFill>
                  <a:srgbClr val="4A5A73"/>
                </a:solidFill>
                <a:latin typeface="Calibri" pitchFamily="34" charset="0"/>
                <a:ea typeface="Calibri" pitchFamily="34" charset="-122"/>
                <a:cs typeface="Calibri" pitchFamily="34" charset="-120"/>
              </a:rPr>
              <a:t>O que fazer e em que ordem: proteja-se, avise (199), aja com segurança.</a:t>
            </a:r>
            <a:endParaRPr lang="en-US" sz="1500" dirty="0"/>
          </a:p>
        </p:txBody>
      </p:sp>
      <p:sp>
        <p:nvSpPr>
          <p:cNvPr id="15" name="Shape 10"/>
          <p:cNvSpPr/>
          <p:nvPr/>
        </p:nvSpPr>
        <p:spPr>
          <a:xfrm>
            <a:off x="8138160" y="1828800"/>
            <a:ext cx="3520440" cy="3017520"/>
          </a:xfrm>
          <a:prstGeom prst="roundRect">
            <a:avLst>
              <a:gd name="adj" fmla="val 4848"/>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9436608" y="2011680"/>
            <a:ext cx="914400" cy="914400"/>
          </a:xfrm>
          <a:prstGeom prst="ellipse">
            <a:avLst/>
          </a:prstGeom>
          <a:solidFill>
            <a:srgbClr val="2FA36B"/>
          </a:solidFill>
          <a:ln w="12700">
            <a:solidFill>
              <a:srgbClr val="2FA36B"/>
            </a:solidFill>
            <a:prstDash val="solid"/>
          </a:ln>
        </p:spPr>
      </p:sp>
      <p:pic>
        <p:nvPicPr>
          <p:cNvPr id="17" name="Image 2" descr="art/icons/HandshakeAngle_w.png">    </p:cNvPr>
          <p:cNvPicPr>
            <a:picLocks noChangeAspect="1"/>
          </p:cNvPicPr>
          <p:nvPr/>
        </p:nvPicPr>
        <p:blipFill>
          <a:blip r:embed="rId3"/>
          <a:stretch>
            <a:fillRect/>
          </a:stretch>
        </p:blipFill>
        <p:spPr>
          <a:xfrm>
            <a:off x="9656064" y="2231136"/>
            <a:ext cx="475488" cy="475488"/>
          </a:xfrm>
          <a:prstGeom prst="rect">
            <a:avLst/>
          </a:prstGeom>
        </p:spPr>
      </p:pic>
      <p:sp>
        <p:nvSpPr>
          <p:cNvPr id="18" name="Text 12"/>
          <p:cNvSpPr txBox="1"/>
          <p:nvPr/>
        </p:nvSpPr>
        <p:spPr>
          <a:xfrm>
            <a:off x="8321040" y="3063240"/>
            <a:ext cx="3154680" cy="457200"/>
          </a:xfrm>
          <a:prstGeom prst="rect">
            <a:avLst/>
          </a:prstGeom>
          <a:noFill/>
          <a:ln/>
        </p:spPr>
        <p:txBody>
          <a:bodyPr wrap="square" lIns="0" tIns="0" rIns="0" bIns="0" rtlCol="0" anchor="t"/>
          <a:lstStyle/>
          <a:p>
            <a:pPr algn="ctr" indent="0" marL="0">
              <a:buNone/>
            </a:pPr>
            <a:r>
              <a:rPr lang="en-US" sz="2200" b="1" dirty="0">
                <a:solidFill>
                  <a:srgbClr val="14213D"/>
                </a:solidFill>
                <a:latin typeface="Calibri" pitchFamily="34" charset="0"/>
                <a:ea typeface="Calibri" pitchFamily="34" charset="-122"/>
                <a:cs typeface="Calibri" pitchFamily="34" charset="-120"/>
              </a:rPr>
              <a:t>Atitudes</a:t>
            </a:r>
            <a:endParaRPr lang="en-US" sz="2200" dirty="0"/>
          </a:p>
        </p:txBody>
      </p:sp>
      <p:sp>
        <p:nvSpPr>
          <p:cNvPr id="19" name="Text 13"/>
          <p:cNvSpPr txBox="1"/>
          <p:nvPr/>
        </p:nvSpPr>
        <p:spPr>
          <a:xfrm>
            <a:off x="8412480" y="3566160"/>
            <a:ext cx="2971800" cy="1188720"/>
          </a:xfrm>
          <a:prstGeom prst="rect">
            <a:avLst/>
          </a:prstGeom>
          <a:noFill/>
          <a:ln/>
        </p:spPr>
        <p:txBody>
          <a:bodyPr wrap="square" lIns="0" tIns="0" rIns="0" bIns="0" rtlCol="0" anchor="t"/>
          <a:lstStyle/>
          <a:p>
            <a:pPr algn="ctr" indent="0" marL="0">
              <a:buNone/>
            </a:pPr>
            <a:r>
              <a:rPr lang="en-US" sz="1500" dirty="0">
                <a:solidFill>
                  <a:srgbClr val="4A5A73"/>
                </a:solidFill>
                <a:latin typeface="Calibri" pitchFamily="34" charset="0"/>
                <a:ea typeface="Calibri" pitchFamily="34" charset="-122"/>
                <a:cs typeface="Calibri" pitchFamily="34" charset="-120"/>
              </a:rPr>
              <a:t>Cuidar de si e dos outros, cooperar, agir com responsabilidade.</a:t>
            </a:r>
            <a:endParaRPr lang="en-US" sz="1500" dirty="0"/>
          </a:p>
        </p:txBody>
      </p:sp>
      <p:sp>
        <p:nvSpPr>
          <p:cNvPr id="20" name="Shape 14"/>
          <p:cNvSpPr/>
          <p:nvPr/>
        </p:nvSpPr>
        <p:spPr>
          <a:xfrm>
            <a:off x="548640" y="5120640"/>
            <a:ext cx="11064240" cy="1051560"/>
          </a:xfrm>
          <a:prstGeom prst="roundRect">
            <a:avLst>
              <a:gd name="adj" fmla="val 13913"/>
            </a:avLst>
          </a:prstGeom>
          <a:solidFill>
            <a:srgbClr val="0F1B2E"/>
          </a:solidFill>
          <a:ln w="12700">
            <a:solidFill>
              <a:srgbClr val="0F1B2E"/>
            </a:solidFill>
            <a:prstDash val="solid"/>
          </a:ln>
        </p:spPr>
      </p:sp>
      <p:sp>
        <p:nvSpPr>
          <p:cNvPr id="21" name="Text 15"/>
          <p:cNvSpPr txBox="1"/>
          <p:nvPr/>
        </p:nvSpPr>
        <p:spPr>
          <a:xfrm>
            <a:off x="822960" y="5120640"/>
            <a:ext cx="1051560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Educação para redução de riscos de desastres é um campo relativamente recente: há necessidade de avançar em metodologias que ensinem a decidir.</a:t>
            </a:r>
            <a:endParaRPr lang="en-US" sz="17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O JOGO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O HIDRO em uma página</a:t>
            </a:r>
            <a:endParaRPr lang="en-US" sz="3400" dirty="0"/>
          </a:p>
        </p:txBody>
      </p:sp>
      <p:sp>
        <p:nvSpPr>
          <p:cNvPr id="5" name="Shape 2"/>
          <p:cNvSpPr/>
          <p:nvPr/>
        </p:nvSpPr>
        <p:spPr>
          <a:xfrm>
            <a:off x="548640" y="1865376"/>
            <a:ext cx="749808" cy="749808"/>
          </a:xfrm>
          <a:prstGeom prst="ellipse">
            <a:avLst/>
          </a:prstGeom>
          <a:solidFill>
            <a:srgbClr val="2A9FD6"/>
          </a:solidFill>
          <a:ln w="12700">
            <a:solidFill>
              <a:srgbClr val="2A9FD6"/>
            </a:solidFill>
            <a:prstDash val="solid"/>
          </a:ln>
        </p:spPr>
      </p:sp>
      <p:pic>
        <p:nvPicPr>
          <p:cNvPr id="6" name="Image 0" descr="art/icons/Gamepad_w.png">    </p:cNvPr>
          <p:cNvPicPr>
            <a:picLocks noChangeAspect="1"/>
          </p:cNvPicPr>
          <p:nvPr/>
        </p:nvPicPr>
        <p:blipFill>
          <a:blip r:embed="rId1"/>
          <a:stretch>
            <a:fillRect/>
          </a:stretch>
        </p:blipFill>
        <p:spPr>
          <a:xfrm>
            <a:off x="728594" y="2045330"/>
            <a:ext cx="389900" cy="389900"/>
          </a:xfrm>
          <a:prstGeom prst="rect">
            <a:avLst/>
          </a:prstGeom>
        </p:spPr>
      </p:pic>
      <p:sp>
        <p:nvSpPr>
          <p:cNvPr id="7" name="Text 3"/>
          <p:cNvSpPr txBox="1"/>
          <p:nvPr/>
        </p:nvSpPr>
        <p:spPr>
          <a:xfrm>
            <a:off x="1463040" y="1828800"/>
            <a:ext cx="4389120" cy="96012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O que é
</a:t>
            </a:r>
            <a:pPr indent="0" marL="0">
              <a:buNone/>
            </a:pPr>
            <a:r>
              <a:rPr lang="en-US" sz="1500" dirty="0">
                <a:solidFill>
                  <a:srgbClr val="4A5A73"/>
                </a:solidFill>
                <a:latin typeface="Calibri" pitchFamily="34" charset="0"/>
                <a:ea typeface="Calibri" pitchFamily="34" charset="-122"/>
                <a:cs typeface="Calibri" pitchFamily="34" charset="-120"/>
              </a:rPr>
              <a:t>Jogo educativo em pixel-art: você é o Hidro e decide, com o relógio correndo.</a:t>
            </a:r>
            <a:endParaRPr lang="en-US" sz="1500" dirty="0"/>
          </a:p>
        </p:txBody>
      </p:sp>
      <p:sp>
        <p:nvSpPr>
          <p:cNvPr id="8" name="Shape 4"/>
          <p:cNvSpPr/>
          <p:nvPr/>
        </p:nvSpPr>
        <p:spPr>
          <a:xfrm>
            <a:off x="548640" y="2944368"/>
            <a:ext cx="749808" cy="749808"/>
          </a:xfrm>
          <a:prstGeom prst="ellipse">
            <a:avLst/>
          </a:prstGeom>
          <a:solidFill>
            <a:srgbClr val="E57A2E"/>
          </a:solidFill>
          <a:ln w="12700">
            <a:solidFill>
              <a:srgbClr val="E57A2E"/>
            </a:solidFill>
            <a:prstDash val="solid"/>
          </a:ln>
        </p:spPr>
      </p:sp>
      <p:pic>
        <p:nvPicPr>
          <p:cNvPr id="9" name="Image 1" descr="art/icons/Map_w.png">    </p:cNvPr>
          <p:cNvPicPr>
            <a:picLocks noChangeAspect="1"/>
          </p:cNvPicPr>
          <p:nvPr/>
        </p:nvPicPr>
        <p:blipFill>
          <a:blip r:embed="rId2"/>
          <a:stretch>
            <a:fillRect/>
          </a:stretch>
        </p:blipFill>
        <p:spPr>
          <a:xfrm>
            <a:off x="728594" y="3124322"/>
            <a:ext cx="389900" cy="389900"/>
          </a:xfrm>
          <a:prstGeom prst="rect">
            <a:avLst/>
          </a:prstGeom>
        </p:spPr>
      </p:pic>
      <p:sp>
        <p:nvSpPr>
          <p:cNvPr id="10" name="Text 5"/>
          <p:cNvSpPr txBox="1"/>
          <p:nvPr/>
        </p:nvSpPr>
        <p:spPr>
          <a:xfrm>
            <a:off x="1463040" y="2907792"/>
            <a:ext cx="4389120" cy="96012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4 cenários
</a:t>
            </a:r>
            <a:pPr indent="0" marL="0">
              <a:buNone/>
            </a:pPr>
            <a:r>
              <a:rPr lang="en-US" sz="1500" dirty="0">
                <a:solidFill>
                  <a:srgbClr val="4A5A73"/>
                </a:solidFill>
                <a:latin typeface="Calibri" pitchFamily="34" charset="0"/>
                <a:ea typeface="Calibri" pitchFamily="34" charset="-122"/>
                <a:cs typeface="Calibri" pitchFamily="34" charset="-120"/>
              </a:rPr>
              <a:t>Alagamento, enxurrada, enchente/inundação e deslizamento.</a:t>
            </a:r>
            <a:endParaRPr lang="en-US" sz="1500" dirty="0"/>
          </a:p>
        </p:txBody>
      </p:sp>
      <p:sp>
        <p:nvSpPr>
          <p:cNvPr id="11" name="Shape 6"/>
          <p:cNvSpPr/>
          <p:nvPr/>
        </p:nvSpPr>
        <p:spPr>
          <a:xfrm>
            <a:off x="548640" y="4023360"/>
            <a:ext cx="749808" cy="749808"/>
          </a:xfrm>
          <a:prstGeom prst="ellipse">
            <a:avLst/>
          </a:prstGeom>
          <a:solidFill>
            <a:srgbClr val="2FA36B"/>
          </a:solidFill>
          <a:ln w="12700">
            <a:solidFill>
              <a:srgbClr val="2FA36B"/>
            </a:solidFill>
            <a:prstDash val="solid"/>
          </a:ln>
        </p:spPr>
      </p:sp>
      <p:pic>
        <p:nvPicPr>
          <p:cNvPr id="12" name="Image 2" descr="art/icons/MobileScreenButton_w.png">    </p:cNvPr>
          <p:cNvPicPr>
            <a:picLocks noChangeAspect="1"/>
          </p:cNvPicPr>
          <p:nvPr/>
        </p:nvPicPr>
        <p:blipFill>
          <a:blip r:embed="rId3"/>
          <a:stretch>
            <a:fillRect/>
          </a:stretch>
        </p:blipFill>
        <p:spPr>
          <a:xfrm>
            <a:off x="728594" y="4203314"/>
            <a:ext cx="389900" cy="389900"/>
          </a:xfrm>
          <a:prstGeom prst="rect">
            <a:avLst/>
          </a:prstGeom>
        </p:spPr>
      </p:pic>
      <p:sp>
        <p:nvSpPr>
          <p:cNvPr id="13" name="Text 7"/>
          <p:cNvSpPr txBox="1"/>
          <p:nvPr/>
        </p:nvSpPr>
        <p:spPr>
          <a:xfrm>
            <a:off x="1463040" y="3986784"/>
            <a:ext cx="4389120" cy="96012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Onde roda
</a:t>
            </a:r>
            <a:pPr indent="0" marL="0">
              <a:buNone/>
            </a:pPr>
            <a:r>
              <a:rPr lang="en-US" sz="1500" dirty="0">
                <a:solidFill>
                  <a:srgbClr val="4A5A73"/>
                </a:solidFill>
                <a:latin typeface="Calibri" pitchFamily="34" charset="0"/>
                <a:ea typeface="Calibri" pitchFamily="34" charset="-122"/>
                <a:cs typeface="Calibri" pitchFamily="34" charset="-120"/>
              </a:rPr>
              <a:t>No navegador: computador, tablet ou celular (toque).</a:t>
            </a:r>
            <a:endParaRPr lang="en-US" sz="1500" dirty="0"/>
          </a:p>
        </p:txBody>
      </p:sp>
      <p:sp>
        <p:nvSpPr>
          <p:cNvPr id="14" name="Shape 8"/>
          <p:cNvSpPr/>
          <p:nvPr/>
        </p:nvSpPr>
        <p:spPr>
          <a:xfrm>
            <a:off x="548640" y="5102352"/>
            <a:ext cx="749808" cy="749808"/>
          </a:xfrm>
          <a:prstGeom prst="ellipse">
            <a:avLst/>
          </a:prstGeom>
          <a:solidFill>
            <a:srgbClr val="D64545"/>
          </a:solidFill>
          <a:ln w="12700">
            <a:solidFill>
              <a:srgbClr val="D64545"/>
            </a:solidFill>
            <a:prstDash val="solid"/>
          </a:ln>
        </p:spPr>
      </p:sp>
      <p:pic>
        <p:nvPicPr>
          <p:cNvPr id="15" name="Image 3" descr="art/icons/ShieldHalved_w.png">    </p:cNvPr>
          <p:cNvPicPr>
            <a:picLocks noChangeAspect="1"/>
          </p:cNvPicPr>
          <p:nvPr/>
        </p:nvPicPr>
        <p:blipFill>
          <a:blip r:embed="rId4"/>
          <a:stretch>
            <a:fillRect/>
          </a:stretch>
        </p:blipFill>
        <p:spPr>
          <a:xfrm>
            <a:off x="728594" y="5282306"/>
            <a:ext cx="389900" cy="389900"/>
          </a:xfrm>
          <a:prstGeom prst="rect">
            <a:avLst/>
          </a:prstGeom>
        </p:spPr>
      </p:pic>
      <p:sp>
        <p:nvSpPr>
          <p:cNvPr id="16" name="Text 9"/>
          <p:cNvSpPr txBox="1"/>
          <p:nvPr/>
        </p:nvSpPr>
        <p:spPr>
          <a:xfrm>
            <a:off x="1463040" y="5065776"/>
            <a:ext cx="4389120" cy="96012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Como ensina
</a:t>
            </a:r>
            <a:pPr indent="0" marL="0">
              <a:buNone/>
            </a:pPr>
            <a:r>
              <a:rPr lang="en-US" sz="1500" dirty="0">
                <a:solidFill>
                  <a:srgbClr val="4A5A73"/>
                </a:solidFill>
                <a:latin typeface="Calibri" pitchFamily="34" charset="0"/>
                <a:ea typeface="Calibri" pitchFamily="34" charset="-122"/>
                <a:cs typeface="Calibri" pitchFamily="34" charset="-120"/>
              </a:rPr>
              <a:t>Protocolo, decisões, consequências, quiz e mito ou verdade.</a:t>
            </a:r>
            <a:endParaRPr lang="en-US" sz="1500" dirty="0"/>
          </a:p>
        </p:txBody>
      </p:sp>
      <p:sp>
        <p:nvSpPr>
          <p:cNvPr id="17" name="Shape 10"/>
          <p:cNvSpPr/>
          <p:nvPr/>
        </p:nvSpPr>
        <p:spPr>
          <a:xfrm>
            <a:off x="6172200" y="1828800"/>
            <a:ext cx="269748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pic>
        <p:nvPicPr>
          <p:cNvPr id="18" name="Image 4" descr="art/scene_alagamento.png">    </p:cNvPr>
          <p:cNvPicPr>
            <a:picLocks noChangeAspect="1"/>
          </p:cNvPicPr>
          <p:nvPr/>
        </p:nvPicPr>
        <p:blipFill>
          <a:blip r:embed="rId5"/>
          <a:stretch>
            <a:fillRect/>
          </a:stretch>
        </p:blipFill>
        <p:spPr>
          <a:xfrm>
            <a:off x="6281928" y="1956816"/>
            <a:ext cx="2468880" cy="1357884"/>
          </a:xfrm>
          <a:prstGeom prst="rect">
            <a:avLst/>
          </a:prstGeom>
        </p:spPr>
      </p:pic>
      <p:sp>
        <p:nvSpPr>
          <p:cNvPr id="19" name="Text 11"/>
          <p:cNvSpPr txBox="1"/>
          <p:nvPr/>
        </p:nvSpPr>
        <p:spPr>
          <a:xfrm>
            <a:off x="6281928" y="3429000"/>
            <a:ext cx="2468880" cy="320040"/>
          </a:xfrm>
          <a:prstGeom prst="rect">
            <a:avLst/>
          </a:prstGeom>
          <a:noFill/>
          <a:ln/>
        </p:spPr>
        <p:txBody>
          <a:bodyPr wrap="square" lIns="0" tIns="0" rIns="0" bIns="0" rtlCol="0" anchor="t"/>
          <a:lstStyle/>
          <a:p>
            <a:pPr algn="ctr" indent="0" marL="0">
              <a:buNone/>
            </a:pPr>
            <a:r>
              <a:rPr lang="en-US" sz="1100" b="1" dirty="0">
                <a:solidFill>
                  <a:srgbClr val="D9A21B"/>
                </a:solidFill>
                <a:latin typeface="Calibri" pitchFamily="34" charset="0"/>
                <a:ea typeface="Calibri" pitchFamily="34" charset="-122"/>
                <a:cs typeface="Calibri" pitchFamily="34" charset="-120"/>
              </a:rPr>
              <a:t>ALAGAMENTO</a:t>
            </a:r>
            <a:endParaRPr lang="en-US" sz="1100" dirty="0"/>
          </a:p>
        </p:txBody>
      </p:sp>
      <p:sp>
        <p:nvSpPr>
          <p:cNvPr id="20" name="Shape 12"/>
          <p:cNvSpPr/>
          <p:nvPr/>
        </p:nvSpPr>
        <p:spPr>
          <a:xfrm>
            <a:off x="8961120" y="1828800"/>
            <a:ext cx="269748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pic>
        <p:nvPicPr>
          <p:cNvPr id="21" name="Image 5" descr="art/scene_enxurrada.png">    </p:cNvPr>
          <p:cNvPicPr>
            <a:picLocks noChangeAspect="1"/>
          </p:cNvPicPr>
          <p:nvPr/>
        </p:nvPicPr>
        <p:blipFill>
          <a:blip r:embed="rId6"/>
          <a:stretch>
            <a:fillRect/>
          </a:stretch>
        </p:blipFill>
        <p:spPr>
          <a:xfrm>
            <a:off x="9070848" y="1956816"/>
            <a:ext cx="2468880" cy="1357884"/>
          </a:xfrm>
          <a:prstGeom prst="rect">
            <a:avLst/>
          </a:prstGeom>
        </p:spPr>
      </p:pic>
      <p:sp>
        <p:nvSpPr>
          <p:cNvPr id="22" name="Text 13"/>
          <p:cNvSpPr txBox="1"/>
          <p:nvPr/>
        </p:nvSpPr>
        <p:spPr>
          <a:xfrm>
            <a:off x="9070848" y="3429000"/>
            <a:ext cx="2468880" cy="320040"/>
          </a:xfrm>
          <a:prstGeom prst="rect">
            <a:avLst/>
          </a:prstGeom>
          <a:noFill/>
          <a:ln/>
        </p:spPr>
        <p:txBody>
          <a:bodyPr wrap="square" lIns="0" tIns="0" rIns="0" bIns="0" rtlCol="0" anchor="t"/>
          <a:lstStyle/>
          <a:p>
            <a:pPr algn="ctr" indent="0" marL="0">
              <a:buNone/>
            </a:pPr>
            <a:r>
              <a:rPr lang="en-US" sz="1100" b="1" dirty="0">
                <a:solidFill>
                  <a:srgbClr val="E57A2E"/>
                </a:solidFill>
                <a:latin typeface="Calibri" pitchFamily="34" charset="0"/>
                <a:ea typeface="Calibri" pitchFamily="34" charset="-122"/>
                <a:cs typeface="Calibri" pitchFamily="34" charset="-120"/>
              </a:rPr>
              <a:t>ENXURRADA</a:t>
            </a:r>
            <a:endParaRPr lang="en-US" sz="1100" dirty="0"/>
          </a:p>
        </p:txBody>
      </p:sp>
      <p:sp>
        <p:nvSpPr>
          <p:cNvPr id="23" name="Shape 14"/>
          <p:cNvSpPr/>
          <p:nvPr/>
        </p:nvSpPr>
        <p:spPr>
          <a:xfrm>
            <a:off x="6172200" y="3977640"/>
            <a:ext cx="269748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pic>
        <p:nvPicPr>
          <p:cNvPr id="24" name="Image 6" descr="art/scene_enchente.png">    </p:cNvPr>
          <p:cNvPicPr>
            <a:picLocks noChangeAspect="1"/>
          </p:cNvPicPr>
          <p:nvPr/>
        </p:nvPicPr>
        <p:blipFill>
          <a:blip r:embed="rId7"/>
          <a:stretch>
            <a:fillRect/>
          </a:stretch>
        </p:blipFill>
        <p:spPr>
          <a:xfrm>
            <a:off x="6281928" y="4105656"/>
            <a:ext cx="2468880" cy="1357884"/>
          </a:xfrm>
          <a:prstGeom prst="rect">
            <a:avLst/>
          </a:prstGeom>
        </p:spPr>
      </p:pic>
      <p:sp>
        <p:nvSpPr>
          <p:cNvPr id="25" name="Text 15"/>
          <p:cNvSpPr txBox="1"/>
          <p:nvPr/>
        </p:nvSpPr>
        <p:spPr>
          <a:xfrm>
            <a:off x="6281928" y="5577840"/>
            <a:ext cx="2468880" cy="320040"/>
          </a:xfrm>
          <a:prstGeom prst="rect">
            <a:avLst/>
          </a:prstGeom>
          <a:noFill/>
          <a:ln/>
        </p:spPr>
        <p:txBody>
          <a:bodyPr wrap="square" lIns="0" tIns="0" rIns="0" bIns="0" rtlCol="0" anchor="t"/>
          <a:lstStyle/>
          <a:p>
            <a:pPr algn="ctr" indent="0" marL="0">
              <a:buNone/>
            </a:pPr>
            <a:r>
              <a:rPr lang="en-US" sz="1100" b="1" dirty="0">
                <a:solidFill>
                  <a:srgbClr val="2FA36B"/>
                </a:solidFill>
                <a:latin typeface="Calibri" pitchFamily="34" charset="0"/>
                <a:ea typeface="Calibri" pitchFamily="34" charset="-122"/>
                <a:cs typeface="Calibri" pitchFamily="34" charset="-120"/>
              </a:rPr>
              <a:t>ENCHENTE E INUNDAÇÃO</a:t>
            </a:r>
            <a:endParaRPr lang="en-US" sz="1100" dirty="0"/>
          </a:p>
        </p:txBody>
      </p:sp>
      <p:sp>
        <p:nvSpPr>
          <p:cNvPr id="26" name="Shape 16"/>
          <p:cNvSpPr/>
          <p:nvPr/>
        </p:nvSpPr>
        <p:spPr>
          <a:xfrm>
            <a:off x="8961120" y="3977640"/>
            <a:ext cx="2697480" cy="201168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pic>
        <p:nvPicPr>
          <p:cNvPr id="27" name="Image 7" descr="art/scene_deslizamento.png">    </p:cNvPr>
          <p:cNvPicPr>
            <a:picLocks noChangeAspect="1"/>
          </p:cNvPicPr>
          <p:nvPr/>
        </p:nvPicPr>
        <p:blipFill>
          <a:blip r:embed="rId8"/>
          <a:stretch>
            <a:fillRect/>
          </a:stretch>
        </p:blipFill>
        <p:spPr>
          <a:xfrm>
            <a:off x="9070848" y="4105656"/>
            <a:ext cx="2468880" cy="1357884"/>
          </a:xfrm>
          <a:prstGeom prst="rect">
            <a:avLst/>
          </a:prstGeom>
        </p:spPr>
      </p:pic>
      <p:sp>
        <p:nvSpPr>
          <p:cNvPr id="28" name="Text 17"/>
          <p:cNvSpPr txBox="1"/>
          <p:nvPr/>
        </p:nvSpPr>
        <p:spPr>
          <a:xfrm>
            <a:off x="9070848" y="5577840"/>
            <a:ext cx="2468880" cy="320040"/>
          </a:xfrm>
          <a:prstGeom prst="rect">
            <a:avLst/>
          </a:prstGeom>
          <a:noFill/>
          <a:ln/>
        </p:spPr>
        <p:txBody>
          <a:bodyPr wrap="square" lIns="0" tIns="0" rIns="0" bIns="0" rtlCol="0" anchor="t"/>
          <a:lstStyle/>
          <a:p>
            <a:pPr algn="ctr" indent="0" marL="0">
              <a:buNone/>
            </a:pPr>
            <a:r>
              <a:rPr lang="en-US" sz="1100" b="1" dirty="0">
                <a:solidFill>
                  <a:srgbClr val="D64545"/>
                </a:solidFill>
                <a:latin typeface="Calibri" pitchFamily="34" charset="0"/>
                <a:ea typeface="Calibri" pitchFamily="34" charset="-122"/>
                <a:cs typeface="Calibri" pitchFamily="34" charset="-120"/>
              </a:rPr>
              <a:t>DESLIZAMENTO</a:t>
            </a:r>
            <a:endParaRPr lang="en-US" sz="11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O JOGO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O que cada mecânica ensina</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840480"/>
                <a:gridCol w="7223760"/>
              </a:tblGrid>
              <a:tr h="420624">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Mecânica do jogo</a:t>
                      </a:r>
                      <a:endParaRPr lang="en-US" sz="14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0F1B2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 que ensina</a:t>
                      </a:r>
                      <a:endParaRPr lang="en-US" sz="14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0F1B2E"/>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Ordem obrigatória (EPI, 199, ação)</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Que o protocolo tem sequência e que a proteção pessoal vem primeiro.</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Relógio do desastre</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Urgência e priorização. Pausa durante os diálogos e o quiz.</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Game over com explicação</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Consequência de decisões perigosas, com nova tentativa (erro seguro).</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Mito ou verdade</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Confronta concepções alternativas comuns.</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Quiz, glossário e medalhas</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Conceitos, vocabulário técnico (nome técnico e popular) e feedback.</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Modo Professor</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Registro de decisões seguras e perigosas e do quiz, para avaliação.</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Modo calmo</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Sem relógio e sem efeitos: acessibilidade sensorial e menos ansiedade.</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Dificuldade (Fácil/Normal/Difícil)</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Velocidade do perigo ajustável: diferenciação entre turmas ou estudantes.</a:t>
                      </a:r>
                      <a:endParaRPr lang="en-US" sz="1500" dirty="0">
                        <a:latin typeface="Calibri" charset="0"/>
                        <a:ea typeface="Calibri" charset="0"/>
                        <a:cs typeface="Calibri" charset="0"/>
                      </a:endParaRPr>
                    </a:p>
                  </a:txBody>
                  <a:tcPr marL="91440" marR="91440"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E"/>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O JOGO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Demonstração ao vivo</a:t>
            </a:r>
            <a:endParaRPr lang="en-US" sz="3400" dirty="0"/>
          </a:p>
        </p:txBody>
      </p:sp>
      <p:sp>
        <p:nvSpPr>
          <p:cNvPr id="5" name="Shape 2"/>
          <p:cNvSpPr/>
          <p:nvPr/>
        </p:nvSpPr>
        <p:spPr>
          <a:xfrm>
            <a:off x="548640" y="1828800"/>
            <a:ext cx="3520440" cy="2011680"/>
          </a:xfrm>
          <a:prstGeom prst="roundRect">
            <a:avLst>
              <a:gd name="adj" fmla="val 7273"/>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777240" y="2057400"/>
            <a:ext cx="594360" cy="594360"/>
          </a:xfrm>
          <a:prstGeom prst="ellipse">
            <a:avLst/>
          </a:prstGeom>
          <a:solidFill>
            <a:srgbClr val="F5C451"/>
          </a:solidFill>
          <a:ln/>
        </p:spPr>
        <p:txBody>
          <a:bodyPr wrap="square" lIns="0" tIns="0" rIns="0" bIns="0" rtlCol="0" anchor="ctr"/>
          <a:lstStyle/>
          <a:p>
            <a:pPr algn="ctr" indent="0" marL="0">
              <a:buNone/>
            </a:pPr>
            <a:r>
              <a:rPr lang="en-US" sz="2000" b="1" dirty="0">
                <a:solidFill>
                  <a:srgbClr val="0F1B2E"/>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1554480" y="2103120"/>
            <a:ext cx="237744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Menu e glossário</a:t>
            </a:r>
            <a:endParaRPr lang="en-US" sz="2000" dirty="0"/>
          </a:p>
        </p:txBody>
      </p:sp>
      <p:sp>
        <p:nvSpPr>
          <p:cNvPr id="8" name="Text 5"/>
          <p:cNvSpPr txBox="1"/>
          <p:nvPr/>
        </p:nvSpPr>
        <p:spPr>
          <a:xfrm>
            <a:off x="822960" y="2788920"/>
            <a:ext cx="3017520" cy="960120"/>
          </a:xfrm>
          <a:prstGeom prst="rect">
            <a:avLst/>
          </a:prstGeom>
          <a:noFill/>
          <a:ln/>
        </p:spPr>
        <p:txBody>
          <a:bodyPr wrap="square" lIns="0" tIns="0" rIns="0" bIns="0" rtlCol="0" anchor="t"/>
          <a:lstStyle/>
          <a:p>
            <a:pPr indent="0" marL="0">
              <a:buNone/>
            </a:pPr>
            <a:r>
              <a:rPr lang="en-US" sz="1500" dirty="0">
                <a:solidFill>
                  <a:srgbClr val="B8CCE6"/>
                </a:solidFill>
                <a:latin typeface="Calibri" pitchFamily="34" charset="0"/>
                <a:ea typeface="Calibri" pitchFamily="34" charset="-122"/>
                <a:cs typeface="Calibri" pitchFamily="34" charset="-120"/>
              </a:rPr>
              <a:t>Seletor de fases e tecla G.</a:t>
            </a:r>
            <a:endParaRPr lang="en-US" sz="1500" dirty="0"/>
          </a:p>
        </p:txBody>
      </p:sp>
      <p:sp>
        <p:nvSpPr>
          <p:cNvPr id="9" name="Shape 6"/>
          <p:cNvSpPr/>
          <p:nvPr/>
        </p:nvSpPr>
        <p:spPr>
          <a:xfrm>
            <a:off x="4343400" y="1828800"/>
            <a:ext cx="3520440" cy="2011680"/>
          </a:xfrm>
          <a:prstGeom prst="roundRect">
            <a:avLst>
              <a:gd name="adj" fmla="val 7273"/>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4572000" y="2057400"/>
            <a:ext cx="594360" cy="594360"/>
          </a:xfrm>
          <a:prstGeom prst="ellipse">
            <a:avLst/>
          </a:prstGeom>
          <a:solidFill>
            <a:srgbClr val="F5C451"/>
          </a:solidFill>
          <a:ln/>
        </p:spPr>
        <p:txBody>
          <a:bodyPr wrap="square" lIns="0" tIns="0" rIns="0" bIns="0" rtlCol="0" anchor="ctr"/>
          <a:lstStyle/>
          <a:p>
            <a:pPr algn="ctr" indent="0" marL="0">
              <a:buNone/>
            </a:pPr>
            <a:r>
              <a:rPr lang="en-US" sz="2000" b="1" dirty="0">
                <a:solidFill>
                  <a:srgbClr val="0F1B2E"/>
                </a:solidFill>
                <a:latin typeface="Calibri" pitchFamily="34" charset="0"/>
                <a:ea typeface="Calibri" pitchFamily="34" charset="-122"/>
                <a:cs typeface="Calibri" pitchFamily="34" charset="-120"/>
              </a:rPr>
              <a:t>2</a:t>
            </a:r>
            <a:endParaRPr lang="en-US" sz="2000" dirty="0"/>
          </a:p>
        </p:txBody>
      </p:sp>
      <p:sp>
        <p:nvSpPr>
          <p:cNvPr id="11" name="Text 8"/>
          <p:cNvSpPr txBox="1"/>
          <p:nvPr/>
        </p:nvSpPr>
        <p:spPr>
          <a:xfrm>
            <a:off x="5349240" y="2103120"/>
            <a:ext cx="237744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Fase 1</a:t>
            </a:r>
            <a:endParaRPr lang="en-US" sz="2000" dirty="0"/>
          </a:p>
        </p:txBody>
      </p:sp>
      <p:sp>
        <p:nvSpPr>
          <p:cNvPr id="12" name="Text 9"/>
          <p:cNvSpPr txBox="1"/>
          <p:nvPr/>
        </p:nvSpPr>
        <p:spPr>
          <a:xfrm>
            <a:off x="4617720" y="2788920"/>
            <a:ext cx="3017520" cy="960120"/>
          </a:xfrm>
          <a:prstGeom prst="rect">
            <a:avLst/>
          </a:prstGeom>
          <a:noFill/>
          <a:ln/>
        </p:spPr>
        <p:txBody>
          <a:bodyPr wrap="square" lIns="0" tIns="0" rIns="0" bIns="0" rtlCol="0" anchor="t"/>
          <a:lstStyle/>
          <a:p>
            <a:pPr indent="0" marL="0">
              <a:buNone/>
            </a:pPr>
            <a:r>
              <a:rPr lang="en-US" sz="1500" dirty="0">
                <a:solidFill>
                  <a:srgbClr val="B8CCE6"/>
                </a:solidFill>
                <a:latin typeface="Calibri" pitchFamily="34" charset="0"/>
                <a:ea typeface="Calibri" pitchFamily="34" charset="-122"/>
                <a:cs typeface="Calibri" pitchFamily="34" charset="-120"/>
              </a:rPr>
              <a:t>Capa, 199, disjuntor e ordem do protocolo.</a:t>
            </a:r>
            <a:endParaRPr lang="en-US" sz="1500" dirty="0"/>
          </a:p>
        </p:txBody>
      </p:sp>
      <p:sp>
        <p:nvSpPr>
          <p:cNvPr id="13" name="Shape 10"/>
          <p:cNvSpPr/>
          <p:nvPr/>
        </p:nvSpPr>
        <p:spPr>
          <a:xfrm>
            <a:off x="8138160" y="1828800"/>
            <a:ext cx="3520440" cy="2011680"/>
          </a:xfrm>
          <a:prstGeom prst="roundRect">
            <a:avLst>
              <a:gd name="adj" fmla="val 7273"/>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8366760" y="2057400"/>
            <a:ext cx="594360" cy="594360"/>
          </a:xfrm>
          <a:prstGeom prst="ellipse">
            <a:avLst/>
          </a:prstGeom>
          <a:solidFill>
            <a:srgbClr val="F5C451"/>
          </a:solidFill>
          <a:ln/>
        </p:spPr>
        <p:txBody>
          <a:bodyPr wrap="square" lIns="0" tIns="0" rIns="0" bIns="0" rtlCol="0" anchor="ctr"/>
          <a:lstStyle/>
          <a:p>
            <a:pPr algn="ctr" indent="0" marL="0">
              <a:buNone/>
            </a:pPr>
            <a:r>
              <a:rPr lang="en-US" sz="2000" b="1" dirty="0">
                <a:solidFill>
                  <a:srgbClr val="0F1B2E"/>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9144000" y="2103120"/>
            <a:ext cx="237744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Erro seguro</a:t>
            </a:r>
            <a:endParaRPr lang="en-US" sz="2000" dirty="0"/>
          </a:p>
        </p:txBody>
      </p:sp>
      <p:sp>
        <p:nvSpPr>
          <p:cNvPr id="16" name="Text 13"/>
          <p:cNvSpPr txBox="1"/>
          <p:nvPr/>
        </p:nvSpPr>
        <p:spPr>
          <a:xfrm>
            <a:off x="8412480" y="2788920"/>
            <a:ext cx="3017520" cy="960120"/>
          </a:xfrm>
          <a:prstGeom prst="rect">
            <a:avLst/>
          </a:prstGeom>
          <a:noFill/>
          <a:ln/>
        </p:spPr>
        <p:txBody>
          <a:bodyPr wrap="square" lIns="0" tIns="0" rIns="0" bIns="0" rtlCol="0" anchor="t"/>
          <a:lstStyle/>
          <a:p>
            <a:pPr indent="0" marL="0">
              <a:buNone/>
            </a:pPr>
            <a:r>
              <a:rPr lang="en-US" sz="1500" dirty="0">
                <a:solidFill>
                  <a:srgbClr val="B8CCE6"/>
                </a:solidFill>
                <a:latin typeface="Calibri" pitchFamily="34" charset="0"/>
                <a:ea typeface="Calibri" pitchFamily="34" charset="-122"/>
                <a:cs typeface="Calibri" pitchFamily="34" charset="-120"/>
              </a:rPr>
              <a:t>Poço de visita sem tampão: aviso e game over explicado.</a:t>
            </a:r>
            <a:endParaRPr lang="en-US" sz="1500" dirty="0"/>
          </a:p>
        </p:txBody>
      </p:sp>
      <p:sp>
        <p:nvSpPr>
          <p:cNvPr id="17" name="Shape 14"/>
          <p:cNvSpPr/>
          <p:nvPr/>
        </p:nvSpPr>
        <p:spPr>
          <a:xfrm>
            <a:off x="548640" y="4023360"/>
            <a:ext cx="3520440" cy="2011680"/>
          </a:xfrm>
          <a:prstGeom prst="roundRect">
            <a:avLst>
              <a:gd name="adj" fmla="val 7273"/>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18" name="Text 15"/>
          <p:cNvSpPr txBox="1"/>
          <p:nvPr/>
        </p:nvSpPr>
        <p:spPr>
          <a:xfrm>
            <a:off x="777240" y="4251960"/>
            <a:ext cx="594360" cy="594360"/>
          </a:xfrm>
          <a:prstGeom prst="ellipse">
            <a:avLst/>
          </a:prstGeom>
          <a:solidFill>
            <a:srgbClr val="F5C451"/>
          </a:solidFill>
          <a:ln/>
        </p:spPr>
        <p:txBody>
          <a:bodyPr wrap="square" lIns="0" tIns="0" rIns="0" bIns="0" rtlCol="0" anchor="ctr"/>
          <a:lstStyle/>
          <a:p>
            <a:pPr algn="ctr" indent="0" marL="0">
              <a:buNone/>
            </a:pPr>
            <a:r>
              <a:rPr lang="en-US" sz="2000" b="1" dirty="0">
                <a:solidFill>
                  <a:srgbClr val="0F1B2E"/>
                </a:solidFill>
                <a:latin typeface="Calibri" pitchFamily="34" charset="0"/>
                <a:ea typeface="Calibri" pitchFamily="34" charset="-122"/>
                <a:cs typeface="Calibri" pitchFamily="34" charset="-120"/>
              </a:rPr>
              <a:t>4</a:t>
            </a:r>
            <a:endParaRPr lang="en-US" sz="2000" dirty="0"/>
          </a:p>
        </p:txBody>
      </p:sp>
      <p:sp>
        <p:nvSpPr>
          <p:cNvPr id="19" name="Text 16"/>
          <p:cNvSpPr txBox="1"/>
          <p:nvPr/>
        </p:nvSpPr>
        <p:spPr>
          <a:xfrm>
            <a:off x="1554480" y="4297680"/>
            <a:ext cx="237744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Leitura da tela</a:t>
            </a:r>
            <a:endParaRPr lang="en-US" sz="2000" dirty="0"/>
          </a:p>
        </p:txBody>
      </p:sp>
      <p:sp>
        <p:nvSpPr>
          <p:cNvPr id="20" name="Text 17"/>
          <p:cNvSpPr txBox="1"/>
          <p:nvPr/>
        </p:nvSpPr>
        <p:spPr>
          <a:xfrm>
            <a:off x="822960" y="4983480"/>
            <a:ext cx="3017520" cy="960120"/>
          </a:xfrm>
          <a:prstGeom prst="rect">
            <a:avLst/>
          </a:prstGeom>
          <a:noFill/>
          <a:ln/>
        </p:spPr>
        <p:txBody>
          <a:bodyPr wrap="square" lIns="0" tIns="0" rIns="0" bIns="0" rtlCol="0" anchor="t"/>
          <a:lstStyle/>
          <a:p>
            <a:pPr indent="0" marL="0">
              <a:buNone/>
            </a:pPr>
            <a:r>
              <a:rPr lang="en-US" sz="1500" dirty="0">
                <a:solidFill>
                  <a:srgbClr val="B8CCE6"/>
                </a:solidFill>
                <a:latin typeface="Calibri" pitchFamily="34" charset="0"/>
                <a:ea typeface="Calibri" pitchFamily="34" charset="-122"/>
                <a:cs typeface="Calibri" pitchFamily="34" charset="-120"/>
              </a:rPr>
              <a:t>Medidor de risco, próximo passo e seta-guia.</a:t>
            </a:r>
            <a:endParaRPr lang="en-US" sz="1500" dirty="0"/>
          </a:p>
        </p:txBody>
      </p:sp>
      <p:sp>
        <p:nvSpPr>
          <p:cNvPr id="21" name="Shape 18"/>
          <p:cNvSpPr/>
          <p:nvPr/>
        </p:nvSpPr>
        <p:spPr>
          <a:xfrm>
            <a:off x="4343400" y="4023360"/>
            <a:ext cx="3520440" cy="2011680"/>
          </a:xfrm>
          <a:prstGeom prst="roundRect">
            <a:avLst>
              <a:gd name="adj" fmla="val 7273"/>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22" name="Text 19"/>
          <p:cNvSpPr txBox="1"/>
          <p:nvPr/>
        </p:nvSpPr>
        <p:spPr>
          <a:xfrm>
            <a:off x="4572000" y="4251960"/>
            <a:ext cx="594360" cy="594360"/>
          </a:xfrm>
          <a:prstGeom prst="ellipse">
            <a:avLst/>
          </a:prstGeom>
          <a:solidFill>
            <a:srgbClr val="F5C451"/>
          </a:solidFill>
          <a:ln/>
        </p:spPr>
        <p:txBody>
          <a:bodyPr wrap="square" lIns="0" tIns="0" rIns="0" bIns="0" rtlCol="0" anchor="ctr"/>
          <a:lstStyle/>
          <a:p>
            <a:pPr algn="ctr" indent="0" marL="0">
              <a:buNone/>
            </a:pPr>
            <a:r>
              <a:rPr lang="en-US" sz="2000" b="1" dirty="0">
                <a:solidFill>
                  <a:srgbClr val="0F1B2E"/>
                </a:solidFill>
                <a:latin typeface="Calibri" pitchFamily="34" charset="0"/>
                <a:ea typeface="Calibri" pitchFamily="34" charset="-122"/>
                <a:cs typeface="Calibri" pitchFamily="34" charset="-120"/>
              </a:rPr>
              <a:t>5</a:t>
            </a:r>
            <a:endParaRPr lang="en-US" sz="2000" dirty="0"/>
          </a:p>
        </p:txBody>
      </p:sp>
      <p:sp>
        <p:nvSpPr>
          <p:cNvPr id="23" name="Text 20"/>
          <p:cNvSpPr txBox="1"/>
          <p:nvPr/>
        </p:nvSpPr>
        <p:spPr>
          <a:xfrm>
            <a:off x="5349240" y="4297680"/>
            <a:ext cx="237744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Modo Professor</a:t>
            </a:r>
            <a:endParaRPr lang="en-US" sz="2000" dirty="0"/>
          </a:p>
        </p:txBody>
      </p:sp>
      <p:sp>
        <p:nvSpPr>
          <p:cNvPr id="24" name="Text 21"/>
          <p:cNvSpPr txBox="1"/>
          <p:nvPr/>
        </p:nvSpPr>
        <p:spPr>
          <a:xfrm>
            <a:off x="4617720" y="4983480"/>
            <a:ext cx="3017520" cy="960120"/>
          </a:xfrm>
          <a:prstGeom prst="rect">
            <a:avLst/>
          </a:prstGeom>
          <a:noFill/>
          <a:ln/>
        </p:spPr>
        <p:txBody>
          <a:bodyPr wrap="square" lIns="0" tIns="0" rIns="0" bIns="0" rtlCol="0" anchor="t"/>
          <a:lstStyle/>
          <a:p>
            <a:pPr indent="0" marL="0">
              <a:buNone/>
            </a:pPr>
            <a:r>
              <a:rPr lang="en-US" sz="1500" dirty="0">
                <a:solidFill>
                  <a:srgbClr val="B8CCE6"/>
                </a:solidFill>
                <a:latin typeface="Calibri" pitchFamily="34" charset="0"/>
                <a:ea typeface="Calibri" pitchFamily="34" charset="-122"/>
                <a:cs typeface="Calibri" pitchFamily="34" charset="-120"/>
              </a:rPr>
              <a:t>Tecla T: decisões seguras e perigosas e quiz.</a:t>
            </a:r>
            <a:endParaRPr lang="en-US" sz="1500" dirty="0"/>
          </a:p>
        </p:txBody>
      </p:sp>
      <p:sp>
        <p:nvSpPr>
          <p:cNvPr id="25" name="Shape 22"/>
          <p:cNvSpPr/>
          <p:nvPr/>
        </p:nvSpPr>
        <p:spPr>
          <a:xfrm>
            <a:off x="8138160" y="4023360"/>
            <a:ext cx="3520440" cy="2011680"/>
          </a:xfrm>
          <a:prstGeom prst="roundRect">
            <a:avLst>
              <a:gd name="adj" fmla="val 7273"/>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26" name="Text 23"/>
          <p:cNvSpPr txBox="1"/>
          <p:nvPr/>
        </p:nvSpPr>
        <p:spPr>
          <a:xfrm>
            <a:off x="8366760" y="4251960"/>
            <a:ext cx="594360" cy="594360"/>
          </a:xfrm>
          <a:prstGeom prst="ellipse">
            <a:avLst/>
          </a:prstGeom>
          <a:solidFill>
            <a:srgbClr val="F5C451"/>
          </a:solidFill>
          <a:ln/>
        </p:spPr>
        <p:txBody>
          <a:bodyPr wrap="square" lIns="0" tIns="0" rIns="0" bIns="0" rtlCol="0" anchor="ctr"/>
          <a:lstStyle/>
          <a:p>
            <a:pPr algn="ctr" indent="0" marL="0">
              <a:buNone/>
            </a:pPr>
            <a:r>
              <a:rPr lang="en-US" sz="2000" b="1" dirty="0">
                <a:solidFill>
                  <a:srgbClr val="0F1B2E"/>
                </a:solidFill>
                <a:latin typeface="Calibri" pitchFamily="34" charset="0"/>
                <a:ea typeface="Calibri" pitchFamily="34" charset="-122"/>
                <a:cs typeface="Calibri" pitchFamily="34" charset="-120"/>
              </a:rPr>
              <a:t>6</a:t>
            </a:r>
            <a:endParaRPr lang="en-US" sz="2000" dirty="0"/>
          </a:p>
        </p:txBody>
      </p:sp>
      <p:sp>
        <p:nvSpPr>
          <p:cNvPr id="27" name="Text 24"/>
          <p:cNvSpPr txBox="1"/>
          <p:nvPr/>
        </p:nvSpPr>
        <p:spPr>
          <a:xfrm>
            <a:off x="9144000" y="4297680"/>
            <a:ext cx="237744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Modo calmo</a:t>
            </a:r>
            <a:endParaRPr lang="en-US" sz="2000" dirty="0"/>
          </a:p>
        </p:txBody>
      </p:sp>
      <p:sp>
        <p:nvSpPr>
          <p:cNvPr id="28" name="Text 25"/>
          <p:cNvSpPr txBox="1"/>
          <p:nvPr/>
        </p:nvSpPr>
        <p:spPr>
          <a:xfrm>
            <a:off x="8412480" y="4983480"/>
            <a:ext cx="3017520" cy="960120"/>
          </a:xfrm>
          <a:prstGeom prst="rect">
            <a:avLst/>
          </a:prstGeom>
          <a:noFill/>
          <a:ln/>
        </p:spPr>
        <p:txBody>
          <a:bodyPr wrap="square" lIns="0" tIns="0" rIns="0" bIns="0" rtlCol="0" anchor="t"/>
          <a:lstStyle/>
          <a:p>
            <a:pPr indent="0" marL="0">
              <a:buNone/>
            </a:pPr>
            <a:r>
              <a:rPr lang="en-US" sz="1500" dirty="0">
                <a:solidFill>
                  <a:srgbClr val="B8CCE6"/>
                </a:solidFill>
                <a:latin typeface="Calibri" pitchFamily="34" charset="0"/>
                <a:ea typeface="Calibri" pitchFamily="34" charset="-122"/>
                <a:cs typeface="Calibri" pitchFamily="34" charset="-120"/>
              </a:rPr>
              <a:t>Tecla C: sem relógio e sem efeitos.</a:t>
            </a:r>
            <a:endParaRPr lang="en-US" sz="15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CCE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513332" cy="329184"/>
          </a:xfrm>
          <a:prstGeom prst="roundRect">
            <a:avLst>
              <a:gd name="adj" fmla="val 50000"/>
            </a:avLst>
          </a:prstGeom>
          <a:solidFill>
            <a:srgbClr val="2FA36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ATIVIDADE 1</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Jogue e observe, com olhar de especialista (20 min)</a:t>
            </a:r>
            <a:endParaRPr lang="en-US" sz="3400" dirty="0"/>
          </a:p>
        </p:txBody>
      </p:sp>
      <p:sp>
        <p:nvSpPr>
          <p:cNvPr id="5" name="Shape 2"/>
          <p:cNvSpPr/>
          <p:nvPr/>
        </p:nvSpPr>
        <p:spPr>
          <a:xfrm>
            <a:off x="548640" y="1783080"/>
            <a:ext cx="5120640" cy="4434840"/>
          </a:xfrm>
          <a:prstGeom prst="roundRect">
            <a:avLst>
              <a:gd name="adj" fmla="val 329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777240" y="1965960"/>
            <a:ext cx="731520" cy="731520"/>
          </a:xfrm>
          <a:prstGeom prst="ellipse">
            <a:avLst/>
          </a:prstGeom>
          <a:solidFill>
            <a:srgbClr val="2FA36B"/>
          </a:solidFill>
          <a:ln w="12700">
            <a:solidFill>
              <a:srgbClr val="2FA36B"/>
            </a:solidFill>
            <a:prstDash val="solid"/>
          </a:ln>
        </p:spPr>
      </p:sp>
      <p:pic>
        <p:nvPicPr>
          <p:cNvPr id="7" name="Image 0" descr="art/icons/Gamepad_w.png">    </p:cNvPr>
          <p:cNvPicPr>
            <a:picLocks noChangeAspect="1"/>
          </p:cNvPicPr>
          <p:nvPr/>
        </p:nvPicPr>
        <p:blipFill>
          <a:blip r:embed="rId1"/>
          <a:stretch>
            <a:fillRect/>
          </a:stretch>
        </p:blipFill>
        <p:spPr>
          <a:xfrm>
            <a:off x="952805" y="2141525"/>
            <a:ext cx="380390" cy="380390"/>
          </a:xfrm>
          <a:prstGeom prst="rect">
            <a:avLst/>
          </a:prstGeom>
        </p:spPr>
      </p:pic>
      <p:sp>
        <p:nvSpPr>
          <p:cNvPr id="8" name="Text 4"/>
          <p:cNvSpPr txBox="1"/>
          <p:nvPr/>
        </p:nvSpPr>
        <p:spPr>
          <a:xfrm>
            <a:off x="1691640" y="2057400"/>
            <a:ext cx="3657600" cy="50292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Como fazer</a:t>
            </a:r>
            <a:endParaRPr lang="en-US" sz="2200" dirty="0"/>
          </a:p>
        </p:txBody>
      </p:sp>
      <p:sp>
        <p:nvSpPr>
          <p:cNvPr id="9" name="Text 5"/>
          <p:cNvSpPr txBox="1"/>
          <p:nvPr/>
        </p:nvSpPr>
        <p:spPr>
          <a:xfrm>
            <a:off x="822960" y="278892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4213D"/>
                </a:solidFill>
                <a:latin typeface="Calibri" pitchFamily="34" charset="0"/>
                <a:ea typeface="Calibri" pitchFamily="34" charset="-122"/>
                <a:cs typeface="Calibri" pitchFamily="34" charset="-120"/>
              </a:rPr>
              <a:t>Formem duplas (uma pessoa joga, a outra anota).</a:t>
            </a:r>
            <a:endParaRPr lang="en-US" sz="1700" dirty="0"/>
          </a:p>
          <a:p>
            <a:pPr marL="203200" indent="-203200">
              <a:spcAft>
                <a:spcPts val="800"/>
              </a:spcAft>
              <a:buSzPct val="100000"/>
              <a:buChar char="•"/>
            </a:pPr>
            <a:r>
              <a:rPr lang="en-US" sz="1700" dirty="0">
                <a:solidFill>
                  <a:srgbClr val="14213D"/>
                </a:solidFill>
                <a:latin typeface="Calibri" pitchFamily="34" charset="0"/>
                <a:ea typeface="Calibri" pitchFamily="34" charset="-122"/>
                <a:cs typeface="Calibri" pitchFamily="34" charset="-120"/>
              </a:rPr>
              <a:t>Escolham a Fase 1 ou a Fase 2.</a:t>
            </a:r>
            <a:endParaRPr lang="en-US" sz="1700" dirty="0"/>
          </a:p>
          <a:p>
            <a:pPr marL="203200" indent="-203200">
              <a:spcAft>
                <a:spcPts val="800"/>
              </a:spcAft>
              <a:buSzPct val="100000"/>
              <a:buChar char="•"/>
            </a:pPr>
            <a:r>
              <a:rPr lang="en-US" sz="1700" dirty="0">
                <a:solidFill>
                  <a:srgbClr val="14213D"/>
                </a:solidFill>
                <a:latin typeface="Calibri" pitchFamily="34" charset="0"/>
                <a:ea typeface="Calibri" pitchFamily="34" charset="-122"/>
                <a:cs typeface="Calibri" pitchFamily="34" charset="-120"/>
              </a:rPr>
              <a:t>Numa rodada, liguem o modo calmo (tecla C) e comparem.</a:t>
            </a:r>
            <a:endParaRPr lang="en-US" sz="1700" dirty="0"/>
          </a:p>
          <a:p>
            <a:pPr marL="203200" indent="-203200">
              <a:spcAft>
                <a:spcPts val="800"/>
              </a:spcAft>
              <a:buSzPct val="100000"/>
              <a:buChar char="•"/>
            </a:pPr>
            <a:r>
              <a:rPr lang="en-US" sz="1700" dirty="0">
                <a:solidFill>
                  <a:srgbClr val="14213D"/>
                </a:solidFill>
                <a:latin typeface="Calibri" pitchFamily="34" charset="0"/>
                <a:ea typeface="Calibri" pitchFamily="34" charset="-122"/>
                <a:cs typeface="Calibri" pitchFamily="34" charset="-120"/>
              </a:rPr>
              <a:t>Troquem os papéis.</a:t>
            </a:r>
            <a:endParaRPr lang="en-US" sz="1700" dirty="0"/>
          </a:p>
          <a:p>
            <a:pPr marL="203200" indent="-203200">
              <a:spcAft>
                <a:spcPts val="800"/>
              </a:spcAft>
              <a:buSzPct val="100000"/>
              <a:buChar char="•"/>
            </a:pPr>
            <a:r>
              <a:rPr lang="en-US" sz="1700" dirty="0">
                <a:solidFill>
                  <a:srgbClr val="14213D"/>
                </a:solidFill>
                <a:latin typeface="Calibri" pitchFamily="34" charset="0"/>
                <a:ea typeface="Calibri" pitchFamily="34" charset="-122"/>
                <a:cs typeface="Calibri" pitchFamily="34" charset="-120"/>
              </a:rPr>
              <a:t>Anotem na Ficha de observação técnica.</a:t>
            </a:r>
            <a:endParaRPr lang="en-US" sz="1700" dirty="0"/>
          </a:p>
        </p:txBody>
      </p:sp>
      <p:sp>
        <p:nvSpPr>
          <p:cNvPr id="10" name="Shape 6"/>
          <p:cNvSpPr/>
          <p:nvPr/>
        </p:nvSpPr>
        <p:spPr>
          <a:xfrm>
            <a:off x="5943600" y="1783080"/>
            <a:ext cx="5669280" cy="4434840"/>
          </a:xfrm>
          <a:prstGeom prst="roundRect">
            <a:avLst>
              <a:gd name="adj" fmla="val 3299"/>
            </a:avLst>
          </a:prstGeom>
          <a:solidFill>
            <a:srgbClr val="0F1B2E"/>
          </a:solidFill>
          <a:ln w="12700">
            <a:solidFill>
              <a:srgbClr val="0F1B2E"/>
            </a:solidFill>
            <a:prstDash val="solid"/>
          </a:ln>
          <a:effectLst>
            <a:outerShdw sx="100000" sy="100000" kx="0" ky="0" algn="bl" rotWithShape="0" blurRad="101600" dist="25400" dir="5400000">
              <a:srgbClr val="000000">
                <a:alpha val="14000"/>
              </a:srgbClr>
            </a:outerShdw>
          </a:effectLst>
        </p:spPr>
      </p:sp>
      <p:sp>
        <p:nvSpPr>
          <p:cNvPr id="11" name="Text 7"/>
          <p:cNvSpPr txBox="1"/>
          <p:nvPr/>
        </p:nvSpPr>
        <p:spPr>
          <a:xfrm>
            <a:off x="6217920" y="1965960"/>
            <a:ext cx="5120640" cy="502920"/>
          </a:xfrm>
          <a:prstGeom prst="rect">
            <a:avLst/>
          </a:prstGeom>
          <a:noFill/>
          <a:ln/>
        </p:spPr>
        <p:txBody>
          <a:bodyPr wrap="square" lIns="0" tIns="0" rIns="0" bIns="0" rtlCol="0" anchor="t"/>
          <a:lstStyle/>
          <a:p>
            <a:pPr indent="0" marL="0">
              <a:buNone/>
            </a:pPr>
            <a:r>
              <a:rPr lang="en-US" sz="2200" b="1" dirty="0">
                <a:solidFill>
                  <a:srgbClr val="F5C451"/>
                </a:solidFill>
                <a:latin typeface="Calibri" pitchFamily="34" charset="0"/>
                <a:ea typeface="Calibri" pitchFamily="34" charset="-122"/>
                <a:cs typeface="Calibri" pitchFamily="34" charset="-120"/>
              </a:rPr>
              <a:t>O que observar</a:t>
            </a:r>
            <a:endParaRPr lang="en-US" sz="2200" dirty="0"/>
          </a:p>
        </p:txBody>
      </p:sp>
      <p:sp>
        <p:nvSpPr>
          <p:cNvPr id="12" name="Text 8"/>
          <p:cNvSpPr txBox="1"/>
          <p:nvPr/>
        </p:nvSpPr>
        <p:spPr>
          <a:xfrm>
            <a:off x="6263640" y="2606040"/>
            <a:ext cx="5120640" cy="347472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rgbClr val="FFFFFF"/>
                </a:solidFill>
                <a:latin typeface="Calibri" pitchFamily="34" charset="0"/>
                <a:ea typeface="Calibri" pitchFamily="34" charset="-122"/>
                <a:cs typeface="Calibri" pitchFamily="34" charset="-120"/>
              </a:rPr>
              <a:t>Os conceitos e os termos técnicos estão corretos?</a:t>
            </a:r>
            <a:endParaRPr lang="en-US" sz="1700" dirty="0"/>
          </a:p>
          <a:p>
            <a:pPr marL="203200" indent="-203200">
              <a:spcAft>
                <a:spcPts val="900"/>
              </a:spcAft>
              <a:buSzPct val="100000"/>
              <a:buChar char="•"/>
            </a:pPr>
            <a:r>
              <a:rPr lang="en-US" sz="1700" dirty="0">
                <a:solidFill>
                  <a:srgbClr val="FFFFFF"/>
                </a:solidFill>
                <a:latin typeface="Calibri" pitchFamily="34" charset="0"/>
                <a:ea typeface="Calibri" pitchFamily="34" charset="-122"/>
                <a:cs typeface="Calibri" pitchFamily="34" charset="-120"/>
              </a:rPr>
              <a:t>O protocolo coincide com a prática da Defesa Civil?</a:t>
            </a:r>
            <a:endParaRPr lang="en-US" sz="1700" dirty="0"/>
          </a:p>
          <a:p>
            <a:pPr marL="203200" indent="-203200">
              <a:spcAft>
                <a:spcPts val="900"/>
              </a:spcAft>
              <a:buSzPct val="100000"/>
              <a:buChar char="•"/>
            </a:pPr>
            <a:r>
              <a:rPr lang="en-US" sz="1700" dirty="0">
                <a:solidFill>
                  <a:srgbClr val="FFFFFF"/>
                </a:solidFill>
                <a:latin typeface="Calibri" pitchFamily="34" charset="0"/>
                <a:ea typeface="Calibri" pitchFamily="34" charset="-122"/>
                <a:cs typeface="Calibri" pitchFamily="34" charset="-120"/>
              </a:rPr>
              <a:t>As situações e os perigos são realistas?</a:t>
            </a:r>
            <a:endParaRPr lang="en-US" sz="1700" dirty="0"/>
          </a:p>
          <a:p>
            <a:pPr marL="203200" indent="-203200">
              <a:spcAft>
                <a:spcPts val="900"/>
              </a:spcAft>
              <a:buSzPct val="100000"/>
              <a:buChar char="•"/>
            </a:pPr>
            <a:r>
              <a:rPr lang="en-US" sz="1700" dirty="0">
                <a:solidFill>
                  <a:srgbClr val="FFFFFF"/>
                </a:solidFill>
                <a:latin typeface="Calibri" pitchFamily="34" charset="0"/>
                <a:ea typeface="Calibri" pitchFamily="34" charset="-122"/>
                <a:cs typeface="Calibri" pitchFamily="34" charset="-120"/>
              </a:rPr>
              <a:t>A linguagem serve a estudantes do 6º ao 9º ano?</a:t>
            </a:r>
            <a:endParaRPr lang="en-US" sz="1700" dirty="0"/>
          </a:p>
          <a:p>
            <a:pPr marL="203200" indent="-203200">
              <a:spcAft>
                <a:spcPts val="900"/>
              </a:spcAft>
              <a:buSzPct val="100000"/>
              <a:buChar char="•"/>
            </a:pPr>
            <a:r>
              <a:rPr lang="en-US" sz="1700" dirty="0">
                <a:solidFill>
                  <a:srgbClr val="FFFFFF"/>
                </a:solidFill>
                <a:latin typeface="Calibri" pitchFamily="34" charset="0"/>
                <a:ea typeface="Calibri" pitchFamily="34" charset="-122"/>
                <a:cs typeface="Calibri" pitchFamily="34" charset="-120"/>
              </a:rPr>
              <a:t>Há falhas técnicas, barreiras ou o que adaptar ao seu município?</a:t>
            </a:r>
            <a:endParaRPr lang="en-US" sz="17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513332" cy="329184"/>
          </a:xfrm>
          <a:prstGeom prst="roundRect">
            <a:avLst>
              <a:gd name="adj" fmla="val 50000"/>
            </a:avLst>
          </a:prstGeom>
          <a:solidFill>
            <a:srgbClr val="D64545"/>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ATIVIDADE 2</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Como será a avaliação com esta turma</a:t>
            </a:r>
            <a:endParaRPr lang="en-US" sz="3400" dirty="0"/>
          </a:p>
        </p:txBody>
      </p:sp>
      <p:sp>
        <p:nvSpPr>
          <p:cNvPr id="5" name="Shape 2"/>
          <p:cNvSpPr/>
          <p:nvPr/>
        </p:nvSpPr>
        <p:spPr>
          <a:xfrm>
            <a:off x="548640" y="1783080"/>
            <a:ext cx="2103120" cy="3017520"/>
          </a:xfrm>
          <a:prstGeom prst="roundRect">
            <a:avLst>
              <a:gd name="adj" fmla="val 6957"/>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1234440" y="1920240"/>
            <a:ext cx="731520" cy="731520"/>
          </a:xfrm>
          <a:prstGeom prst="ellipse">
            <a:avLst/>
          </a:prstGeom>
          <a:solidFill>
            <a:srgbClr val="2A9FD6"/>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4"/>
          <p:cNvSpPr txBox="1"/>
          <p:nvPr/>
        </p:nvSpPr>
        <p:spPr>
          <a:xfrm>
            <a:off x="640080" y="2788920"/>
            <a:ext cx="1920240" cy="685800"/>
          </a:xfrm>
          <a:prstGeom prst="rect">
            <a:avLst/>
          </a:prstGeom>
          <a:noFill/>
          <a:ln/>
        </p:spPr>
        <p:txBody>
          <a:bodyPr wrap="square" lIns="0" tIns="0" rIns="0" bIns="0" rtlCol="0" anchor="t"/>
          <a:lstStyle/>
          <a:p>
            <a:pPr algn="ctr" indent="0" marL="0">
              <a:buNone/>
            </a:pPr>
            <a:r>
              <a:rPr lang="en-US" sz="1600" b="1" dirty="0">
                <a:solidFill>
                  <a:srgbClr val="14213D"/>
                </a:solidFill>
                <a:latin typeface="Calibri" pitchFamily="34" charset="0"/>
                <a:ea typeface="Calibri" pitchFamily="34" charset="-122"/>
                <a:cs typeface="Calibri" pitchFamily="34" charset="-120"/>
              </a:rPr>
              <a:t>Abertura</a:t>
            </a:r>
            <a:endParaRPr lang="en-US" sz="1600" dirty="0"/>
          </a:p>
        </p:txBody>
      </p:sp>
      <p:sp>
        <p:nvSpPr>
          <p:cNvPr id="8" name="Text 5"/>
          <p:cNvSpPr txBox="1"/>
          <p:nvPr/>
        </p:nvSpPr>
        <p:spPr>
          <a:xfrm>
            <a:off x="685800" y="3474720"/>
            <a:ext cx="1828800" cy="1280160"/>
          </a:xfrm>
          <a:prstGeom prst="rect">
            <a:avLst/>
          </a:prstGeom>
          <a:noFill/>
          <a:ln/>
        </p:spPr>
        <p:txBody>
          <a:bodyPr wrap="square" lIns="0" tIns="0" rIns="0" bIns="0" rtlCol="0" anchor="t"/>
          <a:lstStyle/>
          <a:p>
            <a:pPr algn="ctr" indent="0" marL="0">
              <a:buNone/>
            </a:pPr>
            <a:r>
              <a:rPr lang="en-US" sz="1300" dirty="0">
                <a:solidFill>
                  <a:srgbClr val="4A5A73"/>
                </a:solidFill>
                <a:latin typeface="Calibri" pitchFamily="34" charset="0"/>
                <a:ea typeface="Calibri" pitchFamily="34" charset="-122"/>
                <a:cs typeface="Calibri" pitchFamily="34" charset="-120"/>
              </a:rPr>
              <a:t>Finalidade, consentimento e código; perfil e pré (7 min).</a:t>
            </a:r>
            <a:endParaRPr lang="en-US" sz="1300" dirty="0"/>
          </a:p>
        </p:txBody>
      </p:sp>
      <p:sp>
        <p:nvSpPr>
          <p:cNvPr id="9" name="Shape 6"/>
          <p:cNvSpPr/>
          <p:nvPr/>
        </p:nvSpPr>
        <p:spPr>
          <a:xfrm>
            <a:off x="2788920" y="1783080"/>
            <a:ext cx="2103120" cy="3017520"/>
          </a:xfrm>
          <a:prstGeom prst="roundRect">
            <a:avLst>
              <a:gd name="adj" fmla="val 6957"/>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3474720" y="1920240"/>
            <a:ext cx="731520" cy="731520"/>
          </a:xfrm>
          <a:prstGeom prst="ellipse">
            <a:avLst/>
          </a:prstGeom>
          <a:solidFill>
            <a:srgbClr val="2FA36B"/>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1" name="Text 8"/>
          <p:cNvSpPr txBox="1"/>
          <p:nvPr/>
        </p:nvSpPr>
        <p:spPr>
          <a:xfrm>
            <a:off x="2880360" y="2788920"/>
            <a:ext cx="1920240" cy="685800"/>
          </a:xfrm>
          <a:prstGeom prst="rect">
            <a:avLst/>
          </a:prstGeom>
          <a:noFill/>
          <a:ln/>
        </p:spPr>
        <p:txBody>
          <a:bodyPr wrap="square" lIns="0" tIns="0" rIns="0" bIns="0" rtlCol="0" anchor="t"/>
          <a:lstStyle/>
          <a:p>
            <a:pPr algn="ctr" indent="0" marL="0">
              <a:buNone/>
            </a:pPr>
            <a:r>
              <a:rPr lang="en-US" sz="1600" b="1" dirty="0">
                <a:solidFill>
                  <a:srgbClr val="14213D"/>
                </a:solidFill>
                <a:latin typeface="Calibri" pitchFamily="34" charset="0"/>
                <a:ea typeface="Calibri" pitchFamily="34" charset="-122"/>
                <a:cs typeface="Calibri" pitchFamily="34" charset="-120"/>
              </a:rPr>
              <a:t>Jogo</a:t>
            </a:r>
            <a:endParaRPr lang="en-US" sz="1600" dirty="0"/>
          </a:p>
        </p:txBody>
      </p:sp>
      <p:sp>
        <p:nvSpPr>
          <p:cNvPr id="12" name="Text 9"/>
          <p:cNvSpPr txBox="1"/>
          <p:nvPr/>
        </p:nvSpPr>
        <p:spPr>
          <a:xfrm>
            <a:off x="2926080" y="3474720"/>
            <a:ext cx="1828800" cy="1280160"/>
          </a:xfrm>
          <a:prstGeom prst="rect">
            <a:avLst/>
          </a:prstGeom>
          <a:noFill/>
          <a:ln/>
        </p:spPr>
        <p:txBody>
          <a:bodyPr wrap="square" lIns="0" tIns="0" rIns="0" bIns="0" rtlCol="0" anchor="t"/>
          <a:lstStyle/>
          <a:p>
            <a:pPr algn="ctr" indent="0" marL="0">
              <a:buNone/>
            </a:pPr>
            <a:r>
              <a:rPr lang="en-US" sz="1300" dirty="0">
                <a:solidFill>
                  <a:srgbClr val="4A5A73"/>
                </a:solidFill>
                <a:latin typeface="Calibri" pitchFamily="34" charset="0"/>
                <a:ea typeface="Calibri" pitchFamily="34" charset="-122"/>
                <a:cs typeface="Calibri" pitchFamily="34" charset="-120"/>
              </a:rPr>
              <a:t>Jogam e anotam observações técnicas (20 min).</a:t>
            </a:r>
            <a:endParaRPr lang="en-US" sz="1300" dirty="0"/>
          </a:p>
        </p:txBody>
      </p:sp>
      <p:sp>
        <p:nvSpPr>
          <p:cNvPr id="13" name="Shape 10"/>
          <p:cNvSpPr/>
          <p:nvPr/>
        </p:nvSpPr>
        <p:spPr>
          <a:xfrm>
            <a:off x="5029200" y="1783080"/>
            <a:ext cx="2103120" cy="3017520"/>
          </a:xfrm>
          <a:prstGeom prst="roundRect">
            <a:avLst>
              <a:gd name="adj" fmla="val 6957"/>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5715000" y="1920240"/>
            <a:ext cx="731520" cy="731520"/>
          </a:xfrm>
          <a:prstGeom prst="ellipse">
            <a:avLst/>
          </a:prstGeom>
          <a:solidFill>
            <a:srgbClr val="E57A2E"/>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5" name="Text 12"/>
          <p:cNvSpPr txBox="1"/>
          <p:nvPr/>
        </p:nvSpPr>
        <p:spPr>
          <a:xfrm>
            <a:off x="5120640" y="2788920"/>
            <a:ext cx="1920240" cy="685800"/>
          </a:xfrm>
          <a:prstGeom prst="rect">
            <a:avLst/>
          </a:prstGeom>
          <a:noFill/>
          <a:ln/>
        </p:spPr>
        <p:txBody>
          <a:bodyPr wrap="square" lIns="0" tIns="0" rIns="0" bIns="0" rtlCol="0" anchor="t"/>
          <a:lstStyle/>
          <a:p>
            <a:pPr algn="ctr" indent="0" marL="0">
              <a:buNone/>
            </a:pPr>
            <a:r>
              <a:rPr lang="en-US" sz="1600" b="1" dirty="0">
                <a:solidFill>
                  <a:srgbClr val="14213D"/>
                </a:solidFill>
                <a:latin typeface="Calibri" pitchFamily="34" charset="0"/>
                <a:ea typeface="Calibri" pitchFamily="34" charset="-122"/>
                <a:cs typeface="Calibri" pitchFamily="34" charset="-120"/>
              </a:rPr>
              <a:t>Pós e experiência</a:t>
            </a:r>
            <a:endParaRPr lang="en-US" sz="1600" dirty="0"/>
          </a:p>
        </p:txBody>
      </p:sp>
      <p:sp>
        <p:nvSpPr>
          <p:cNvPr id="16" name="Text 13"/>
          <p:cNvSpPr txBox="1"/>
          <p:nvPr/>
        </p:nvSpPr>
        <p:spPr>
          <a:xfrm>
            <a:off x="5166360" y="3474720"/>
            <a:ext cx="1828800" cy="1280160"/>
          </a:xfrm>
          <a:prstGeom prst="rect">
            <a:avLst/>
          </a:prstGeom>
          <a:noFill/>
          <a:ln/>
        </p:spPr>
        <p:txBody>
          <a:bodyPr wrap="square" lIns="0" tIns="0" rIns="0" bIns="0" rtlCol="0" anchor="t"/>
          <a:lstStyle/>
          <a:p>
            <a:pPr algn="ctr" indent="0" marL="0">
              <a:buNone/>
            </a:pPr>
            <a:r>
              <a:rPr lang="en-US" sz="1300" dirty="0">
                <a:solidFill>
                  <a:srgbClr val="4A5A73"/>
                </a:solidFill>
                <a:latin typeface="Calibri" pitchFamily="34" charset="0"/>
                <a:ea typeface="Calibri" pitchFamily="34" charset="-122"/>
                <a:cs typeface="Calibri" pitchFamily="34" charset="-120"/>
              </a:rPr>
              <a:t>Confiança, experiência, intenção de uso e utilidade (7 min).</a:t>
            </a:r>
            <a:endParaRPr lang="en-US" sz="1300" dirty="0"/>
          </a:p>
        </p:txBody>
      </p:sp>
      <p:sp>
        <p:nvSpPr>
          <p:cNvPr id="17" name="Shape 14"/>
          <p:cNvSpPr/>
          <p:nvPr/>
        </p:nvSpPr>
        <p:spPr>
          <a:xfrm>
            <a:off x="7269480" y="1783080"/>
            <a:ext cx="2103120" cy="3017520"/>
          </a:xfrm>
          <a:prstGeom prst="roundRect">
            <a:avLst>
              <a:gd name="adj" fmla="val 6957"/>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8" name="Text 15"/>
          <p:cNvSpPr txBox="1"/>
          <p:nvPr/>
        </p:nvSpPr>
        <p:spPr>
          <a:xfrm>
            <a:off x="7955280" y="1920240"/>
            <a:ext cx="731520" cy="731520"/>
          </a:xfrm>
          <a:prstGeom prst="ellipse">
            <a:avLst/>
          </a:prstGeom>
          <a:solidFill>
            <a:srgbClr val="D9A21B"/>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9" name="Text 16"/>
          <p:cNvSpPr txBox="1"/>
          <p:nvPr/>
        </p:nvSpPr>
        <p:spPr>
          <a:xfrm>
            <a:off x="7360920" y="2788920"/>
            <a:ext cx="1920240" cy="685800"/>
          </a:xfrm>
          <a:prstGeom prst="rect">
            <a:avLst/>
          </a:prstGeom>
          <a:noFill/>
          <a:ln/>
        </p:spPr>
        <p:txBody>
          <a:bodyPr wrap="square" lIns="0" tIns="0" rIns="0" bIns="0" rtlCol="0" anchor="t"/>
          <a:lstStyle/>
          <a:p>
            <a:pPr algn="ctr" indent="0" marL="0">
              <a:buNone/>
            </a:pPr>
            <a:r>
              <a:rPr lang="en-US" sz="1600" b="1" dirty="0">
                <a:solidFill>
                  <a:srgbClr val="14213D"/>
                </a:solidFill>
                <a:latin typeface="Calibri" pitchFamily="34" charset="0"/>
                <a:ea typeface="Calibri" pitchFamily="34" charset="-122"/>
                <a:cs typeface="Calibri" pitchFamily="34" charset="-120"/>
              </a:rPr>
              <a:t>Validação de conteúdo</a:t>
            </a:r>
            <a:endParaRPr lang="en-US" sz="1600" dirty="0"/>
          </a:p>
        </p:txBody>
      </p:sp>
      <p:sp>
        <p:nvSpPr>
          <p:cNvPr id="20" name="Text 17"/>
          <p:cNvSpPr txBox="1"/>
          <p:nvPr/>
        </p:nvSpPr>
        <p:spPr>
          <a:xfrm>
            <a:off x="7406640" y="3474720"/>
            <a:ext cx="1828800" cy="1280160"/>
          </a:xfrm>
          <a:prstGeom prst="rect">
            <a:avLst/>
          </a:prstGeom>
          <a:noFill/>
          <a:ln/>
        </p:spPr>
        <p:txBody>
          <a:bodyPr wrap="square" lIns="0" tIns="0" rIns="0" bIns="0" rtlCol="0" anchor="t"/>
          <a:lstStyle/>
          <a:p>
            <a:pPr algn="ctr" indent="0" marL="0">
              <a:buNone/>
            </a:pPr>
            <a:r>
              <a:rPr lang="en-US" sz="1300" dirty="0">
                <a:solidFill>
                  <a:srgbClr val="4A5A73"/>
                </a:solidFill>
                <a:latin typeface="Calibri" pitchFamily="34" charset="0"/>
                <a:ea typeface="Calibri" pitchFamily="34" charset="-122"/>
                <a:cs typeface="Calibri" pitchFamily="34" charset="-120"/>
              </a:rPr>
              <a:t>Notas de 1 a 4 em 24 itens (10 min).</a:t>
            </a:r>
            <a:endParaRPr lang="en-US" sz="1300" dirty="0"/>
          </a:p>
        </p:txBody>
      </p:sp>
      <p:sp>
        <p:nvSpPr>
          <p:cNvPr id="21" name="Shape 18"/>
          <p:cNvSpPr/>
          <p:nvPr/>
        </p:nvSpPr>
        <p:spPr>
          <a:xfrm>
            <a:off x="9509760" y="1783080"/>
            <a:ext cx="2103120" cy="3017520"/>
          </a:xfrm>
          <a:prstGeom prst="roundRect">
            <a:avLst>
              <a:gd name="adj" fmla="val 6957"/>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2" name="Text 19"/>
          <p:cNvSpPr txBox="1"/>
          <p:nvPr/>
        </p:nvSpPr>
        <p:spPr>
          <a:xfrm>
            <a:off x="10195560" y="1920240"/>
            <a:ext cx="731520" cy="731520"/>
          </a:xfrm>
          <a:prstGeom prst="ellipse">
            <a:avLst/>
          </a:prstGeom>
          <a:solidFill>
            <a:srgbClr val="D64545"/>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3" name="Text 20"/>
          <p:cNvSpPr txBox="1"/>
          <p:nvPr/>
        </p:nvSpPr>
        <p:spPr>
          <a:xfrm>
            <a:off x="9601200" y="2788920"/>
            <a:ext cx="1920240" cy="685800"/>
          </a:xfrm>
          <a:prstGeom prst="rect">
            <a:avLst/>
          </a:prstGeom>
          <a:noFill/>
          <a:ln/>
        </p:spPr>
        <p:txBody>
          <a:bodyPr wrap="square" lIns="0" tIns="0" rIns="0" bIns="0" rtlCol="0" anchor="t"/>
          <a:lstStyle/>
          <a:p>
            <a:pPr algn="ctr" indent="0" marL="0">
              <a:buNone/>
            </a:pPr>
            <a:r>
              <a:rPr lang="en-US" sz="1600" b="1" dirty="0">
                <a:solidFill>
                  <a:srgbClr val="14213D"/>
                </a:solidFill>
                <a:latin typeface="Calibri" pitchFamily="34" charset="0"/>
                <a:ea typeface="Calibri" pitchFamily="34" charset="-122"/>
                <a:cs typeface="Calibri" pitchFamily="34" charset="-120"/>
              </a:rPr>
              <a:t>Roda de conversa</a:t>
            </a:r>
            <a:endParaRPr lang="en-US" sz="1600" dirty="0"/>
          </a:p>
        </p:txBody>
      </p:sp>
      <p:sp>
        <p:nvSpPr>
          <p:cNvPr id="24" name="Text 21"/>
          <p:cNvSpPr txBox="1"/>
          <p:nvPr/>
        </p:nvSpPr>
        <p:spPr>
          <a:xfrm>
            <a:off x="9646920" y="3474720"/>
            <a:ext cx="1828800" cy="1280160"/>
          </a:xfrm>
          <a:prstGeom prst="rect">
            <a:avLst/>
          </a:prstGeom>
          <a:noFill/>
          <a:ln/>
        </p:spPr>
        <p:txBody>
          <a:bodyPr wrap="square" lIns="0" tIns="0" rIns="0" bIns="0" rtlCol="0" anchor="t"/>
          <a:lstStyle/>
          <a:p>
            <a:pPr algn="ctr" indent="0" marL="0">
              <a:buNone/>
            </a:pPr>
            <a:r>
              <a:rPr lang="en-US" sz="1300" dirty="0">
                <a:solidFill>
                  <a:srgbClr val="4A5A73"/>
                </a:solidFill>
                <a:latin typeface="Calibri" pitchFamily="34" charset="0"/>
                <a:ea typeface="Calibri" pitchFamily="34" charset="-122"/>
                <a:cs typeface="Calibri" pitchFamily="34" charset="-120"/>
              </a:rPr>
              <a:t>Devolutiva coletiva e ideias de parceria (8 min).</a:t>
            </a:r>
            <a:endParaRPr lang="en-US" sz="1300" dirty="0"/>
          </a:p>
        </p:txBody>
      </p:sp>
      <p:sp>
        <p:nvSpPr>
          <p:cNvPr id="25" name="Shape 22"/>
          <p:cNvSpPr/>
          <p:nvPr/>
        </p:nvSpPr>
        <p:spPr>
          <a:xfrm>
            <a:off x="548640" y="5029200"/>
            <a:ext cx="11064240" cy="1188720"/>
          </a:xfrm>
          <a:prstGeom prst="roundRect">
            <a:avLst>
              <a:gd name="adj" fmla="val 12308"/>
            </a:avLst>
          </a:prstGeom>
          <a:solidFill>
            <a:srgbClr val="BFE3F6"/>
          </a:solidFill>
          <a:ln w="12700">
            <a:solidFill>
              <a:srgbClr val="BFE3F6"/>
            </a:solidFill>
            <a:prstDash val="solid"/>
          </a:ln>
        </p:spPr>
      </p:sp>
      <p:sp>
        <p:nvSpPr>
          <p:cNvPr id="26" name="Text 23"/>
          <p:cNvSpPr txBox="1"/>
          <p:nvPr/>
        </p:nvSpPr>
        <p:spPr>
          <a:xfrm>
            <a:off x="822960" y="5029200"/>
            <a:ext cx="10515600" cy="118872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Participação voluntária e anônima (códigos, sem nomes). O jogo não coleta dados pessoais. Dados usados em pesquisa dependem de consentimento e aprovação do Comitê de Ética; caso contrário, servem apenas para aperfeiçoar o jogo.</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E"/>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VALIDAÇÃO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Validação de conteúdo: o que vamos pedir a vocês</a:t>
            </a:r>
            <a:endParaRPr lang="en-US" sz="3400" dirty="0"/>
          </a:p>
        </p:txBody>
      </p:sp>
      <p:sp>
        <p:nvSpPr>
          <p:cNvPr id="5" name="Shape 2"/>
          <p:cNvSpPr/>
          <p:nvPr/>
        </p:nvSpPr>
        <p:spPr>
          <a:xfrm>
            <a:off x="548640" y="1783080"/>
            <a:ext cx="3520440" cy="1554480"/>
          </a:xfrm>
          <a:prstGeom prst="roundRect">
            <a:avLst>
              <a:gd name="adj" fmla="val 9412"/>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731520" y="1965960"/>
            <a:ext cx="548640" cy="548640"/>
          </a:xfrm>
          <a:prstGeom prst="ellipse">
            <a:avLst/>
          </a:prstGeom>
          <a:solidFill>
            <a:srgbClr val="F5C451"/>
          </a:solidFill>
          <a:ln/>
        </p:spPr>
        <p:txBody>
          <a:bodyPr wrap="square" lIns="0" tIns="0" rIns="0" bIns="0" rtlCol="0" anchor="ctr"/>
          <a:lstStyle/>
          <a:p>
            <a:pPr algn="ctr" indent="0" marL="0">
              <a:buNone/>
            </a:pPr>
            <a:r>
              <a:rPr lang="en-US" sz="1800" b="1" dirty="0">
                <a:solidFill>
                  <a:srgbClr val="0F1B2E"/>
                </a:solidFill>
                <a:latin typeface="Calibri" pitchFamily="34" charset="0"/>
                <a:ea typeface="Calibri" pitchFamily="34" charset="-122"/>
                <a:cs typeface="Calibri" pitchFamily="34" charset="-120"/>
              </a:rPr>
              <a:t>A</a:t>
            </a:r>
            <a:endParaRPr lang="en-US" sz="1800" dirty="0"/>
          </a:p>
        </p:txBody>
      </p:sp>
      <p:sp>
        <p:nvSpPr>
          <p:cNvPr id="7" name="Text 4"/>
          <p:cNvSpPr txBox="1"/>
          <p:nvPr/>
        </p:nvSpPr>
        <p:spPr>
          <a:xfrm>
            <a:off x="1417320" y="1892808"/>
            <a:ext cx="256032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Precisão técnica dos conceitos</a:t>
            </a:r>
            <a:endParaRPr lang="en-US" sz="1500" dirty="0"/>
          </a:p>
        </p:txBody>
      </p:sp>
      <p:sp>
        <p:nvSpPr>
          <p:cNvPr id="8" name="Text 5"/>
          <p:cNvSpPr txBox="1"/>
          <p:nvPr/>
        </p:nvSpPr>
        <p:spPr>
          <a:xfrm>
            <a:off x="777240" y="2651760"/>
            <a:ext cx="3108960" cy="640080"/>
          </a:xfrm>
          <a:prstGeom prst="rect">
            <a:avLst/>
          </a:prstGeom>
          <a:noFill/>
          <a:ln/>
        </p:spPr>
        <p:txBody>
          <a:bodyPr wrap="square" lIns="0" tIns="0" rIns="0" bIns="0" rtlCol="0" anchor="t"/>
          <a:lstStyle/>
          <a:p>
            <a:pPr indent="0" marL="0">
              <a:buNone/>
            </a:pPr>
            <a:r>
              <a:rPr lang="en-US" sz="1200" dirty="0">
                <a:solidFill>
                  <a:srgbClr val="B8CCE6"/>
                </a:solidFill>
                <a:latin typeface="Calibri" pitchFamily="34" charset="0"/>
                <a:ea typeface="Calibri" pitchFamily="34" charset="-122"/>
                <a:cs typeface="Calibri" pitchFamily="34" charset="-120"/>
              </a:rPr>
              <a:t>Fenômenos, escoamento, microdrenagem, termos e sinais de alerta.</a:t>
            </a:r>
            <a:endParaRPr lang="en-US" sz="1200" dirty="0"/>
          </a:p>
        </p:txBody>
      </p:sp>
      <p:sp>
        <p:nvSpPr>
          <p:cNvPr id="9" name="Shape 6"/>
          <p:cNvSpPr/>
          <p:nvPr/>
        </p:nvSpPr>
        <p:spPr>
          <a:xfrm>
            <a:off x="4343400" y="1783080"/>
            <a:ext cx="3520440" cy="1554480"/>
          </a:xfrm>
          <a:prstGeom prst="roundRect">
            <a:avLst>
              <a:gd name="adj" fmla="val 9412"/>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4526280" y="1965960"/>
            <a:ext cx="548640" cy="548640"/>
          </a:xfrm>
          <a:prstGeom prst="ellipse">
            <a:avLst/>
          </a:prstGeom>
          <a:solidFill>
            <a:srgbClr val="F5C451"/>
          </a:solidFill>
          <a:ln/>
        </p:spPr>
        <p:txBody>
          <a:bodyPr wrap="square" lIns="0" tIns="0" rIns="0" bIns="0" rtlCol="0" anchor="ctr"/>
          <a:lstStyle/>
          <a:p>
            <a:pPr algn="ctr" indent="0" marL="0">
              <a:buNone/>
            </a:pPr>
            <a:r>
              <a:rPr lang="en-US" sz="1800" b="1" dirty="0">
                <a:solidFill>
                  <a:srgbClr val="0F1B2E"/>
                </a:solidFill>
                <a:latin typeface="Calibri" pitchFamily="34" charset="0"/>
                <a:ea typeface="Calibri" pitchFamily="34" charset="-122"/>
                <a:cs typeface="Calibri" pitchFamily="34" charset="-120"/>
              </a:rPr>
              <a:t>B</a:t>
            </a:r>
            <a:endParaRPr lang="en-US" sz="1800" dirty="0"/>
          </a:p>
        </p:txBody>
      </p:sp>
      <p:sp>
        <p:nvSpPr>
          <p:cNvPr id="11" name="Text 8"/>
          <p:cNvSpPr txBox="1"/>
          <p:nvPr/>
        </p:nvSpPr>
        <p:spPr>
          <a:xfrm>
            <a:off x="5212080" y="1892808"/>
            <a:ext cx="256032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Protocolo de autoproteção</a:t>
            </a:r>
            <a:endParaRPr lang="en-US" sz="1500" dirty="0"/>
          </a:p>
        </p:txBody>
      </p:sp>
      <p:sp>
        <p:nvSpPr>
          <p:cNvPr id="12" name="Text 9"/>
          <p:cNvSpPr txBox="1"/>
          <p:nvPr/>
        </p:nvSpPr>
        <p:spPr>
          <a:xfrm>
            <a:off x="4572000" y="2651760"/>
            <a:ext cx="3108960" cy="640080"/>
          </a:xfrm>
          <a:prstGeom prst="rect">
            <a:avLst/>
          </a:prstGeom>
          <a:noFill/>
          <a:ln/>
        </p:spPr>
        <p:txBody>
          <a:bodyPr wrap="square" lIns="0" tIns="0" rIns="0" bIns="0" rtlCol="0" anchor="t"/>
          <a:lstStyle/>
          <a:p>
            <a:pPr indent="0" marL="0">
              <a:buNone/>
            </a:pPr>
            <a:r>
              <a:rPr lang="en-US" sz="1200" dirty="0">
                <a:solidFill>
                  <a:srgbClr val="B8CCE6"/>
                </a:solidFill>
                <a:latin typeface="Calibri" pitchFamily="34" charset="0"/>
                <a:ea typeface="Calibri" pitchFamily="34" charset="-122"/>
                <a:cs typeface="Calibri" pitchFamily="34" charset="-120"/>
              </a:rPr>
              <a:t>Ordem, energia elétrica, evacuação, mochila e telefones.</a:t>
            </a:r>
            <a:endParaRPr lang="en-US" sz="1200" dirty="0"/>
          </a:p>
        </p:txBody>
      </p:sp>
      <p:sp>
        <p:nvSpPr>
          <p:cNvPr id="13" name="Shape 10"/>
          <p:cNvSpPr/>
          <p:nvPr/>
        </p:nvSpPr>
        <p:spPr>
          <a:xfrm>
            <a:off x="8138160" y="1783080"/>
            <a:ext cx="3520440" cy="1554480"/>
          </a:xfrm>
          <a:prstGeom prst="roundRect">
            <a:avLst>
              <a:gd name="adj" fmla="val 9412"/>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8321040" y="1965960"/>
            <a:ext cx="548640" cy="548640"/>
          </a:xfrm>
          <a:prstGeom prst="ellipse">
            <a:avLst/>
          </a:prstGeom>
          <a:solidFill>
            <a:srgbClr val="F5C451"/>
          </a:solidFill>
          <a:ln/>
        </p:spPr>
        <p:txBody>
          <a:bodyPr wrap="square" lIns="0" tIns="0" rIns="0" bIns="0" rtlCol="0" anchor="ctr"/>
          <a:lstStyle/>
          <a:p>
            <a:pPr algn="ctr" indent="0" marL="0">
              <a:buNone/>
            </a:pPr>
            <a:r>
              <a:rPr lang="en-US" sz="1800" b="1" dirty="0">
                <a:solidFill>
                  <a:srgbClr val="0F1B2E"/>
                </a:solidFill>
                <a:latin typeface="Calibri" pitchFamily="34" charset="0"/>
                <a:ea typeface="Calibri" pitchFamily="34" charset="-122"/>
                <a:cs typeface="Calibri" pitchFamily="34" charset="-120"/>
              </a:rPr>
              <a:t>C</a:t>
            </a:r>
            <a:endParaRPr lang="en-US" sz="1800" dirty="0"/>
          </a:p>
        </p:txBody>
      </p:sp>
      <p:sp>
        <p:nvSpPr>
          <p:cNvPr id="15" name="Text 12"/>
          <p:cNvSpPr txBox="1"/>
          <p:nvPr/>
        </p:nvSpPr>
        <p:spPr>
          <a:xfrm>
            <a:off x="9006840" y="1892808"/>
            <a:ext cx="256032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Cenários do jogo</a:t>
            </a:r>
            <a:endParaRPr lang="en-US" sz="1500" dirty="0"/>
          </a:p>
        </p:txBody>
      </p:sp>
      <p:sp>
        <p:nvSpPr>
          <p:cNvPr id="16" name="Text 13"/>
          <p:cNvSpPr txBox="1"/>
          <p:nvPr/>
        </p:nvSpPr>
        <p:spPr>
          <a:xfrm>
            <a:off x="8366760" y="2651760"/>
            <a:ext cx="3108960" cy="640080"/>
          </a:xfrm>
          <a:prstGeom prst="rect">
            <a:avLst/>
          </a:prstGeom>
          <a:noFill/>
          <a:ln/>
        </p:spPr>
        <p:txBody>
          <a:bodyPr wrap="square" lIns="0" tIns="0" rIns="0" bIns="0" rtlCol="0" anchor="t"/>
          <a:lstStyle/>
          <a:p>
            <a:pPr indent="0" marL="0">
              <a:buNone/>
            </a:pPr>
            <a:r>
              <a:rPr lang="en-US" sz="1200" dirty="0">
                <a:solidFill>
                  <a:srgbClr val="B8CCE6"/>
                </a:solidFill>
                <a:latin typeface="Calibri" pitchFamily="34" charset="0"/>
                <a:ea typeface="Calibri" pitchFamily="34" charset="-122"/>
                <a:cs typeface="Calibri" pitchFamily="34" charset="-120"/>
              </a:rPr>
              <a:t>Realismo das quatro fases e dos perigos físicos.</a:t>
            </a:r>
            <a:endParaRPr lang="en-US" sz="1200" dirty="0"/>
          </a:p>
        </p:txBody>
      </p:sp>
      <p:sp>
        <p:nvSpPr>
          <p:cNvPr id="17" name="Shape 14"/>
          <p:cNvSpPr/>
          <p:nvPr/>
        </p:nvSpPr>
        <p:spPr>
          <a:xfrm>
            <a:off x="548640" y="3474720"/>
            <a:ext cx="3520440" cy="1554480"/>
          </a:xfrm>
          <a:prstGeom prst="roundRect">
            <a:avLst>
              <a:gd name="adj" fmla="val 9412"/>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18" name="Text 15"/>
          <p:cNvSpPr txBox="1"/>
          <p:nvPr/>
        </p:nvSpPr>
        <p:spPr>
          <a:xfrm>
            <a:off x="731520" y="3657600"/>
            <a:ext cx="548640" cy="548640"/>
          </a:xfrm>
          <a:prstGeom prst="ellipse">
            <a:avLst/>
          </a:prstGeom>
          <a:solidFill>
            <a:srgbClr val="F5C451"/>
          </a:solidFill>
          <a:ln/>
        </p:spPr>
        <p:txBody>
          <a:bodyPr wrap="square" lIns="0" tIns="0" rIns="0" bIns="0" rtlCol="0" anchor="ctr"/>
          <a:lstStyle/>
          <a:p>
            <a:pPr algn="ctr" indent="0" marL="0">
              <a:buNone/>
            </a:pPr>
            <a:r>
              <a:rPr lang="en-US" sz="1800" b="1" dirty="0">
                <a:solidFill>
                  <a:srgbClr val="0F1B2E"/>
                </a:solidFill>
                <a:latin typeface="Calibri" pitchFamily="34" charset="0"/>
                <a:ea typeface="Calibri" pitchFamily="34" charset="-122"/>
                <a:cs typeface="Calibri" pitchFamily="34" charset="-120"/>
              </a:rPr>
              <a:t>D</a:t>
            </a:r>
            <a:endParaRPr lang="en-US" sz="1800" dirty="0"/>
          </a:p>
        </p:txBody>
      </p:sp>
      <p:sp>
        <p:nvSpPr>
          <p:cNvPr id="19" name="Text 16"/>
          <p:cNvSpPr txBox="1"/>
          <p:nvPr/>
        </p:nvSpPr>
        <p:spPr>
          <a:xfrm>
            <a:off x="1417320" y="3584448"/>
            <a:ext cx="256032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Linguagem e mensagens</a:t>
            </a:r>
            <a:endParaRPr lang="en-US" sz="1500" dirty="0"/>
          </a:p>
        </p:txBody>
      </p:sp>
      <p:sp>
        <p:nvSpPr>
          <p:cNvPr id="20" name="Text 17"/>
          <p:cNvSpPr txBox="1"/>
          <p:nvPr/>
        </p:nvSpPr>
        <p:spPr>
          <a:xfrm>
            <a:off x="777240" y="4343400"/>
            <a:ext cx="3108960" cy="640080"/>
          </a:xfrm>
          <a:prstGeom prst="rect">
            <a:avLst/>
          </a:prstGeom>
          <a:noFill/>
          <a:ln/>
        </p:spPr>
        <p:txBody>
          <a:bodyPr wrap="square" lIns="0" tIns="0" rIns="0" bIns="0" rtlCol="0" anchor="t"/>
          <a:lstStyle/>
          <a:p>
            <a:pPr indent="0" marL="0">
              <a:buNone/>
            </a:pPr>
            <a:r>
              <a:rPr lang="en-US" sz="1200" dirty="0">
                <a:solidFill>
                  <a:srgbClr val="B8CCE6"/>
                </a:solidFill>
                <a:latin typeface="Calibri" pitchFamily="34" charset="0"/>
                <a:ea typeface="Calibri" pitchFamily="34" charset="-122"/>
                <a:cs typeface="Calibri" pitchFamily="34" charset="-120"/>
              </a:rPr>
              <a:t>Clareza, mito ou verdade, mensagens de erro, quiz e glossário.</a:t>
            </a:r>
            <a:endParaRPr lang="en-US" sz="1200" dirty="0"/>
          </a:p>
        </p:txBody>
      </p:sp>
      <p:sp>
        <p:nvSpPr>
          <p:cNvPr id="21" name="Shape 18"/>
          <p:cNvSpPr/>
          <p:nvPr/>
        </p:nvSpPr>
        <p:spPr>
          <a:xfrm>
            <a:off x="4343400" y="3474720"/>
            <a:ext cx="3520440" cy="1554480"/>
          </a:xfrm>
          <a:prstGeom prst="roundRect">
            <a:avLst>
              <a:gd name="adj" fmla="val 9412"/>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22" name="Text 19"/>
          <p:cNvSpPr txBox="1"/>
          <p:nvPr/>
        </p:nvSpPr>
        <p:spPr>
          <a:xfrm>
            <a:off x="4526280" y="3657600"/>
            <a:ext cx="548640" cy="548640"/>
          </a:xfrm>
          <a:prstGeom prst="ellipse">
            <a:avLst/>
          </a:prstGeom>
          <a:solidFill>
            <a:srgbClr val="F5C451"/>
          </a:solidFill>
          <a:ln/>
        </p:spPr>
        <p:txBody>
          <a:bodyPr wrap="square" lIns="0" tIns="0" rIns="0" bIns="0" rtlCol="0" anchor="ctr"/>
          <a:lstStyle/>
          <a:p>
            <a:pPr algn="ctr" indent="0" marL="0">
              <a:buNone/>
            </a:pPr>
            <a:r>
              <a:rPr lang="en-US" sz="1800" b="1" dirty="0">
                <a:solidFill>
                  <a:srgbClr val="0F1B2E"/>
                </a:solidFill>
                <a:latin typeface="Calibri" pitchFamily="34" charset="0"/>
                <a:ea typeface="Calibri" pitchFamily="34" charset="-122"/>
                <a:cs typeface="Calibri" pitchFamily="34" charset="-120"/>
              </a:rPr>
              <a:t>E</a:t>
            </a:r>
            <a:endParaRPr lang="en-US" sz="1800" dirty="0"/>
          </a:p>
        </p:txBody>
      </p:sp>
      <p:sp>
        <p:nvSpPr>
          <p:cNvPr id="23" name="Text 20"/>
          <p:cNvSpPr txBox="1"/>
          <p:nvPr/>
        </p:nvSpPr>
        <p:spPr>
          <a:xfrm>
            <a:off x="5212080" y="3584448"/>
            <a:ext cx="256032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Adequação pedagógica</a:t>
            </a:r>
            <a:endParaRPr lang="en-US" sz="1500" dirty="0"/>
          </a:p>
        </p:txBody>
      </p:sp>
      <p:sp>
        <p:nvSpPr>
          <p:cNvPr id="24" name="Text 21"/>
          <p:cNvSpPr txBox="1"/>
          <p:nvPr/>
        </p:nvSpPr>
        <p:spPr>
          <a:xfrm>
            <a:off x="4572000" y="4343400"/>
            <a:ext cx="3108960" cy="640080"/>
          </a:xfrm>
          <a:prstGeom prst="rect">
            <a:avLst/>
          </a:prstGeom>
          <a:noFill/>
          <a:ln/>
        </p:spPr>
        <p:txBody>
          <a:bodyPr wrap="square" lIns="0" tIns="0" rIns="0" bIns="0" rtlCol="0" anchor="t"/>
          <a:lstStyle/>
          <a:p>
            <a:pPr indent="0" marL="0">
              <a:buNone/>
            </a:pPr>
            <a:r>
              <a:rPr lang="en-US" sz="1200" dirty="0">
                <a:solidFill>
                  <a:srgbClr val="B8CCE6"/>
                </a:solidFill>
                <a:latin typeface="Calibri" pitchFamily="34" charset="0"/>
                <a:ea typeface="Calibri" pitchFamily="34" charset="-122"/>
                <a:cs typeface="Calibri" pitchFamily="34" charset="-120"/>
              </a:rPr>
              <a:t>Objetivos, pressão de tempo e integração com ações educativas.</a:t>
            </a:r>
            <a:endParaRPr lang="en-US" sz="1200" dirty="0"/>
          </a:p>
        </p:txBody>
      </p:sp>
      <p:sp>
        <p:nvSpPr>
          <p:cNvPr id="25" name="Shape 22"/>
          <p:cNvSpPr/>
          <p:nvPr/>
        </p:nvSpPr>
        <p:spPr>
          <a:xfrm>
            <a:off x="8138160" y="3474720"/>
            <a:ext cx="3520440" cy="1554480"/>
          </a:xfrm>
          <a:prstGeom prst="roundRect">
            <a:avLst>
              <a:gd name="adj" fmla="val 9412"/>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26" name="Text 23"/>
          <p:cNvSpPr txBox="1"/>
          <p:nvPr/>
        </p:nvSpPr>
        <p:spPr>
          <a:xfrm>
            <a:off x="8321040" y="3657600"/>
            <a:ext cx="548640" cy="548640"/>
          </a:xfrm>
          <a:prstGeom prst="ellipse">
            <a:avLst/>
          </a:prstGeom>
          <a:solidFill>
            <a:srgbClr val="F5C451"/>
          </a:solidFill>
          <a:ln/>
        </p:spPr>
        <p:txBody>
          <a:bodyPr wrap="square" lIns="0" tIns="0" rIns="0" bIns="0" rtlCol="0" anchor="ctr"/>
          <a:lstStyle/>
          <a:p>
            <a:pPr algn="ctr" indent="0" marL="0">
              <a:buNone/>
            </a:pPr>
            <a:r>
              <a:rPr lang="en-US" sz="1800" b="1" dirty="0">
                <a:solidFill>
                  <a:srgbClr val="0F1B2E"/>
                </a:solidFill>
                <a:latin typeface="Calibri" pitchFamily="34" charset="0"/>
                <a:ea typeface="Calibri" pitchFamily="34" charset="-122"/>
                <a:cs typeface="Calibri" pitchFamily="34" charset="-120"/>
              </a:rPr>
              <a:t>F</a:t>
            </a:r>
            <a:endParaRPr lang="en-US" sz="1800" dirty="0"/>
          </a:p>
        </p:txBody>
      </p:sp>
      <p:sp>
        <p:nvSpPr>
          <p:cNvPr id="27" name="Text 24"/>
          <p:cNvSpPr txBox="1"/>
          <p:nvPr/>
        </p:nvSpPr>
        <p:spPr>
          <a:xfrm>
            <a:off x="9006840" y="3584448"/>
            <a:ext cx="256032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Aplicabilidade e inclusão</a:t>
            </a:r>
            <a:endParaRPr lang="en-US" sz="1500" dirty="0"/>
          </a:p>
        </p:txBody>
      </p:sp>
      <p:sp>
        <p:nvSpPr>
          <p:cNvPr id="28" name="Text 25"/>
          <p:cNvSpPr txBox="1"/>
          <p:nvPr/>
        </p:nvSpPr>
        <p:spPr>
          <a:xfrm>
            <a:off x="8366760" y="4343400"/>
            <a:ext cx="3108960" cy="640080"/>
          </a:xfrm>
          <a:prstGeom prst="rect">
            <a:avLst/>
          </a:prstGeom>
          <a:noFill/>
          <a:ln/>
        </p:spPr>
        <p:txBody>
          <a:bodyPr wrap="square" lIns="0" tIns="0" rIns="0" bIns="0" rtlCol="0" anchor="t"/>
          <a:lstStyle/>
          <a:p>
            <a:pPr indent="0" marL="0">
              <a:buNone/>
            </a:pPr>
            <a:r>
              <a:rPr lang="en-US" sz="1200" dirty="0">
                <a:solidFill>
                  <a:srgbClr val="B8CCE6"/>
                </a:solidFill>
                <a:latin typeface="Calibri" pitchFamily="34" charset="0"/>
                <a:ea typeface="Calibri" pitchFamily="34" charset="-122"/>
                <a:cs typeface="Calibri" pitchFamily="34" charset="-120"/>
              </a:rPr>
              <a:t>Viabilidade em escolas públicas, poucos aparelhos e acessibilidade.</a:t>
            </a:r>
            <a:endParaRPr lang="en-US" sz="1200" dirty="0"/>
          </a:p>
        </p:txBody>
      </p:sp>
      <p:sp>
        <p:nvSpPr>
          <p:cNvPr id="29" name="Shape 26"/>
          <p:cNvSpPr/>
          <p:nvPr/>
        </p:nvSpPr>
        <p:spPr>
          <a:xfrm>
            <a:off x="548640" y="5257800"/>
            <a:ext cx="11064240" cy="960120"/>
          </a:xfrm>
          <a:prstGeom prst="roundRect">
            <a:avLst>
              <a:gd name="adj" fmla="val 15238"/>
            </a:avLst>
          </a:prstGeom>
          <a:solidFill>
            <a:srgbClr val="F5C451"/>
          </a:solidFill>
          <a:ln w="12700">
            <a:solidFill>
              <a:srgbClr val="F5C451"/>
            </a:solidFill>
            <a:prstDash val="solid"/>
          </a:ln>
        </p:spPr>
      </p:sp>
      <p:sp>
        <p:nvSpPr>
          <p:cNvPr id="30" name="Text 27"/>
          <p:cNvSpPr txBox="1"/>
          <p:nvPr/>
        </p:nvSpPr>
        <p:spPr>
          <a:xfrm>
            <a:off x="822960" y="5257800"/>
            <a:ext cx="10515600" cy="960120"/>
          </a:xfrm>
          <a:prstGeom prst="rect">
            <a:avLst/>
          </a:prstGeom>
          <a:noFill/>
          <a:ln/>
        </p:spPr>
        <p:txBody>
          <a:bodyPr wrap="square" lIns="0" tIns="0" rIns="0" bIns="0" rtlCol="0" anchor="ctr"/>
          <a:lstStyle/>
          <a:p>
            <a:pPr algn="ctr" indent="0" marL="0">
              <a:buNone/>
            </a:pPr>
            <a:r>
              <a:rPr lang="en-US" sz="1600" b="1" dirty="0">
                <a:solidFill>
                  <a:srgbClr val="0F1B2E"/>
                </a:solidFill>
                <a:latin typeface="Calibri" pitchFamily="34" charset="0"/>
                <a:ea typeface="Calibri" pitchFamily="34" charset="-122"/>
                <a:cs typeface="Calibri" pitchFamily="34" charset="-120"/>
              </a:rPr>
              <a:t>Nota de 1 a 4:  1 inadequado   |   2 revisão importante   |   3 adequado com pequenos ajustes   |   4 totalmente adequado</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CCE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705356" cy="329184"/>
          </a:xfrm>
          <a:prstGeom prst="roundRect">
            <a:avLst>
              <a:gd name="adj" fmla="val 50000"/>
            </a:avLst>
          </a:prstGeom>
          <a:solidFill>
            <a:srgbClr val="D9A21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FORMAS DE USO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O papel da Defesa Civil e da pesquisa junto às escolas</a:t>
            </a:r>
            <a:endParaRPr lang="en-US" sz="3400" dirty="0"/>
          </a:p>
        </p:txBody>
      </p:sp>
      <p:sp>
        <p:nvSpPr>
          <p:cNvPr id="5" name="Shape 2"/>
          <p:cNvSpPr/>
          <p:nvPr/>
        </p:nvSpPr>
        <p:spPr>
          <a:xfrm>
            <a:off x="548640" y="1783080"/>
            <a:ext cx="544068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822960" y="2057400"/>
            <a:ext cx="822960" cy="822960"/>
          </a:xfrm>
          <a:prstGeom prst="ellipse">
            <a:avLst/>
          </a:prstGeom>
          <a:solidFill>
            <a:srgbClr val="2A9FD6"/>
          </a:solidFill>
          <a:ln w="12700">
            <a:solidFill>
              <a:srgbClr val="2A9FD6"/>
            </a:solidFill>
            <a:prstDash val="solid"/>
          </a:ln>
        </p:spPr>
      </p:sp>
      <p:pic>
        <p:nvPicPr>
          <p:cNvPr id="7" name="Image 0" descr="art/icons/School_w.png">    </p:cNvPr>
          <p:cNvPicPr>
            <a:picLocks noChangeAspect="1"/>
          </p:cNvPicPr>
          <p:nvPr/>
        </p:nvPicPr>
        <p:blipFill>
          <a:blip r:embed="rId1"/>
          <a:stretch>
            <a:fillRect/>
          </a:stretch>
        </p:blipFill>
        <p:spPr>
          <a:xfrm>
            <a:off x="1020470" y="2254910"/>
            <a:ext cx="427939" cy="427939"/>
          </a:xfrm>
          <a:prstGeom prst="rect">
            <a:avLst/>
          </a:prstGeom>
        </p:spPr>
      </p:pic>
      <p:sp>
        <p:nvSpPr>
          <p:cNvPr id="8" name="Text 4"/>
          <p:cNvSpPr txBox="1"/>
          <p:nvPr/>
        </p:nvSpPr>
        <p:spPr>
          <a:xfrm>
            <a:off x="1920240" y="2011680"/>
            <a:ext cx="3931920" cy="73152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Formação</a:t>
            </a:r>
            <a:endParaRPr lang="en-US" sz="2000" dirty="0"/>
          </a:p>
        </p:txBody>
      </p:sp>
      <p:sp>
        <p:nvSpPr>
          <p:cNvPr id="9" name="Text 5"/>
          <p:cNvSpPr txBox="1"/>
          <p:nvPr/>
        </p:nvSpPr>
        <p:spPr>
          <a:xfrm>
            <a:off x="868680" y="2971800"/>
            <a:ext cx="4846320" cy="8229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Capacitar professores e equipes escolares com o jogo e o material.</a:t>
            </a:r>
            <a:endParaRPr lang="en-US" sz="1600" dirty="0"/>
          </a:p>
        </p:txBody>
      </p:sp>
      <p:sp>
        <p:nvSpPr>
          <p:cNvPr id="10" name="Shape 6"/>
          <p:cNvSpPr/>
          <p:nvPr/>
        </p:nvSpPr>
        <p:spPr>
          <a:xfrm>
            <a:off x="6172200" y="1783080"/>
            <a:ext cx="544068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1" name="Shape 7"/>
          <p:cNvSpPr/>
          <p:nvPr/>
        </p:nvSpPr>
        <p:spPr>
          <a:xfrm>
            <a:off x="6446520" y="2057400"/>
            <a:ext cx="822960" cy="822960"/>
          </a:xfrm>
          <a:prstGeom prst="ellipse">
            <a:avLst/>
          </a:prstGeom>
          <a:solidFill>
            <a:srgbClr val="E57A2E"/>
          </a:solidFill>
          <a:ln w="12700">
            <a:solidFill>
              <a:srgbClr val="E57A2E"/>
            </a:solidFill>
            <a:prstDash val="solid"/>
          </a:ln>
        </p:spPr>
      </p:sp>
      <p:pic>
        <p:nvPicPr>
          <p:cNvPr id="12" name="Image 1" descr="art/icons/Bullhorn_w.png">    </p:cNvPr>
          <p:cNvPicPr>
            <a:picLocks noChangeAspect="1"/>
          </p:cNvPicPr>
          <p:nvPr/>
        </p:nvPicPr>
        <p:blipFill>
          <a:blip r:embed="rId2"/>
          <a:stretch>
            <a:fillRect/>
          </a:stretch>
        </p:blipFill>
        <p:spPr>
          <a:xfrm>
            <a:off x="6644030" y="2254910"/>
            <a:ext cx="427939" cy="427939"/>
          </a:xfrm>
          <a:prstGeom prst="rect">
            <a:avLst/>
          </a:prstGeom>
        </p:spPr>
      </p:pic>
      <p:sp>
        <p:nvSpPr>
          <p:cNvPr id="13" name="Text 8"/>
          <p:cNvSpPr txBox="1"/>
          <p:nvPr/>
        </p:nvSpPr>
        <p:spPr>
          <a:xfrm>
            <a:off x="7543800" y="2011680"/>
            <a:ext cx="3931920" cy="73152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Apoio às ações</a:t>
            </a:r>
            <a:endParaRPr lang="en-US" sz="2000" dirty="0"/>
          </a:p>
        </p:txBody>
      </p:sp>
      <p:sp>
        <p:nvSpPr>
          <p:cNvPr id="14" name="Text 9"/>
          <p:cNvSpPr txBox="1"/>
          <p:nvPr/>
        </p:nvSpPr>
        <p:spPr>
          <a:xfrm>
            <a:off x="6492240" y="2971800"/>
            <a:ext cx="4846320" cy="8229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Palestras, oficinas, semana de prevenção e simulados com o jogo como estação.</a:t>
            </a:r>
            <a:endParaRPr lang="en-US" sz="1600" dirty="0"/>
          </a:p>
        </p:txBody>
      </p:sp>
      <p:sp>
        <p:nvSpPr>
          <p:cNvPr id="15" name="Shape 10"/>
          <p:cNvSpPr/>
          <p:nvPr/>
        </p:nvSpPr>
        <p:spPr>
          <a:xfrm>
            <a:off x="548640" y="4023360"/>
            <a:ext cx="544068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822960" y="4297680"/>
            <a:ext cx="822960" cy="822960"/>
          </a:xfrm>
          <a:prstGeom prst="ellipse">
            <a:avLst/>
          </a:prstGeom>
          <a:solidFill>
            <a:srgbClr val="2FA36B"/>
          </a:solidFill>
          <a:ln w="12700">
            <a:solidFill>
              <a:srgbClr val="2FA36B"/>
            </a:solidFill>
            <a:prstDash val="solid"/>
          </a:ln>
        </p:spPr>
      </p:sp>
      <p:pic>
        <p:nvPicPr>
          <p:cNvPr id="17" name="Image 2" descr="art/icons/Map_w.png">    </p:cNvPr>
          <p:cNvPicPr>
            <a:picLocks noChangeAspect="1"/>
          </p:cNvPicPr>
          <p:nvPr/>
        </p:nvPicPr>
        <p:blipFill>
          <a:blip r:embed="rId3"/>
          <a:stretch>
            <a:fillRect/>
          </a:stretch>
        </p:blipFill>
        <p:spPr>
          <a:xfrm>
            <a:off x="1020470" y="4495190"/>
            <a:ext cx="427939" cy="427939"/>
          </a:xfrm>
          <a:prstGeom prst="rect">
            <a:avLst/>
          </a:prstGeom>
        </p:spPr>
      </p:pic>
      <p:sp>
        <p:nvSpPr>
          <p:cNvPr id="18" name="Text 12"/>
          <p:cNvSpPr txBox="1"/>
          <p:nvPr/>
        </p:nvSpPr>
        <p:spPr>
          <a:xfrm>
            <a:off x="1920240" y="4251960"/>
            <a:ext cx="3931920" cy="73152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Validação e adaptação local</a:t>
            </a:r>
            <a:endParaRPr lang="en-US" sz="2000" dirty="0"/>
          </a:p>
        </p:txBody>
      </p:sp>
      <p:sp>
        <p:nvSpPr>
          <p:cNvPr id="19" name="Text 13"/>
          <p:cNvSpPr txBox="1"/>
          <p:nvPr/>
        </p:nvSpPr>
        <p:spPr>
          <a:xfrm>
            <a:off x="868680" y="5212080"/>
            <a:ext cx="4846320" cy="8229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Conferir fenômenos, telefones e alertas do município e propor ajustes.</a:t>
            </a:r>
            <a:endParaRPr lang="en-US" sz="1600" dirty="0"/>
          </a:p>
        </p:txBody>
      </p:sp>
      <p:sp>
        <p:nvSpPr>
          <p:cNvPr id="20" name="Shape 14"/>
          <p:cNvSpPr/>
          <p:nvPr/>
        </p:nvSpPr>
        <p:spPr>
          <a:xfrm>
            <a:off x="6172200" y="4023360"/>
            <a:ext cx="544068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1" name="Shape 15"/>
          <p:cNvSpPr/>
          <p:nvPr/>
        </p:nvSpPr>
        <p:spPr>
          <a:xfrm>
            <a:off x="6446520" y="4297680"/>
            <a:ext cx="822960" cy="822960"/>
          </a:xfrm>
          <a:prstGeom prst="ellipse">
            <a:avLst/>
          </a:prstGeom>
          <a:solidFill>
            <a:srgbClr val="D64545"/>
          </a:solidFill>
          <a:ln w="12700">
            <a:solidFill>
              <a:srgbClr val="D64545"/>
            </a:solidFill>
            <a:prstDash val="solid"/>
          </a:ln>
        </p:spPr>
      </p:sp>
      <p:pic>
        <p:nvPicPr>
          <p:cNvPr id="22" name="Image 3" descr="art/icons/MagnifyingGlass_w.png">    </p:cNvPr>
          <p:cNvPicPr>
            <a:picLocks noChangeAspect="1"/>
          </p:cNvPicPr>
          <p:nvPr/>
        </p:nvPicPr>
        <p:blipFill>
          <a:blip r:embed="rId4"/>
          <a:stretch>
            <a:fillRect/>
          </a:stretch>
        </p:blipFill>
        <p:spPr>
          <a:xfrm>
            <a:off x="6644030" y="4495190"/>
            <a:ext cx="427939" cy="427939"/>
          </a:xfrm>
          <a:prstGeom prst="rect">
            <a:avLst/>
          </a:prstGeom>
        </p:spPr>
      </p:pic>
      <p:sp>
        <p:nvSpPr>
          <p:cNvPr id="23" name="Text 16"/>
          <p:cNvSpPr txBox="1"/>
          <p:nvPr/>
        </p:nvSpPr>
        <p:spPr>
          <a:xfrm>
            <a:off x="7543800" y="4251960"/>
            <a:ext cx="3931920" cy="73152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Pesquisa e avaliação</a:t>
            </a:r>
            <a:endParaRPr lang="en-US" sz="2000" dirty="0"/>
          </a:p>
        </p:txBody>
      </p:sp>
      <p:sp>
        <p:nvSpPr>
          <p:cNvPr id="24" name="Text 17"/>
          <p:cNvSpPr txBox="1"/>
          <p:nvPr/>
        </p:nvSpPr>
        <p:spPr>
          <a:xfrm>
            <a:off x="6492240" y="5212080"/>
            <a:ext cx="4846320" cy="822960"/>
          </a:xfrm>
          <a:prstGeom prst="rect">
            <a:avLst/>
          </a:prstGeom>
          <a:noFill/>
          <a:ln/>
        </p:spPr>
        <p:txBody>
          <a:bodyPr wrap="square" lIns="0" tIns="0" rIns="0" bIns="0" rtlCol="0" anchor="t"/>
          <a:lstStyle/>
          <a:p>
            <a:pPr indent="0" marL="0">
              <a:buNone/>
            </a:pPr>
            <a:r>
              <a:rPr lang="en-US" sz="1600" dirty="0">
                <a:solidFill>
                  <a:srgbClr val="4A5A73"/>
                </a:solidFill>
                <a:latin typeface="Calibri" pitchFamily="34" charset="0"/>
                <a:ea typeface="Calibri" pitchFamily="34" charset="-122"/>
                <a:cs typeface="Calibri" pitchFamily="34" charset="-120"/>
              </a:rPr>
              <a:t>Estudos de aprendizagem, de implementação e de acessibilidade em parceria.</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801368" cy="329184"/>
          </a:xfrm>
          <a:prstGeom prst="roundRect">
            <a:avLst>
              <a:gd name="adj" fmla="val 50000"/>
            </a:avLst>
          </a:prstGeom>
          <a:solidFill>
            <a:srgbClr val="D9A21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POSSIBILIDADES</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Seis formas de usar o HIDRO na escola</a:t>
            </a:r>
            <a:endParaRPr lang="en-US" sz="3400" dirty="0"/>
          </a:p>
        </p:txBody>
      </p:sp>
      <p:sp>
        <p:nvSpPr>
          <p:cNvPr id="5" name="Shape 2"/>
          <p:cNvSpPr/>
          <p:nvPr/>
        </p:nvSpPr>
        <p:spPr>
          <a:xfrm>
            <a:off x="548640" y="1783080"/>
            <a:ext cx="352044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777240" y="2011680"/>
            <a:ext cx="731520" cy="731520"/>
          </a:xfrm>
          <a:prstGeom prst="ellipse">
            <a:avLst/>
          </a:prstGeom>
          <a:solidFill>
            <a:srgbClr val="2A9FD6"/>
          </a:solidFill>
          <a:ln w="12700">
            <a:solidFill>
              <a:srgbClr val="2A9FD6"/>
            </a:solidFill>
            <a:prstDash val="solid"/>
          </a:ln>
        </p:spPr>
      </p:sp>
      <p:pic>
        <p:nvPicPr>
          <p:cNvPr id="7" name="Image 0" descr="art/icons/Clock_w.png">    </p:cNvPr>
          <p:cNvPicPr>
            <a:picLocks noChangeAspect="1"/>
          </p:cNvPicPr>
          <p:nvPr/>
        </p:nvPicPr>
        <p:blipFill>
          <a:blip r:embed="rId1"/>
          <a:stretch>
            <a:fillRect/>
          </a:stretch>
        </p:blipFill>
        <p:spPr>
          <a:xfrm>
            <a:off x="952805" y="2187245"/>
            <a:ext cx="380390" cy="380390"/>
          </a:xfrm>
          <a:prstGeom prst="rect">
            <a:avLst/>
          </a:prstGeom>
        </p:spPr>
      </p:pic>
      <p:sp>
        <p:nvSpPr>
          <p:cNvPr id="8" name="Text 4"/>
          <p:cNvSpPr txBox="1"/>
          <p:nvPr/>
        </p:nvSpPr>
        <p:spPr>
          <a:xfrm>
            <a:off x="1691640" y="1965960"/>
            <a:ext cx="228600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A. Oficina de 2 aulas</a:t>
            </a:r>
            <a:endParaRPr lang="en-US" sz="1700" dirty="0"/>
          </a:p>
        </p:txBody>
      </p:sp>
      <p:sp>
        <p:nvSpPr>
          <p:cNvPr id="9" name="Text 5"/>
          <p:cNvSpPr txBox="1"/>
          <p:nvPr/>
        </p:nvSpPr>
        <p:spPr>
          <a:xfrm>
            <a:off x="822960" y="2926080"/>
            <a:ext cx="3017520" cy="86868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Base teórica e jogo em duplas. Ideal para começar.</a:t>
            </a:r>
            <a:endParaRPr lang="en-US" sz="1500" dirty="0"/>
          </a:p>
        </p:txBody>
      </p:sp>
      <p:sp>
        <p:nvSpPr>
          <p:cNvPr id="10" name="Shape 6"/>
          <p:cNvSpPr/>
          <p:nvPr/>
        </p:nvSpPr>
        <p:spPr>
          <a:xfrm>
            <a:off x="4343400" y="1783080"/>
            <a:ext cx="352044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1" name="Shape 7"/>
          <p:cNvSpPr/>
          <p:nvPr/>
        </p:nvSpPr>
        <p:spPr>
          <a:xfrm>
            <a:off x="4572000" y="2011680"/>
            <a:ext cx="731520" cy="731520"/>
          </a:xfrm>
          <a:prstGeom prst="ellipse">
            <a:avLst/>
          </a:prstGeom>
          <a:solidFill>
            <a:srgbClr val="E57A2E"/>
          </a:solidFill>
          <a:ln w="12700">
            <a:solidFill>
              <a:srgbClr val="E57A2E"/>
            </a:solidFill>
            <a:prstDash val="solid"/>
          </a:ln>
        </p:spPr>
      </p:sp>
      <p:pic>
        <p:nvPicPr>
          <p:cNvPr id="12" name="Image 1" descr="art/icons/Users_w.png">    </p:cNvPr>
          <p:cNvPicPr>
            <a:picLocks noChangeAspect="1"/>
          </p:cNvPicPr>
          <p:nvPr/>
        </p:nvPicPr>
        <p:blipFill>
          <a:blip r:embed="rId2"/>
          <a:stretch>
            <a:fillRect/>
          </a:stretch>
        </p:blipFill>
        <p:spPr>
          <a:xfrm>
            <a:off x="4747565" y="2187245"/>
            <a:ext cx="380390" cy="380390"/>
          </a:xfrm>
          <a:prstGeom prst="rect">
            <a:avLst/>
          </a:prstGeom>
        </p:spPr>
      </p:pic>
      <p:sp>
        <p:nvSpPr>
          <p:cNvPr id="13" name="Text 8"/>
          <p:cNvSpPr txBox="1"/>
          <p:nvPr/>
        </p:nvSpPr>
        <p:spPr>
          <a:xfrm>
            <a:off x="5486400" y="1965960"/>
            <a:ext cx="228600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B. Rotação por estações</a:t>
            </a:r>
            <a:endParaRPr lang="en-US" sz="1700" dirty="0"/>
          </a:p>
        </p:txBody>
      </p:sp>
      <p:sp>
        <p:nvSpPr>
          <p:cNvPr id="14" name="Text 9"/>
          <p:cNvSpPr txBox="1"/>
          <p:nvPr/>
        </p:nvSpPr>
        <p:spPr>
          <a:xfrm>
            <a:off x="4617720" y="2926080"/>
            <a:ext cx="3017520" cy="86868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Poucos aparelhos: jogo, experimento, mapa e cartas em rodízio.</a:t>
            </a:r>
            <a:endParaRPr lang="en-US" sz="1500" dirty="0"/>
          </a:p>
        </p:txBody>
      </p:sp>
      <p:sp>
        <p:nvSpPr>
          <p:cNvPr id="15" name="Shape 10"/>
          <p:cNvSpPr/>
          <p:nvPr/>
        </p:nvSpPr>
        <p:spPr>
          <a:xfrm>
            <a:off x="8138160" y="1783080"/>
            <a:ext cx="352044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8366760" y="2011680"/>
            <a:ext cx="731520" cy="731520"/>
          </a:xfrm>
          <a:prstGeom prst="ellipse">
            <a:avLst/>
          </a:prstGeom>
          <a:solidFill>
            <a:srgbClr val="2FA36B"/>
          </a:solidFill>
          <a:ln w="12700">
            <a:solidFill>
              <a:srgbClr val="2FA36B"/>
            </a:solidFill>
            <a:prstDash val="solid"/>
          </a:ln>
        </p:spPr>
      </p:sp>
      <p:pic>
        <p:nvPicPr>
          <p:cNvPr id="17" name="Image 2" descr="art/icons/Compass_w.png">    </p:cNvPr>
          <p:cNvPicPr>
            <a:picLocks noChangeAspect="1"/>
          </p:cNvPicPr>
          <p:nvPr/>
        </p:nvPicPr>
        <p:blipFill>
          <a:blip r:embed="rId3"/>
          <a:stretch>
            <a:fillRect/>
          </a:stretch>
        </p:blipFill>
        <p:spPr>
          <a:xfrm>
            <a:off x="8542325" y="2187245"/>
            <a:ext cx="380390" cy="380390"/>
          </a:xfrm>
          <a:prstGeom prst="rect">
            <a:avLst/>
          </a:prstGeom>
        </p:spPr>
      </p:pic>
      <p:sp>
        <p:nvSpPr>
          <p:cNvPr id="18" name="Text 12"/>
          <p:cNvSpPr txBox="1"/>
          <p:nvPr/>
        </p:nvSpPr>
        <p:spPr>
          <a:xfrm>
            <a:off x="9281160" y="1965960"/>
            <a:ext cx="228600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C. Projeto interdisciplinar</a:t>
            </a:r>
            <a:endParaRPr lang="en-US" sz="1700" dirty="0"/>
          </a:p>
        </p:txBody>
      </p:sp>
      <p:sp>
        <p:nvSpPr>
          <p:cNvPr id="19" name="Text 13"/>
          <p:cNvSpPr txBox="1"/>
          <p:nvPr/>
        </p:nvSpPr>
        <p:spPr>
          <a:xfrm>
            <a:off x="8412480" y="2926080"/>
            <a:ext cx="3017520" cy="86868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Geografia, Ciências, Matemática, Português e Artes em 2 a 3 semanas.</a:t>
            </a:r>
            <a:endParaRPr lang="en-US" sz="1500" dirty="0"/>
          </a:p>
        </p:txBody>
      </p:sp>
      <p:sp>
        <p:nvSpPr>
          <p:cNvPr id="20" name="Shape 14"/>
          <p:cNvSpPr/>
          <p:nvPr/>
        </p:nvSpPr>
        <p:spPr>
          <a:xfrm>
            <a:off x="548640" y="4023360"/>
            <a:ext cx="352044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1" name="Shape 15"/>
          <p:cNvSpPr/>
          <p:nvPr/>
        </p:nvSpPr>
        <p:spPr>
          <a:xfrm>
            <a:off x="777240" y="4251960"/>
            <a:ext cx="731520" cy="731520"/>
          </a:xfrm>
          <a:prstGeom prst="ellipse">
            <a:avLst/>
          </a:prstGeom>
          <a:solidFill>
            <a:srgbClr val="D64545"/>
          </a:solidFill>
          <a:ln w="12700">
            <a:solidFill>
              <a:srgbClr val="D64545"/>
            </a:solidFill>
            <a:prstDash val="solid"/>
          </a:ln>
        </p:spPr>
      </p:sp>
      <p:pic>
        <p:nvPicPr>
          <p:cNvPr id="22" name="Image 3" descr="art/icons/Bell_w.png">    </p:cNvPr>
          <p:cNvPicPr>
            <a:picLocks noChangeAspect="1"/>
          </p:cNvPicPr>
          <p:nvPr/>
        </p:nvPicPr>
        <p:blipFill>
          <a:blip r:embed="rId4"/>
          <a:stretch>
            <a:fillRect/>
          </a:stretch>
        </p:blipFill>
        <p:spPr>
          <a:xfrm>
            <a:off x="952805" y="4427525"/>
            <a:ext cx="380390" cy="380390"/>
          </a:xfrm>
          <a:prstGeom prst="rect">
            <a:avLst/>
          </a:prstGeom>
        </p:spPr>
      </p:pic>
      <p:sp>
        <p:nvSpPr>
          <p:cNvPr id="23" name="Text 16"/>
          <p:cNvSpPr txBox="1"/>
          <p:nvPr/>
        </p:nvSpPr>
        <p:spPr>
          <a:xfrm>
            <a:off x="1691640" y="4206240"/>
            <a:ext cx="228600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D. Semana de prevenção</a:t>
            </a:r>
            <a:endParaRPr lang="en-US" sz="1700" dirty="0"/>
          </a:p>
        </p:txBody>
      </p:sp>
      <p:sp>
        <p:nvSpPr>
          <p:cNvPr id="24" name="Text 17"/>
          <p:cNvSpPr txBox="1"/>
          <p:nvPr/>
        </p:nvSpPr>
        <p:spPr>
          <a:xfrm>
            <a:off x="822960" y="5166360"/>
            <a:ext cx="3017520" cy="86868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HIDRO como estação, ao lado de palestra e simulado com a Defesa Civil.</a:t>
            </a:r>
            <a:endParaRPr lang="en-US" sz="1500" dirty="0"/>
          </a:p>
        </p:txBody>
      </p:sp>
      <p:sp>
        <p:nvSpPr>
          <p:cNvPr id="25" name="Shape 18"/>
          <p:cNvSpPr/>
          <p:nvPr/>
        </p:nvSpPr>
        <p:spPr>
          <a:xfrm>
            <a:off x="4343400" y="4023360"/>
            <a:ext cx="352044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6" name="Shape 19"/>
          <p:cNvSpPr/>
          <p:nvPr/>
        </p:nvSpPr>
        <p:spPr>
          <a:xfrm>
            <a:off x="4572000" y="4251960"/>
            <a:ext cx="731520" cy="731520"/>
          </a:xfrm>
          <a:prstGeom prst="ellipse">
            <a:avLst/>
          </a:prstGeom>
          <a:solidFill>
            <a:srgbClr val="1B2C4A"/>
          </a:solidFill>
          <a:ln w="12700">
            <a:solidFill>
              <a:srgbClr val="1B2C4A"/>
            </a:solidFill>
            <a:prstDash val="solid"/>
          </a:ln>
        </p:spPr>
      </p:sp>
      <p:pic>
        <p:nvPicPr>
          <p:cNvPr id="27" name="Image 4" descr="art/icons/PeopleGroup_w.png">    </p:cNvPr>
          <p:cNvPicPr>
            <a:picLocks noChangeAspect="1"/>
          </p:cNvPicPr>
          <p:nvPr/>
        </p:nvPicPr>
        <p:blipFill>
          <a:blip r:embed="rId5"/>
          <a:stretch>
            <a:fillRect/>
          </a:stretch>
        </p:blipFill>
        <p:spPr>
          <a:xfrm>
            <a:off x="4747565" y="4427525"/>
            <a:ext cx="380390" cy="380390"/>
          </a:xfrm>
          <a:prstGeom prst="rect">
            <a:avLst/>
          </a:prstGeom>
        </p:spPr>
      </p:pic>
      <p:sp>
        <p:nvSpPr>
          <p:cNvPr id="28" name="Text 20"/>
          <p:cNvSpPr txBox="1"/>
          <p:nvPr/>
        </p:nvSpPr>
        <p:spPr>
          <a:xfrm>
            <a:off x="5486400" y="4206240"/>
            <a:ext cx="228600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E. Formação de professores e agentes</a:t>
            </a:r>
            <a:endParaRPr lang="en-US" sz="1700" dirty="0"/>
          </a:p>
        </p:txBody>
      </p:sp>
      <p:sp>
        <p:nvSpPr>
          <p:cNvPr id="29" name="Text 21"/>
          <p:cNvSpPr txBox="1"/>
          <p:nvPr/>
        </p:nvSpPr>
        <p:spPr>
          <a:xfrm>
            <a:off x="4617720" y="5166360"/>
            <a:ext cx="3017520" cy="86868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Vivenciar, discutir e planejar a aplicação.</a:t>
            </a:r>
            <a:endParaRPr lang="en-US" sz="1500" dirty="0"/>
          </a:p>
        </p:txBody>
      </p:sp>
      <p:sp>
        <p:nvSpPr>
          <p:cNvPr id="30" name="Shape 22"/>
          <p:cNvSpPr/>
          <p:nvPr/>
        </p:nvSpPr>
        <p:spPr>
          <a:xfrm>
            <a:off x="8138160" y="4023360"/>
            <a:ext cx="352044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31" name="Shape 23"/>
          <p:cNvSpPr/>
          <p:nvPr/>
        </p:nvSpPr>
        <p:spPr>
          <a:xfrm>
            <a:off x="8366760" y="4251960"/>
            <a:ext cx="731520" cy="731520"/>
          </a:xfrm>
          <a:prstGeom prst="ellipse">
            <a:avLst/>
          </a:prstGeom>
          <a:solidFill>
            <a:srgbClr val="D9A21B"/>
          </a:solidFill>
          <a:ln w="12700">
            <a:solidFill>
              <a:srgbClr val="D9A21B"/>
            </a:solidFill>
            <a:prstDash val="solid"/>
          </a:ln>
        </p:spPr>
      </p:sp>
      <p:pic>
        <p:nvPicPr>
          <p:cNvPr id="32" name="Image 5" descr="art/icons/Star_w.png">    </p:cNvPr>
          <p:cNvPicPr>
            <a:picLocks noChangeAspect="1"/>
          </p:cNvPicPr>
          <p:nvPr/>
        </p:nvPicPr>
        <p:blipFill>
          <a:blip r:embed="rId6"/>
          <a:stretch>
            <a:fillRect/>
          </a:stretch>
        </p:blipFill>
        <p:spPr>
          <a:xfrm>
            <a:off x="8542325" y="4427525"/>
            <a:ext cx="380390" cy="380390"/>
          </a:xfrm>
          <a:prstGeom prst="rect">
            <a:avLst/>
          </a:prstGeom>
        </p:spPr>
      </p:pic>
      <p:sp>
        <p:nvSpPr>
          <p:cNvPr id="33" name="Text 24"/>
          <p:cNvSpPr txBox="1"/>
          <p:nvPr/>
        </p:nvSpPr>
        <p:spPr>
          <a:xfrm>
            <a:off x="9281160" y="4206240"/>
            <a:ext cx="228600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F. Clube, eletiva ou turno integral</a:t>
            </a:r>
            <a:endParaRPr lang="en-US" sz="1700" dirty="0"/>
          </a:p>
        </p:txBody>
      </p:sp>
      <p:sp>
        <p:nvSpPr>
          <p:cNvPr id="34" name="Text 25"/>
          <p:cNvSpPr txBox="1"/>
          <p:nvPr/>
        </p:nvSpPr>
        <p:spPr>
          <a:xfrm>
            <a:off x="8412480" y="5166360"/>
            <a:ext cx="3017520" cy="86868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Trilhas de enriquecimento e projetos de longo prazo.</a:t>
            </a:r>
            <a:endParaRPr lang="en-US" sz="15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2A9FD6"/>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MODELO A</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Oficina de 2 aulas (100 min)</a:t>
            </a:r>
            <a:endParaRPr lang="en-US" sz="3400" dirty="0"/>
          </a:p>
        </p:txBody>
      </p:sp>
      <p:sp>
        <p:nvSpPr>
          <p:cNvPr id="5" name="Shape 2"/>
          <p:cNvSpPr/>
          <p:nvPr/>
        </p:nvSpPr>
        <p:spPr>
          <a:xfrm>
            <a:off x="548640" y="1783080"/>
            <a:ext cx="5440680" cy="36576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822960" y="1920240"/>
            <a:ext cx="4937760" cy="457200"/>
          </a:xfrm>
          <a:prstGeom prst="rect">
            <a:avLst/>
          </a:prstGeom>
          <a:noFill/>
          <a:ln/>
        </p:spPr>
        <p:txBody>
          <a:bodyPr wrap="square" lIns="0" tIns="0" rIns="0" bIns="0" rtlCol="0" anchor="t"/>
          <a:lstStyle/>
          <a:p>
            <a:pPr indent="0" marL="0">
              <a:buNone/>
            </a:pPr>
            <a:r>
              <a:rPr lang="en-US" sz="1900" b="1" dirty="0">
                <a:solidFill>
                  <a:srgbClr val="2A9FD6"/>
                </a:solidFill>
                <a:latin typeface="Calibri" pitchFamily="34" charset="0"/>
                <a:ea typeface="Calibri" pitchFamily="34" charset="-122"/>
                <a:cs typeface="Calibri" pitchFamily="34" charset="-120"/>
              </a:rPr>
              <a:t>Aula 1: Descobrir e preparar (50 min)</a:t>
            </a:r>
            <a:endParaRPr lang="en-US" sz="1900" dirty="0"/>
          </a:p>
        </p:txBody>
      </p:sp>
      <p:sp>
        <p:nvSpPr>
          <p:cNvPr id="7" name="Text 4"/>
          <p:cNvSpPr txBox="1"/>
          <p:nvPr/>
        </p:nvSpPr>
        <p:spPr>
          <a:xfrm>
            <a:off x="822960" y="2514600"/>
            <a:ext cx="4937760" cy="283464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Acolhida e conhecimentos prévios (8 min)</a:t>
            </a:r>
            <a:endParaRPr lang="en-US" sz="1700" dirty="0"/>
          </a:p>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Base teórica: infiltração, escoamento e microdrenagem (17 min)</a:t>
            </a:r>
            <a:endParaRPr lang="en-US" sz="1700" dirty="0"/>
          </a:p>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Os quatro fenômenos e sinais de alerta (10 min)</a:t>
            </a:r>
            <a:endParaRPr lang="en-US" sz="1700" dirty="0"/>
          </a:p>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Mito ou verdade (10 min)</a:t>
            </a:r>
            <a:endParaRPr lang="en-US" sz="1700" dirty="0"/>
          </a:p>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Protocolo e regras do jogo (5 min)</a:t>
            </a:r>
            <a:endParaRPr lang="en-US" sz="1700" dirty="0"/>
          </a:p>
        </p:txBody>
      </p:sp>
      <p:sp>
        <p:nvSpPr>
          <p:cNvPr id="8" name="Shape 5"/>
          <p:cNvSpPr/>
          <p:nvPr/>
        </p:nvSpPr>
        <p:spPr>
          <a:xfrm>
            <a:off x="6172200" y="1783080"/>
            <a:ext cx="5440680" cy="36576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6446520" y="1920240"/>
            <a:ext cx="4937760" cy="457200"/>
          </a:xfrm>
          <a:prstGeom prst="rect">
            <a:avLst/>
          </a:prstGeom>
          <a:noFill/>
          <a:ln/>
        </p:spPr>
        <p:txBody>
          <a:bodyPr wrap="square" lIns="0" tIns="0" rIns="0" bIns="0" rtlCol="0" anchor="t"/>
          <a:lstStyle/>
          <a:p>
            <a:pPr indent="0" marL="0">
              <a:buNone/>
            </a:pPr>
            <a:r>
              <a:rPr lang="en-US" sz="1900" b="1" dirty="0">
                <a:solidFill>
                  <a:srgbClr val="2A9FD6"/>
                </a:solidFill>
                <a:latin typeface="Calibri" pitchFamily="34" charset="0"/>
                <a:ea typeface="Calibri" pitchFamily="34" charset="-122"/>
                <a:cs typeface="Calibri" pitchFamily="34" charset="-120"/>
              </a:rPr>
              <a:t>Aula 2: Jogar e refletir (50 min)</a:t>
            </a:r>
            <a:endParaRPr lang="en-US" sz="1900" dirty="0"/>
          </a:p>
        </p:txBody>
      </p:sp>
      <p:sp>
        <p:nvSpPr>
          <p:cNvPr id="10" name="Text 7"/>
          <p:cNvSpPr txBox="1"/>
          <p:nvPr/>
        </p:nvSpPr>
        <p:spPr>
          <a:xfrm>
            <a:off x="6446520" y="2514600"/>
            <a:ext cx="4937760" cy="283464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Organização em duplas com papéis (5 min)</a:t>
            </a:r>
            <a:endParaRPr lang="en-US" sz="1700" dirty="0"/>
          </a:p>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Jogo: Fase 1 e Fase 2 com ficha de observação (25 min)</a:t>
            </a:r>
            <a:endParaRPr lang="en-US" sz="1700" dirty="0"/>
          </a:p>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Roda de conversa (12 min)</a:t>
            </a:r>
            <a:endParaRPr lang="en-US" sz="1700" dirty="0"/>
          </a:p>
          <a:p>
            <a:pPr marL="203200" indent="-203200">
              <a:spcAft>
                <a:spcPts val="900"/>
              </a:spcAft>
              <a:buSzPct val="100000"/>
              <a:buChar char="•"/>
            </a:pPr>
            <a:r>
              <a:rPr lang="en-US" sz="1700" dirty="0">
                <a:solidFill>
                  <a:srgbClr val="14213D"/>
                </a:solidFill>
                <a:latin typeface="Calibri" pitchFamily="34" charset="0"/>
                <a:ea typeface="Calibri" pitchFamily="34" charset="-122"/>
                <a:cs typeface="Calibri" pitchFamily="34" charset="-120"/>
              </a:rPr>
              <a:t>Bilhete de saída e missão para casa (8 min)</a:t>
            </a:r>
            <a:endParaRPr lang="en-US" sz="1700" dirty="0"/>
          </a:p>
        </p:txBody>
      </p:sp>
      <p:sp>
        <p:nvSpPr>
          <p:cNvPr id="11" name="Shape 8"/>
          <p:cNvSpPr/>
          <p:nvPr/>
        </p:nvSpPr>
        <p:spPr>
          <a:xfrm>
            <a:off x="548640" y="5623560"/>
            <a:ext cx="11064240" cy="640080"/>
          </a:xfrm>
          <a:prstGeom prst="roundRect">
            <a:avLst>
              <a:gd name="adj" fmla="val 22857"/>
            </a:avLst>
          </a:prstGeom>
          <a:solidFill>
            <a:srgbClr val="0F1B2E"/>
          </a:solidFill>
          <a:ln w="12700">
            <a:solidFill>
              <a:srgbClr val="0F1B2E"/>
            </a:solidFill>
            <a:prstDash val="solid"/>
          </a:ln>
        </p:spPr>
      </p:sp>
      <p:sp>
        <p:nvSpPr>
          <p:cNvPr id="12" name="Text 9"/>
          <p:cNvSpPr txBox="1"/>
          <p:nvPr/>
        </p:nvSpPr>
        <p:spPr>
          <a:xfrm>
            <a:off x="822960" y="5623560"/>
            <a:ext cx="105156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Papel da Defesa Civil e da pesquisa: palestra de abertura ou fechamento e apoio na roda de conversa.</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E57A2E"/>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MODELO B</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Rotação por estações (4 x 15 min)</a:t>
            </a:r>
            <a:endParaRPr lang="en-US" sz="3400" dirty="0"/>
          </a:p>
        </p:txBody>
      </p:sp>
      <p:sp>
        <p:nvSpPr>
          <p:cNvPr id="5" name="Shape 2"/>
          <p:cNvSpPr/>
          <p:nvPr/>
        </p:nvSpPr>
        <p:spPr>
          <a:xfrm>
            <a:off x="548640" y="1783080"/>
            <a:ext cx="2606040" cy="3200400"/>
          </a:xfrm>
          <a:prstGeom prst="roundRect">
            <a:avLst>
              <a:gd name="adj" fmla="val 5614"/>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1371600" y="1965960"/>
            <a:ext cx="960120" cy="960120"/>
          </a:xfrm>
          <a:prstGeom prst="ellipse">
            <a:avLst/>
          </a:prstGeom>
          <a:solidFill>
            <a:srgbClr val="2A9FD6"/>
          </a:solidFill>
          <a:ln w="12700">
            <a:solidFill>
              <a:srgbClr val="2A9FD6"/>
            </a:solidFill>
            <a:prstDash val="solid"/>
          </a:ln>
        </p:spPr>
      </p:sp>
      <p:pic>
        <p:nvPicPr>
          <p:cNvPr id="7" name="Image 0" descr="art/icons/Gamepad_w.png">    </p:cNvPr>
          <p:cNvPicPr>
            <a:picLocks noChangeAspect="1"/>
          </p:cNvPicPr>
          <p:nvPr/>
        </p:nvPicPr>
        <p:blipFill>
          <a:blip r:embed="rId1"/>
          <a:stretch>
            <a:fillRect/>
          </a:stretch>
        </p:blipFill>
        <p:spPr>
          <a:xfrm>
            <a:off x="1602029" y="2196389"/>
            <a:ext cx="499262" cy="499262"/>
          </a:xfrm>
          <a:prstGeom prst="rect">
            <a:avLst/>
          </a:prstGeom>
        </p:spPr>
      </p:pic>
      <p:sp>
        <p:nvSpPr>
          <p:cNvPr id="8" name="Text 4"/>
          <p:cNvSpPr txBox="1"/>
          <p:nvPr/>
        </p:nvSpPr>
        <p:spPr>
          <a:xfrm>
            <a:off x="685800" y="3063240"/>
            <a:ext cx="2331720" cy="640080"/>
          </a:xfrm>
          <a:prstGeom prst="rect">
            <a:avLst/>
          </a:prstGeom>
          <a:noFill/>
          <a:ln/>
        </p:spPr>
        <p:txBody>
          <a:bodyPr wrap="square" lIns="0" tIns="0" rIns="0" bIns="0" rtlCol="0" anchor="t"/>
          <a:lstStyle/>
          <a:p>
            <a:pPr algn="ctr" indent="0" marL="0">
              <a:buNone/>
            </a:pPr>
            <a:r>
              <a:rPr lang="en-US" sz="1700" b="1" dirty="0">
                <a:solidFill>
                  <a:srgbClr val="14213D"/>
                </a:solidFill>
                <a:latin typeface="Calibri" pitchFamily="34" charset="0"/>
                <a:ea typeface="Calibri" pitchFamily="34" charset="-122"/>
                <a:cs typeface="Calibri" pitchFamily="34" charset="-120"/>
              </a:rPr>
              <a:t>Estação 1: Jogo</a:t>
            </a:r>
            <a:endParaRPr lang="en-US" sz="1700" dirty="0"/>
          </a:p>
        </p:txBody>
      </p:sp>
      <p:sp>
        <p:nvSpPr>
          <p:cNvPr id="9" name="Text 5"/>
          <p:cNvSpPr txBox="1"/>
          <p:nvPr/>
        </p:nvSpPr>
        <p:spPr>
          <a:xfrm>
            <a:off x="731520" y="3749040"/>
            <a:ext cx="2240280" cy="1143000"/>
          </a:xfrm>
          <a:prstGeom prst="rect">
            <a:avLst/>
          </a:prstGeom>
          <a:noFill/>
          <a:ln/>
        </p:spPr>
        <p:txBody>
          <a:bodyPr wrap="square" lIns="0" tIns="0" rIns="0" bIns="0" rtlCol="0" anchor="t"/>
          <a:lstStyle/>
          <a:p>
            <a:pPr algn="ctr" indent="0" marL="0">
              <a:buNone/>
            </a:pPr>
            <a:r>
              <a:rPr lang="en-US" sz="1400" dirty="0">
                <a:solidFill>
                  <a:srgbClr val="4A5A73"/>
                </a:solidFill>
                <a:latin typeface="Calibri" pitchFamily="34" charset="0"/>
                <a:ea typeface="Calibri" pitchFamily="34" charset="-122"/>
                <a:cs typeface="Calibri" pitchFamily="34" charset="-120"/>
              </a:rPr>
              <a:t>HIDRO em duplas, com ficha de observação.</a:t>
            </a:r>
            <a:endParaRPr lang="en-US" sz="1400" dirty="0"/>
          </a:p>
        </p:txBody>
      </p:sp>
      <p:sp>
        <p:nvSpPr>
          <p:cNvPr id="10" name="Shape 6"/>
          <p:cNvSpPr/>
          <p:nvPr/>
        </p:nvSpPr>
        <p:spPr>
          <a:xfrm>
            <a:off x="3364992" y="1783080"/>
            <a:ext cx="2606040" cy="3200400"/>
          </a:xfrm>
          <a:prstGeom prst="roundRect">
            <a:avLst>
              <a:gd name="adj" fmla="val 5614"/>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1" name="Shape 7"/>
          <p:cNvSpPr/>
          <p:nvPr/>
        </p:nvSpPr>
        <p:spPr>
          <a:xfrm>
            <a:off x="4187952" y="1965960"/>
            <a:ext cx="960120" cy="960120"/>
          </a:xfrm>
          <a:prstGeom prst="ellipse">
            <a:avLst/>
          </a:prstGeom>
          <a:solidFill>
            <a:srgbClr val="E57A2E"/>
          </a:solidFill>
          <a:ln w="12700">
            <a:solidFill>
              <a:srgbClr val="E57A2E"/>
            </a:solidFill>
            <a:prstDash val="solid"/>
          </a:ln>
        </p:spPr>
      </p:sp>
      <p:pic>
        <p:nvPicPr>
          <p:cNvPr id="12" name="Image 1" descr="art/icons/Water_w.png">    </p:cNvPr>
          <p:cNvPicPr>
            <a:picLocks noChangeAspect="1"/>
          </p:cNvPicPr>
          <p:nvPr/>
        </p:nvPicPr>
        <p:blipFill>
          <a:blip r:embed="rId2"/>
          <a:stretch>
            <a:fillRect/>
          </a:stretch>
        </p:blipFill>
        <p:spPr>
          <a:xfrm>
            <a:off x="4418381" y="2196389"/>
            <a:ext cx="499262" cy="499262"/>
          </a:xfrm>
          <a:prstGeom prst="rect">
            <a:avLst/>
          </a:prstGeom>
        </p:spPr>
      </p:pic>
      <p:sp>
        <p:nvSpPr>
          <p:cNvPr id="13" name="Text 8"/>
          <p:cNvSpPr txBox="1"/>
          <p:nvPr/>
        </p:nvSpPr>
        <p:spPr>
          <a:xfrm>
            <a:off x="3502152" y="3063240"/>
            <a:ext cx="2331720" cy="640080"/>
          </a:xfrm>
          <a:prstGeom prst="rect">
            <a:avLst/>
          </a:prstGeom>
          <a:noFill/>
          <a:ln/>
        </p:spPr>
        <p:txBody>
          <a:bodyPr wrap="square" lIns="0" tIns="0" rIns="0" bIns="0" rtlCol="0" anchor="t"/>
          <a:lstStyle/>
          <a:p>
            <a:pPr algn="ctr" indent="0" marL="0">
              <a:buNone/>
            </a:pPr>
            <a:r>
              <a:rPr lang="en-US" sz="1700" b="1" dirty="0">
                <a:solidFill>
                  <a:srgbClr val="14213D"/>
                </a:solidFill>
                <a:latin typeface="Calibri" pitchFamily="34" charset="0"/>
                <a:ea typeface="Calibri" pitchFamily="34" charset="-122"/>
                <a:cs typeface="Calibri" pitchFamily="34" charset="-120"/>
              </a:rPr>
              <a:t>Estação 2: Experimento</a:t>
            </a:r>
            <a:endParaRPr lang="en-US" sz="1700" dirty="0"/>
          </a:p>
        </p:txBody>
      </p:sp>
      <p:sp>
        <p:nvSpPr>
          <p:cNvPr id="14" name="Text 9"/>
          <p:cNvSpPr txBox="1"/>
          <p:nvPr/>
        </p:nvSpPr>
        <p:spPr>
          <a:xfrm>
            <a:off x="3547872" y="3749040"/>
            <a:ext cx="2240280" cy="1143000"/>
          </a:xfrm>
          <a:prstGeom prst="rect">
            <a:avLst/>
          </a:prstGeom>
          <a:noFill/>
          <a:ln/>
        </p:spPr>
        <p:txBody>
          <a:bodyPr wrap="square" lIns="0" tIns="0" rIns="0" bIns="0" rtlCol="0" anchor="t"/>
          <a:lstStyle/>
          <a:p>
            <a:pPr algn="ctr" indent="0" marL="0">
              <a:buNone/>
            </a:pPr>
            <a:r>
              <a:rPr lang="en-US" sz="1400" dirty="0">
                <a:solidFill>
                  <a:srgbClr val="4A5A73"/>
                </a:solidFill>
                <a:latin typeface="Calibri" pitchFamily="34" charset="0"/>
                <a:ea typeface="Calibri" pitchFamily="34" charset="-122"/>
                <a:cs typeface="Calibri" pitchFamily="34" charset="-120"/>
              </a:rPr>
              <a:t>Chuva na maquete: infiltração e escoamento.</a:t>
            </a:r>
            <a:endParaRPr lang="en-US" sz="1400" dirty="0"/>
          </a:p>
        </p:txBody>
      </p:sp>
      <p:sp>
        <p:nvSpPr>
          <p:cNvPr id="15" name="Shape 10"/>
          <p:cNvSpPr/>
          <p:nvPr/>
        </p:nvSpPr>
        <p:spPr>
          <a:xfrm>
            <a:off x="6181344" y="1783080"/>
            <a:ext cx="2606040" cy="3200400"/>
          </a:xfrm>
          <a:prstGeom prst="roundRect">
            <a:avLst>
              <a:gd name="adj" fmla="val 5614"/>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7004304" y="1965960"/>
            <a:ext cx="960120" cy="960120"/>
          </a:xfrm>
          <a:prstGeom prst="ellipse">
            <a:avLst/>
          </a:prstGeom>
          <a:solidFill>
            <a:srgbClr val="2FA36B"/>
          </a:solidFill>
          <a:ln w="12700">
            <a:solidFill>
              <a:srgbClr val="2FA36B"/>
            </a:solidFill>
            <a:prstDash val="solid"/>
          </a:ln>
        </p:spPr>
      </p:sp>
      <p:pic>
        <p:nvPicPr>
          <p:cNvPr id="17" name="Image 2" descr="art/icons/Map_w.png">    </p:cNvPr>
          <p:cNvPicPr>
            <a:picLocks noChangeAspect="1"/>
          </p:cNvPicPr>
          <p:nvPr/>
        </p:nvPicPr>
        <p:blipFill>
          <a:blip r:embed="rId3"/>
          <a:stretch>
            <a:fillRect/>
          </a:stretch>
        </p:blipFill>
        <p:spPr>
          <a:xfrm>
            <a:off x="7234733" y="2196389"/>
            <a:ext cx="499262" cy="499262"/>
          </a:xfrm>
          <a:prstGeom prst="rect">
            <a:avLst/>
          </a:prstGeom>
        </p:spPr>
      </p:pic>
      <p:sp>
        <p:nvSpPr>
          <p:cNvPr id="18" name="Text 12"/>
          <p:cNvSpPr txBox="1"/>
          <p:nvPr/>
        </p:nvSpPr>
        <p:spPr>
          <a:xfrm>
            <a:off x="6318504" y="3063240"/>
            <a:ext cx="2331720" cy="640080"/>
          </a:xfrm>
          <a:prstGeom prst="rect">
            <a:avLst/>
          </a:prstGeom>
          <a:noFill/>
          <a:ln/>
        </p:spPr>
        <p:txBody>
          <a:bodyPr wrap="square" lIns="0" tIns="0" rIns="0" bIns="0" rtlCol="0" anchor="t"/>
          <a:lstStyle/>
          <a:p>
            <a:pPr algn="ctr" indent="0" marL="0">
              <a:buNone/>
            </a:pPr>
            <a:r>
              <a:rPr lang="en-US" sz="1700" b="1" dirty="0">
                <a:solidFill>
                  <a:srgbClr val="14213D"/>
                </a:solidFill>
                <a:latin typeface="Calibri" pitchFamily="34" charset="0"/>
                <a:ea typeface="Calibri" pitchFamily="34" charset="-122"/>
                <a:cs typeface="Calibri" pitchFamily="34" charset="-120"/>
              </a:rPr>
              <a:t>Estação 3: Mapa</a:t>
            </a:r>
            <a:endParaRPr lang="en-US" sz="1700" dirty="0"/>
          </a:p>
        </p:txBody>
      </p:sp>
      <p:sp>
        <p:nvSpPr>
          <p:cNvPr id="19" name="Text 13"/>
          <p:cNvSpPr txBox="1"/>
          <p:nvPr/>
        </p:nvSpPr>
        <p:spPr>
          <a:xfrm>
            <a:off x="6364224" y="3749040"/>
            <a:ext cx="2240280" cy="1143000"/>
          </a:xfrm>
          <a:prstGeom prst="rect">
            <a:avLst/>
          </a:prstGeom>
          <a:noFill/>
          <a:ln/>
        </p:spPr>
        <p:txBody>
          <a:bodyPr wrap="square" lIns="0" tIns="0" rIns="0" bIns="0" rtlCol="0" anchor="t"/>
          <a:lstStyle/>
          <a:p>
            <a:pPr algn="ctr" indent="0" marL="0">
              <a:buNone/>
            </a:pPr>
            <a:r>
              <a:rPr lang="en-US" sz="1400" dirty="0">
                <a:solidFill>
                  <a:srgbClr val="4A5A73"/>
                </a:solidFill>
                <a:latin typeface="Calibri" pitchFamily="34" charset="0"/>
                <a:ea typeface="Calibri" pitchFamily="34" charset="-122"/>
                <a:cs typeface="Calibri" pitchFamily="34" charset="-120"/>
              </a:rPr>
              <a:t>Croqui do entorno com pontos de risco.</a:t>
            </a:r>
            <a:endParaRPr lang="en-US" sz="1400" dirty="0"/>
          </a:p>
        </p:txBody>
      </p:sp>
      <p:sp>
        <p:nvSpPr>
          <p:cNvPr id="20" name="Shape 14"/>
          <p:cNvSpPr/>
          <p:nvPr/>
        </p:nvSpPr>
        <p:spPr>
          <a:xfrm>
            <a:off x="8997696" y="1783080"/>
            <a:ext cx="2606040" cy="3200400"/>
          </a:xfrm>
          <a:prstGeom prst="roundRect">
            <a:avLst>
              <a:gd name="adj" fmla="val 5614"/>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1" name="Shape 15"/>
          <p:cNvSpPr/>
          <p:nvPr/>
        </p:nvSpPr>
        <p:spPr>
          <a:xfrm>
            <a:off x="9820656" y="1965960"/>
            <a:ext cx="960120" cy="960120"/>
          </a:xfrm>
          <a:prstGeom prst="ellipse">
            <a:avLst/>
          </a:prstGeom>
          <a:solidFill>
            <a:srgbClr val="D64545"/>
          </a:solidFill>
          <a:ln w="12700">
            <a:solidFill>
              <a:srgbClr val="D64545"/>
            </a:solidFill>
            <a:prstDash val="solid"/>
          </a:ln>
        </p:spPr>
      </p:sp>
      <p:pic>
        <p:nvPicPr>
          <p:cNvPr id="22" name="Image 3" descr="art/icons/CircleQuestion_w.png">    </p:cNvPr>
          <p:cNvPicPr>
            <a:picLocks noChangeAspect="1"/>
          </p:cNvPicPr>
          <p:nvPr/>
        </p:nvPicPr>
        <p:blipFill>
          <a:blip r:embed="rId4"/>
          <a:stretch>
            <a:fillRect/>
          </a:stretch>
        </p:blipFill>
        <p:spPr>
          <a:xfrm>
            <a:off x="10051085" y="2196389"/>
            <a:ext cx="499262" cy="499262"/>
          </a:xfrm>
          <a:prstGeom prst="rect">
            <a:avLst/>
          </a:prstGeom>
        </p:spPr>
      </p:pic>
      <p:sp>
        <p:nvSpPr>
          <p:cNvPr id="23" name="Text 16"/>
          <p:cNvSpPr txBox="1"/>
          <p:nvPr/>
        </p:nvSpPr>
        <p:spPr>
          <a:xfrm>
            <a:off x="9134856" y="3063240"/>
            <a:ext cx="2331720" cy="640080"/>
          </a:xfrm>
          <a:prstGeom prst="rect">
            <a:avLst/>
          </a:prstGeom>
          <a:noFill/>
          <a:ln/>
        </p:spPr>
        <p:txBody>
          <a:bodyPr wrap="square" lIns="0" tIns="0" rIns="0" bIns="0" rtlCol="0" anchor="t"/>
          <a:lstStyle/>
          <a:p>
            <a:pPr algn="ctr" indent="0" marL="0">
              <a:buNone/>
            </a:pPr>
            <a:r>
              <a:rPr lang="en-US" sz="1700" b="1" dirty="0">
                <a:solidFill>
                  <a:srgbClr val="14213D"/>
                </a:solidFill>
                <a:latin typeface="Calibri" pitchFamily="34" charset="0"/>
                <a:ea typeface="Calibri" pitchFamily="34" charset="-122"/>
                <a:cs typeface="Calibri" pitchFamily="34" charset="-120"/>
              </a:rPr>
              <a:t>Estação 4: Cartas</a:t>
            </a:r>
            <a:endParaRPr lang="en-US" sz="1700" dirty="0"/>
          </a:p>
        </p:txBody>
      </p:sp>
      <p:sp>
        <p:nvSpPr>
          <p:cNvPr id="24" name="Text 17"/>
          <p:cNvSpPr txBox="1"/>
          <p:nvPr/>
        </p:nvSpPr>
        <p:spPr>
          <a:xfrm>
            <a:off x="9180576" y="3749040"/>
            <a:ext cx="2240280" cy="1143000"/>
          </a:xfrm>
          <a:prstGeom prst="rect">
            <a:avLst/>
          </a:prstGeom>
          <a:noFill/>
          <a:ln/>
        </p:spPr>
        <p:txBody>
          <a:bodyPr wrap="square" lIns="0" tIns="0" rIns="0" bIns="0" rtlCol="0" anchor="t"/>
          <a:lstStyle/>
          <a:p>
            <a:pPr algn="ctr" indent="0" marL="0">
              <a:buNone/>
            </a:pPr>
            <a:r>
              <a:rPr lang="en-US" sz="1400" dirty="0">
                <a:solidFill>
                  <a:srgbClr val="4A5A73"/>
                </a:solidFill>
                <a:latin typeface="Calibri" pitchFamily="34" charset="0"/>
                <a:ea typeface="Calibri" pitchFamily="34" charset="-122"/>
                <a:cs typeface="Calibri" pitchFamily="34" charset="-120"/>
              </a:rPr>
              <a:t>Mito ou verdade e treino do protocolo.</a:t>
            </a:r>
            <a:endParaRPr lang="en-US" sz="1400" dirty="0"/>
          </a:p>
        </p:txBody>
      </p:sp>
      <p:sp>
        <p:nvSpPr>
          <p:cNvPr id="25" name="Shape 18"/>
          <p:cNvSpPr/>
          <p:nvPr/>
        </p:nvSpPr>
        <p:spPr>
          <a:xfrm>
            <a:off x="548640" y="5212080"/>
            <a:ext cx="11064240" cy="1005840"/>
          </a:xfrm>
          <a:prstGeom prst="roundRect">
            <a:avLst>
              <a:gd name="adj" fmla="val 14545"/>
            </a:avLst>
          </a:prstGeom>
          <a:solidFill>
            <a:srgbClr val="BFE3F6"/>
          </a:solidFill>
          <a:ln w="12700">
            <a:solidFill>
              <a:srgbClr val="BFE3F6"/>
            </a:solidFill>
            <a:prstDash val="solid"/>
          </a:ln>
        </p:spPr>
      </p:sp>
      <p:sp>
        <p:nvSpPr>
          <p:cNvPr id="26" name="Text 19"/>
          <p:cNvSpPr txBox="1"/>
          <p:nvPr/>
        </p:nvSpPr>
        <p:spPr>
          <a:xfrm>
            <a:off x="822960" y="5212080"/>
            <a:ext cx="10515600" cy="1005840"/>
          </a:xfrm>
          <a:prstGeom prst="rect">
            <a:avLst/>
          </a:prstGeom>
          <a:noFill/>
          <a:ln/>
        </p:spPr>
        <p:txBody>
          <a:bodyPr wrap="square" lIns="0" tIns="0" rIns="0" bIns="0" rtlCol="0" anchor="ctr"/>
          <a:lstStyle/>
          <a:p>
            <a:pPr algn="ctr" indent="0" marL="0">
              <a:buNone/>
            </a:pPr>
            <a:r>
              <a:rPr lang="en-US" sz="1700" b="1" dirty="0">
                <a:solidFill>
                  <a:srgbClr val="14213D"/>
                </a:solidFill>
                <a:latin typeface="Calibri" pitchFamily="34" charset="0"/>
                <a:ea typeface="Calibri" pitchFamily="34" charset="-122"/>
                <a:cs typeface="Calibri" pitchFamily="34" charset="-120"/>
              </a:rPr>
              <a:t>Ideal para poucos aparelhos (2 ou 3 na estação do jogo). Papel da Defesa Civil: conduzir a estação de mito ou verdade e do protocolo.</a:t>
            </a:r>
            <a:endParaRPr lang="en-US" sz="17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2FA36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MODELO C</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Projeto interdisciplinar (2 a 3 semanas)</a:t>
            </a:r>
            <a:endParaRPr lang="en-US" sz="3400" dirty="0"/>
          </a:p>
        </p:txBody>
      </p:sp>
      <p:sp>
        <p:nvSpPr>
          <p:cNvPr id="5" name="Shape 2"/>
          <p:cNvSpPr/>
          <p:nvPr/>
        </p:nvSpPr>
        <p:spPr>
          <a:xfrm>
            <a:off x="548640" y="1783080"/>
            <a:ext cx="3520440" cy="352044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822960" y="1965960"/>
            <a:ext cx="1554480" cy="329184"/>
          </a:xfrm>
          <a:prstGeom prst="roundRect">
            <a:avLst>
              <a:gd name="adj" fmla="val 50000"/>
            </a:avLst>
          </a:prstGeom>
          <a:solidFill>
            <a:srgbClr val="2A9FD6"/>
          </a:solid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Semana 1</a:t>
            </a:r>
            <a:endParaRPr lang="en-US" sz="1300" dirty="0"/>
          </a:p>
        </p:txBody>
      </p:sp>
      <p:sp>
        <p:nvSpPr>
          <p:cNvPr id="7" name="Text 4"/>
          <p:cNvSpPr txBox="1"/>
          <p:nvPr/>
        </p:nvSpPr>
        <p:spPr>
          <a:xfrm>
            <a:off x="822960" y="2468880"/>
            <a:ext cx="3017520" cy="45720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Descobrir</a:t>
            </a:r>
            <a:endParaRPr lang="en-US" sz="2200" dirty="0"/>
          </a:p>
        </p:txBody>
      </p:sp>
      <p:sp>
        <p:nvSpPr>
          <p:cNvPr id="8" name="Text 5"/>
          <p:cNvSpPr txBox="1"/>
          <p:nvPr/>
        </p:nvSpPr>
        <p:spPr>
          <a:xfrm>
            <a:off x="822960" y="2971800"/>
            <a:ext cx="3017520" cy="411480"/>
          </a:xfrm>
          <a:prstGeom prst="rect">
            <a:avLst/>
          </a:prstGeom>
          <a:noFill/>
          <a:ln/>
        </p:spPr>
        <p:txBody>
          <a:bodyPr wrap="square" lIns="0" tIns="0" rIns="0" bIns="0" rtlCol="0" anchor="t"/>
          <a:lstStyle/>
          <a:p>
            <a:pPr indent="0" marL="0">
              <a:buNone/>
            </a:pPr>
            <a:r>
              <a:rPr lang="en-US" sz="1400" b="1" dirty="0">
                <a:solidFill>
                  <a:srgbClr val="2A9FD6"/>
                </a:solidFill>
                <a:latin typeface="Calibri" pitchFamily="34" charset="0"/>
                <a:ea typeface="Calibri" pitchFamily="34" charset="-122"/>
                <a:cs typeface="Calibri" pitchFamily="34" charset="-120"/>
              </a:rPr>
              <a:t>Geografia e Ciências</a:t>
            </a:r>
            <a:endParaRPr lang="en-US" sz="1400" dirty="0"/>
          </a:p>
        </p:txBody>
      </p:sp>
      <p:sp>
        <p:nvSpPr>
          <p:cNvPr id="9" name="Text 6"/>
          <p:cNvSpPr txBox="1"/>
          <p:nvPr/>
        </p:nvSpPr>
        <p:spPr>
          <a:xfrm>
            <a:off x="822960" y="3474720"/>
            <a:ext cx="3017520" cy="1691640"/>
          </a:xfrm>
          <a:prstGeom prst="rect">
            <a:avLst/>
          </a:prstGeom>
          <a:noFill/>
          <a:ln/>
        </p:spPr>
        <p:txBody>
          <a:bodyPr wrap="square" lIns="0" tIns="0" rIns="0" bIns="0" rtlCol="0" anchor="t"/>
          <a:lstStyle/>
          <a:p>
            <a:pPr indent="0" marL="0">
              <a:buNone/>
            </a:pPr>
            <a:r>
              <a:rPr lang="en-US" sz="1700" dirty="0">
                <a:solidFill>
                  <a:srgbClr val="4A5A73"/>
                </a:solidFill>
                <a:latin typeface="Calibri" pitchFamily="34" charset="0"/>
                <a:ea typeface="Calibri" pitchFamily="34" charset="-122"/>
                <a:cs typeface="Calibri" pitchFamily="34" charset="-120"/>
              </a:rPr>
              <a:t>Base teórica, experimento de infiltração e maquete de encosta.</a:t>
            </a:r>
            <a:endParaRPr lang="en-US" sz="1700" dirty="0"/>
          </a:p>
        </p:txBody>
      </p:sp>
      <p:sp>
        <p:nvSpPr>
          <p:cNvPr id="10" name="Shape 7"/>
          <p:cNvSpPr/>
          <p:nvPr/>
        </p:nvSpPr>
        <p:spPr>
          <a:xfrm>
            <a:off x="4343400" y="1783080"/>
            <a:ext cx="3520440" cy="352044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1" name="Text 8"/>
          <p:cNvSpPr txBox="1"/>
          <p:nvPr/>
        </p:nvSpPr>
        <p:spPr>
          <a:xfrm>
            <a:off x="4617720" y="1965960"/>
            <a:ext cx="1554480" cy="329184"/>
          </a:xfrm>
          <a:prstGeom prst="roundRect">
            <a:avLst>
              <a:gd name="adj" fmla="val 50000"/>
            </a:avLst>
          </a:prstGeom>
          <a:solidFill>
            <a:srgbClr val="E57A2E"/>
          </a:solid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Semana 2</a:t>
            </a:r>
            <a:endParaRPr lang="en-US" sz="1300" dirty="0"/>
          </a:p>
        </p:txBody>
      </p:sp>
      <p:sp>
        <p:nvSpPr>
          <p:cNvPr id="12" name="Text 9"/>
          <p:cNvSpPr txBox="1"/>
          <p:nvPr/>
        </p:nvSpPr>
        <p:spPr>
          <a:xfrm>
            <a:off x="4617720" y="2468880"/>
            <a:ext cx="3017520" cy="45720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Jogar e investigar</a:t>
            </a:r>
            <a:endParaRPr lang="en-US" sz="2200" dirty="0"/>
          </a:p>
        </p:txBody>
      </p:sp>
      <p:sp>
        <p:nvSpPr>
          <p:cNvPr id="13" name="Text 10"/>
          <p:cNvSpPr txBox="1"/>
          <p:nvPr/>
        </p:nvSpPr>
        <p:spPr>
          <a:xfrm>
            <a:off x="4617720" y="2971800"/>
            <a:ext cx="3017520" cy="411480"/>
          </a:xfrm>
          <a:prstGeom prst="rect">
            <a:avLst/>
          </a:prstGeom>
          <a:noFill/>
          <a:ln/>
        </p:spPr>
        <p:txBody>
          <a:bodyPr wrap="square" lIns="0" tIns="0" rIns="0" bIns="0" rtlCol="0" anchor="t"/>
          <a:lstStyle/>
          <a:p>
            <a:pPr indent="0" marL="0">
              <a:buNone/>
            </a:pPr>
            <a:r>
              <a:rPr lang="en-US" sz="1400" b="1" dirty="0">
                <a:solidFill>
                  <a:srgbClr val="E57A2E"/>
                </a:solidFill>
                <a:latin typeface="Calibri" pitchFamily="34" charset="0"/>
                <a:ea typeface="Calibri" pitchFamily="34" charset="-122"/>
                <a:cs typeface="Calibri" pitchFamily="34" charset="-120"/>
              </a:rPr>
              <a:t>Geografia e Matemática</a:t>
            </a:r>
            <a:endParaRPr lang="en-US" sz="1400" dirty="0"/>
          </a:p>
        </p:txBody>
      </p:sp>
      <p:sp>
        <p:nvSpPr>
          <p:cNvPr id="14" name="Text 11"/>
          <p:cNvSpPr txBox="1"/>
          <p:nvPr/>
        </p:nvSpPr>
        <p:spPr>
          <a:xfrm>
            <a:off x="4617720" y="3474720"/>
            <a:ext cx="3017520" cy="1691640"/>
          </a:xfrm>
          <a:prstGeom prst="rect">
            <a:avLst/>
          </a:prstGeom>
          <a:noFill/>
          <a:ln/>
        </p:spPr>
        <p:txBody>
          <a:bodyPr wrap="square" lIns="0" tIns="0" rIns="0" bIns="0" rtlCol="0" anchor="t"/>
          <a:lstStyle/>
          <a:p>
            <a:pPr indent="0" marL="0">
              <a:buNone/>
            </a:pPr>
            <a:r>
              <a:rPr lang="en-US" sz="1700" dirty="0">
                <a:solidFill>
                  <a:srgbClr val="4A5A73"/>
                </a:solidFill>
                <a:latin typeface="Calibri" pitchFamily="34" charset="0"/>
                <a:ea typeface="Calibri" pitchFamily="34" charset="-122"/>
                <a:cs typeface="Calibri" pitchFamily="34" charset="-120"/>
              </a:rPr>
              <a:t>Jogo em duplas, gráficos, porcentagens e mapa de riscos.</a:t>
            </a:r>
            <a:endParaRPr lang="en-US" sz="1700" dirty="0"/>
          </a:p>
        </p:txBody>
      </p:sp>
      <p:sp>
        <p:nvSpPr>
          <p:cNvPr id="15" name="Shape 12"/>
          <p:cNvSpPr/>
          <p:nvPr/>
        </p:nvSpPr>
        <p:spPr>
          <a:xfrm>
            <a:off x="8138160" y="1783080"/>
            <a:ext cx="3520440" cy="352044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6" name="Text 13"/>
          <p:cNvSpPr txBox="1"/>
          <p:nvPr/>
        </p:nvSpPr>
        <p:spPr>
          <a:xfrm>
            <a:off x="8412480" y="1965960"/>
            <a:ext cx="1554480" cy="329184"/>
          </a:xfrm>
          <a:prstGeom prst="roundRect">
            <a:avLst>
              <a:gd name="adj" fmla="val 50000"/>
            </a:avLst>
          </a:prstGeom>
          <a:solidFill>
            <a:srgbClr val="2FA36B"/>
          </a:solid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Semana 3</a:t>
            </a:r>
            <a:endParaRPr lang="en-US" sz="1300" dirty="0"/>
          </a:p>
        </p:txBody>
      </p:sp>
      <p:sp>
        <p:nvSpPr>
          <p:cNvPr id="17" name="Text 14"/>
          <p:cNvSpPr txBox="1"/>
          <p:nvPr/>
        </p:nvSpPr>
        <p:spPr>
          <a:xfrm>
            <a:off x="8412480" y="2468880"/>
            <a:ext cx="3017520" cy="457200"/>
          </a:xfrm>
          <a:prstGeom prst="rect">
            <a:avLst/>
          </a:prstGeom>
          <a:noFill/>
          <a:ln/>
        </p:spPr>
        <p:txBody>
          <a:bodyPr wrap="square" lIns="0" tIns="0" rIns="0" bIns="0" rtlCol="0" anchor="t"/>
          <a:lstStyle/>
          <a:p>
            <a:pPr indent="0" marL="0">
              <a:buNone/>
            </a:pPr>
            <a:r>
              <a:rPr lang="en-US" sz="2200" b="1" dirty="0">
                <a:solidFill>
                  <a:srgbClr val="14213D"/>
                </a:solidFill>
                <a:latin typeface="Calibri" pitchFamily="34" charset="0"/>
                <a:ea typeface="Calibri" pitchFamily="34" charset="-122"/>
                <a:cs typeface="Calibri" pitchFamily="34" charset="-120"/>
              </a:rPr>
              <a:t>Comunicar</a:t>
            </a:r>
            <a:endParaRPr lang="en-US" sz="2200" dirty="0"/>
          </a:p>
        </p:txBody>
      </p:sp>
      <p:sp>
        <p:nvSpPr>
          <p:cNvPr id="18" name="Text 15"/>
          <p:cNvSpPr txBox="1"/>
          <p:nvPr/>
        </p:nvSpPr>
        <p:spPr>
          <a:xfrm>
            <a:off x="8412480" y="2971800"/>
            <a:ext cx="3017520" cy="411480"/>
          </a:xfrm>
          <a:prstGeom prst="rect">
            <a:avLst/>
          </a:prstGeom>
          <a:noFill/>
          <a:ln/>
        </p:spPr>
        <p:txBody>
          <a:bodyPr wrap="square" lIns="0" tIns="0" rIns="0" bIns="0" rtlCol="0" anchor="t"/>
          <a:lstStyle/>
          <a:p>
            <a:pPr indent="0" marL="0">
              <a:buNone/>
            </a:pPr>
            <a:r>
              <a:rPr lang="en-US" sz="1400" b="1" dirty="0">
                <a:solidFill>
                  <a:srgbClr val="2FA36B"/>
                </a:solidFill>
                <a:latin typeface="Calibri" pitchFamily="34" charset="0"/>
                <a:ea typeface="Calibri" pitchFamily="34" charset="-122"/>
                <a:cs typeface="Calibri" pitchFamily="34" charset="-120"/>
              </a:rPr>
              <a:t>Língua Portuguesa e Artes</a:t>
            </a:r>
            <a:endParaRPr lang="en-US" sz="1400" dirty="0"/>
          </a:p>
        </p:txBody>
      </p:sp>
      <p:sp>
        <p:nvSpPr>
          <p:cNvPr id="19" name="Text 16"/>
          <p:cNvSpPr txBox="1"/>
          <p:nvPr/>
        </p:nvSpPr>
        <p:spPr>
          <a:xfrm>
            <a:off x="8412480" y="3474720"/>
            <a:ext cx="3017520" cy="1691640"/>
          </a:xfrm>
          <a:prstGeom prst="rect">
            <a:avLst/>
          </a:prstGeom>
          <a:noFill/>
          <a:ln/>
        </p:spPr>
        <p:txBody>
          <a:bodyPr wrap="square" lIns="0" tIns="0" rIns="0" bIns="0" rtlCol="0" anchor="t"/>
          <a:lstStyle/>
          <a:p>
            <a:pPr indent="0" marL="0">
              <a:buNone/>
            </a:pPr>
            <a:r>
              <a:rPr lang="en-US" sz="1700" dirty="0">
                <a:solidFill>
                  <a:srgbClr val="4A5A73"/>
                </a:solidFill>
                <a:latin typeface="Calibri" pitchFamily="34" charset="0"/>
                <a:ea typeface="Calibri" pitchFamily="34" charset="-122"/>
                <a:cs typeface="Calibri" pitchFamily="34" charset="-120"/>
              </a:rPr>
              <a:t>Campanha (cartaz, podcast, vídeo), debate e mostra final.</a:t>
            </a:r>
            <a:endParaRPr lang="en-US" sz="1700" dirty="0"/>
          </a:p>
        </p:txBody>
      </p:sp>
      <p:sp>
        <p:nvSpPr>
          <p:cNvPr id="20" name="Shape 17"/>
          <p:cNvSpPr/>
          <p:nvPr/>
        </p:nvSpPr>
        <p:spPr>
          <a:xfrm>
            <a:off x="548640" y="5532120"/>
            <a:ext cx="11064240" cy="731520"/>
          </a:xfrm>
          <a:prstGeom prst="roundRect">
            <a:avLst>
              <a:gd name="adj" fmla="val 20000"/>
            </a:avLst>
          </a:prstGeom>
          <a:solidFill>
            <a:srgbClr val="0F1B2E"/>
          </a:solidFill>
          <a:ln w="12700">
            <a:solidFill>
              <a:srgbClr val="0F1B2E"/>
            </a:solidFill>
            <a:prstDash val="solid"/>
          </a:ln>
        </p:spPr>
      </p:sp>
      <p:sp>
        <p:nvSpPr>
          <p:cNvPr id="21" name="Text 18"/>
          <p:cNvSpPr txBox="1"/>
          <p:nvPr/>
        </p:nvSpPr>
        <p:spPr>
          <a:xfrm>
            <a:off x="822960" y="5532120"/>
            <a:ext cx="1051560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Produto final: mostra na escola. Papel da Defesa Civil e da pesquisa: devolutiva técnica dos mapas de risco.</a:t>
            </a:r>
            <a:endParaRPr lang="en-US" sz="17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D64545"/>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MODELO D</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Semana de prevenção com a Defesa Civil</a:t>
            </a:r>
            <a:endParaRPr lang="en-US" sz="3400" dirty="0"/>
          </a:p>
        </p:txBody>
      </p:sp>
      <p:sp>
        <p:nvSpPr>
          <p:cNvPr id="5" name="Shape 2"/>
          <p:cNvSpPr/>
          <p:nvPr/>
        </p:nvSpPr>
        <p:spPr>
          <a:xfrm>
            <a:off x="548640" y="1783080"/>
            <a:ext cx="5440680" cy="1417320"/>
          </a:xfrm>
          <a:prstGeom prst="roundRect">
            <a:avLst>
              <a:gd name="adj" fmla="val 1032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822960" y="2103120"/>
            <a:ext cx="777240" cy="777240"/>
          </a:xfrm>
          <a:prstGeom prst="ellipse">
            <a:avLst/>
          </a:prstGeom>
          <a:solidFill>
            <a:srgbClr val="2A9FD6"/>
          </a:solidFill>
          <a:ln w="12700">
            <a:solidFill>
              <a:srgbClr val="2A9FD6"/>
            </a:solidFill>
            <a:prstDash val="solid"/>
          </a:ln>
        </p:spPr>
      </p:sp>
      <p:pic>
        <p:nvPicPr>
          <p:cNvPr id="7" name="Image 0" descr="art/icons/Bullhorn_w.png">    </p:cNvPr>
          <p:cNvPicPr>
            <a:picLocks noChangeAspect="1"/>
          </p:cNvPicPr>
          <p:nvPr/>
        </p:nvPicPr>
        <p:blipFill>
          <a:blip r:embed="rId1"/>
          <a:stretch>
            <a:fillRect/>
          </a:stretch>
        </p:blipFill>
        <p:spPr>
          <a:xfrm>
            <a:off x="1009498" y="2289658"/>
            <a:ext cx="404165" cy="404165"/>
          </a:xfrm>
          <a:prstGeom prst="rect">
            <a:avLst/>
          </a:prstGeom>
        </p:spPr>
      </p:pic>
      <p:sp>
        <p:nvSpPr>
          <p:cNvPr id="8" name="Text 4"/>
          <p:cNvSpPr txBox="1"/>
          <p:nvPr/>
        </p:nvSpPr>
        <p:spPr>
          <a:xfrm>
            <a:off x="1828800" y="1783080"/>
            <a:ext cx="4023360" cy="141732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Palestra ou conversa com agente da Defesa Civil</a:t>
            </a:r>
            <a:endParaRPr lang="en-US" sz="1800" dirty="0"/>
          </a:p>
        </p:txBody>
      </p:sp>
      <p:sp>
        <p:nvSpPr>
          <p:cNvPr id="9" name="Shape 5"/>
          <p:cNvSpPr/>
          <p:nvPr/>
        </p:nvSpPr>
        <p:spPr>
          <a:xfrm>
            <a:off x="6172200" y="1783080"/>
            <a:ext cx="5440680" cy="1417320"/>
          </a:xfrm>
          <a:prstGeom prst="roundRect">
            <a:avLst>
              <a:gd name="adj" fmla="val 1032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0" name="Shape 6"/>
          <p:cNvSpPr/>
          <p:nvPr/>
        </p:nvSpPr>
        <p:spPr>
          <a:xfrm>
            <a:off x="6446520" y="2103120"/>
            <a:ext cx="777240" cy="777240"/>
          </a:xfrm>
          <a:prstGeom prst="ellipse">
            <a:avLst/>
          </a:prstGeom>
          <a:solidFill>
            <a:srgbClr val="E57A2E"/>
          </a:solidFill>
          <a:ln w="12700">
            <a:solidFill>
              <a:srgbClr val="E57A2E"/>
            </a:solidFill>
            <a:prstDash val="solid"/>
          </a:ln>
        </p:spPr>
      </p:sp>
      <p:pic>
        <p:nvPicPr>
          <p:cNvPr id="11" name="Image 1" descr="art/icons/Gamepad_w.png">    </p:cNvPr>
          <p:cNvPicPr>
            <a:picLocks noChangeAspect="1"/>
          </p:cNvPicPr>
          <p:nvPr/>
        </p:nvPicPr>
        <p:blipFill>
          <a:blip r:embed="rId2"/>
          <a:stretch>
            <a:fillRect/>
          </a:stretch>
        </p:blipFill>
        <p:spPr>
          <a:xfrm>
            <a:off x="6633058" y="2289658"/>
            <a:ext cx="404165" cy="404165"/>
          </a:xfrm>
          <a:prstGeom prst="rect">
            <a:avLst/>
          </a:prstGeom>
        </p:spPr>
      </p:pic>
      <p:sp>
        <p:nvSpPr>
          <p:cNvPr id="12" name="Text 7"/>
          <p:cNvSpPr txBox="1"/>
          <p:nvPr/>
        </p:nvSpPr>
        <p:spPr>
          <a:xfrm>
            <a:off x="7452360" y="1783080"/>
            <a:ext cx="4023360" cy="141732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HIDRO como estação de aprendizagem</a:t>
            </a:r>
            <a:endParaRPr lang="en-US" sz="1800" dirty="0"/>
          </a:p>
        </p:txBody>
      </p:sp>
      <p:sp>
        <p:nvSpPr>
          <p:cNvPr id="13" name="Shape 8"/>
          <p:cNvSpPr/>
          <p:nvPr/>
        </p:nvSpPr>
        <p:spPr>
          <a:xfrm>
            <a:off x="548640" y="3383280"/>
            <a:ext cx="5440680" cy="1417320"/>
          </a:xfrm>
          <a:prstGeom prst="roundRect">
            <a:avLst>
              <a:gd name="adj" fmla="val 1032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4" name="Shape 9"/>
          <p:cNvSpPr/>
          <p:nvPr/>
        </p:nvSpPr>
        <p:spPr>
          <a:xfrm>
            <a:off x="822960" y="3703320"/>
            <a:ext cx="777240" cy="777240"/>
          </a:xfrm>
          <a:prstGeom prst="ellipse">
            <a:avLst/>
          </a:prstGeom>
          <a:solidFill>
            <a:srgbClr val="2FA36B"/>
          </a:solidFill>
          <a:ln w="12700">
            <a:solidFill>
              <a:srgbClr val="2FA36B"/>
            </a:solidFill>
            <a:prstDash val="solid"/>
          </a:ln>
        </p:spPr>
      </p:sp>
      <p:pic>
        <p:nvPicPr>
          <p:cNvPr id="15" name="Image 2" descr="art/icons/Map_w.png">    </p:cNvPr>
          <p:cNvPicPr>
            <a:picLocks noChangeAspect="1"/>
          </p:cNvPicPr>
          <p:nvPr/>
        </p:nvPicPr>
        <p:blipFill>
          <a:blip r:embed="rId3"/>
          <a:stretch>
            <a:fillRect/>
          </a:stretch>
        </p:blipFill>
        <p:spPr>
          <a:xfrm>
            <a:off x="1009498" y="3889858"/>
            <a:ext cx="404165" cy="404165"/>
          </a:xfrm>
          <a:prstGeom prst="rect">
            <a:avLst/>
          </a:prstGeom>
        </p:spPr>
      </p:pic>
      <p:sp>
        <p:nvSpPr>
          <p:cNvPr id="16" name="Text 10"/>
          <p:cNvSpPr txBox="1"/>
          <p:nvPr/>
        </p:nvSpPr>
        <p:spPr>
          <a:xfrm>
            <a:off x="1828800" y="3383280"/>
            <a:ext cx="4023360" cy="141732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Exposição dos mapas de riscos dos estudantes</a:t>
            </a:r>
            <a:endParaRPr lang="en-US" sz="1800" dirty="0"/>
          </a:p>
        </p:txBody>
      </p:sp>
      <p:sp>
        <p:nvSpPr>
          <p:cNvPr id="17" name="Shape 11"/>
          <p:cNvSpPr/>
          <p:nvPr/>
        </p:nvSpPr>
        <p:spPr>
          <a:xfrm>
            <a:off x="6172200" y="3383280"/>
            <a:ext cx="5440680" cy="1417320"/>
          </a:xfrm>
          <a:prstGeom prst="roundRect">
            <a:avLst>
              <a:gd name="adj" fmla="val 10323"/>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8" name="Shape 12"/>
          <p:cNvSpPr/>
          <p:nvPr/>
        </p:nvSpPr>
        <p:spPr>
          <a:xfrm>
            <a:off x="6446520" y="3703320"/>
            <a:ext cx="777240" cy="777240"/>
          </a:xfrm>
          <a:prstGeom prst="ellipse">
            <a:avLst/>
          </a:prstGeom>
          <a:solidFill>
            <a:srgbClr val="D64545"/>
          </a:solidFill>
          <a:ln w="12700">
            <a:solidFill>
              <a:srgbClr val="D64545"/>
            </a:solidFill>
            <a:prstDash val="solid"/>
          </a:ln>
        </p:spPr>
      </p:sp>
      <p:pic>
        <p:nvPicPr>
          <p:cNvPr id="19" name="Image 3" descr="art/icons/PersonWalkingArrowRight_w.png">    </p:cNvPr>
          <p:cNvPicPr>
            <a:picLocks noChangeAspect="1"/>
          </p:cNvPicPr>
          <p:nvPr/>
        </p:nvPicPr>
        <p:blipFill>
          <a:blip r:embed="rId4"/>
          <a:stretch>
            <a:fillRect/>
          </a:stretch>
        </p:blipFill>
        <p:spPr>
          <a:xfrm>
            <a:off x="6633058" y="3889858"/>
            <a:ext cx="404165" cy="404165"/>
          </a:xfrm>
          <a:prstGeom prst="rect">
            <a:avLst/>
          </a:prstGeom>
        </p:spPr>
      </p:pic>
      <p:sp>
        <p:nvSpPr>
          <p:cNvPr id="20" name="Text 13"/>
          <p:cNvSpPr txBox="1"/>
          <p:nvPr/>
        </p:nvSpPr>
        <p:spPr>
          <a:xfrm>
            <a:off x="7452360" y="3383280"/>
            <a:ext cx="4023360" cy="141732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Simulado de evacuação conduzido pela escola com a Defesa Civil (quando existir)</a:t>
            </a:r>
            <a:endParaRPr lang="en-US" sz="1800" dirty="0"/>
          </a:p>
        </p:txBody>
      </p:sp>
      <p:sp>
        <p:nvSpPr>
          <p:cNvPr id="21" name="Shape 14"/>
          <p:cNvSpPr/>
          <p:nvPr/>
        </p:nvSpPr>
        <p:spPr>
          <a:xfrm>
            <a:off x="548640" y="5074920"/>
            <a:ext cx="11064240" cy="1143000"/>
          </a:xfrm>
          <a:prstGeom prst="roundRect">
            <a:avLst>
              <a:gd name="adj" fmla="val 12800"/>
            </a:avLst>
          </a:prstGeom>
          <a:solidFill>
            <a:srgbClr val="E5533D"/>
          </a:solidFill>
          <a:ln w="12700">
            <a:solidFill>
              <a:srgbClr val="E5533D"/>
            </a:solidFill>
            <a:prstDash val="solid"/>
          </a:ln>
        </p:spPr>
      </p:sp>
      <p:sp>
        <p:nvSpPr>
          <p:cNvPr id="22" name="Text 15"/>
          <p:cNvSpPr txBox="1"/>
          <p:nvPr/>
        </p:nvSpPr>
        <p:spPr>
          <a:xfrm>
            <a:off x="822960" y="5074920"/>
            <a:ext cx="10515600" cy="11430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O jogo prepara o terreno, mas não substitui o simulado real nem as orientações da Defesa Civil local.</a:t>
            </a:r>
            <a:endParaRPr lang="en-US" sz="19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705356"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MODELOS E E F</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Formação e projetos de longo prazo</a:t>
            </a:r>
            <a:endParaRPr lang="en-US" sz="3400" dirty="0"/>
          </a:p>
        </p:txBody>
      </p:sp>
      <p:sp>
        <p:nvSpPr>
          <p:cNvPr id="5" name="Shape 2"/>
          <p:cNvSpPr/>
          <p:nvPr/>
        </p:nvSpPr>
        <p:spPr>
          <a:xfrm>
            <a:off x="548640" y="1783080"/>
            <a:ext cx="5440680" cy="4434840"/>
          </a:xfrm>
          <a:prstGeom prst="roundRect">
            <a:avLst>
              <a:gd name="adj" fmla="val 329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822960" y="1965960"/>
            <a:ext cx="777240" cy="777240"/>
          </a:xfrm>
          <a:prstGeom prst="ellipse">
            <a:avLst/>
          </a:prstGeom>
          <a:solidFill>
            <a:srgbClr val="1B2C4A"/>
          </a:solidFill>
          <a:ln w="12700">
            <a:solidFill>
              <a:srgbClr val="1B2C4A"/>
            </a:solidFill>
            <a:prstDash val="solid"/>
          </a:ln>
        </p:spPr>
      </p:sp>
      <p:pic>
        <p:nvPicPr>
          <p:cNvPr id="7" name="Image 0" descr="art/icons/PeopleGroup_w.png">    </p:cNvPr>
          <p:cNvPicPr>
            <a:picLocks noChangeAspect="1"/>
          </p:cNvPicPr>
          <p:nvPr/>
        </p:nvPicPr>
        <p:blipFill>
          <a:blip r:embed="rId1"/>
          <a:stretch>
            <a:fillRect/>
          </a:stretch>
        </p:blipFill>
        <p:spPr>
          <a:xfrm>
            <a:off x="1009498" y="2152498"/>
            <a:ext cx="404165" cy="404165"/>
          </a:xfrm>
          <a:prstGeom prst="rect">
            <a:avLst/>
          </a:prstGeom>
        </p:spPr>
      </p:pic>
      <p:sp>
        <p:nvSpPr>
          <p:cNvPr id="8" name="Text 4"/>
          <p:cNvSpPr txBox="1"/>
          <p:nvPr/>
        </p:nvSpPr>
        <p:spPr>
          <a:xfrm>
            <a:off x="1828800" y="1920240"/>
            <a:ext cx="4023360" cy="86868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E. Formação de professores e equipes escolares</a:t>
            </a:r>
            <a:endParaRPr lang="en-US" sz="1800" dirty="0"/>
          </a:p>
        </p:txBody>
      </p:sp>
      <p:sp>
        <p:nvSpPr>
          <p:cNvPr id="9" name="Text 5"/>
          <p:cNvSpPr txBox="1"/>
          <p:nvPr/>
        </p:nvSpPr>
        <p:spPr>
          <a:xfrm>
            <a:off x="868680" y="3017520"/>
            <a:ext cx="4846320" cy="3108960"/>
          </a:xfrm>
          <a:prstGeom prst="rect">
            <a:avLst/>
          </a:prstGeom>
          <a:noFill/>
          <a:ln/>
        </p:spPr>
        <p:txBody>
          <a:bodyPr wrap="square" lIns="0" tIns="0" rIns="0" bIns="0" rtlCol="0" anchor="t"/>
          <a:lstStyle/>
          <a:p>
            <a:pPr marL="203200" indent="-203200">
              <a:spcAft>
                <a:spcPts val="1200"/>
              </a:spcAft>
              <a:buSzPct val="100000"/>
              <a:buChar char="•"/>
            </a:pPr>
            <a:r>
              <a:rPr lang="en-US" sz="1800" dirty="0">
                <a:solidFill>
                  <a:srgbClr val="14213D"/>
                </a:solidFill>
                <a:latin typeface="Calibri" pitchFamily="34" charset="0"/>
                <a:ea typeface="Calibri" pitchFamily="34" charset="-122"/>
                <a:cs typeface="Calibri" pitchFamily="34" charset="-120"/>
              </a:rPr>
              <a:t>Agentes e pesquisadores como formadores</a:t>
            </a:r>
            <a:endParaRPr lang="en-US" sz="1800" dirty="0"/>
          </a:p>
          <a:p>
            <a:pPr marL="203200" indent="-203200">
              <a:spcAft>
                <a:spcPts val="1200"/>
              </a:spcAft>
              <a:buSzPct val="100000"/>
              <a:buChar char="•"/>
            </a:pPr>
            <a:r>
              <a:rPr lang="en-US" sz="1800" dirty="0">
                <a:solidFill>
                  <a:srgbClr val="14213D"/>
                </a:solidFill>
                <a:latin typeface="Calibri" pitchFamily="34" charset="0"/>
                <a:ea typeface="Calibri" pitchFamily="34" charset="-122"/>
                <a:cs typeface="Calibri" pitchFamily="34" charset="-120"/>
              </a:rPr>
              <a:t>Vivenciar o jogo como estudante</a:t>
            </a:r>
            <a:endParaRPr lang="en-US" sz="1800" dirty="0"/>
          </a:p>
          <a:p>
            <a:pPr marL="203200" indent="-203200">
              <a:spcAft>
                <a:spcPts val="1200"/>
              </a:spcAft>
              <a:buSzPct val="100000"/>
              <a:buChar char="•"/>
            </a:pPr>
            <a:r>
              <a:rPr lang="en-US" sz="1800" dirty="0">
                <a:solidFill>
                  <a:srgbClr val="14213D"/>
                </a:solidFill>
                <a:latin typeface="Calibri" pitchFamily="34" charset="0"/>
                <a:ea typeface="Calibri" pitchFamily="34" charset="-122"/>
                <a:cs typeface="Calibri" pitchFamily="34" charset="-120"/>
              </a:rPr>
              <a:t>Discutir a proposta pedagógica e a BNCC</a:t>
            </a:r>
            <a:endParaRPr lang="en-US" sz="1800" dirty="0"/>
          </a:p>
          <a:p>
            <a:pPr marL="203200" indent="-203200">
              <a:spcAft>
                <a:spcPts val="1200"/>
              </a:spcAft>
              <a:buSzPct val="100000"/>
              <a:buChar char="•"/>
            </a:pPr>
            <a:r>
              <a:rPr lang="en-US" sz="1800" dirty="0">
                <a:solidFill>
                  <a:srgbClr val="14213D"/>
                </a:solidFill>
                <a:latin typeface="Calibri" pitchFamily="34" charset="0"/>
                <a:ea typeface="Calibri" pitchFamily="34" charset="-122"/>
                <a:cs typeface="Calibri" pitchFamily="34" charset="-120"/>
              </a:rPr>
              <a:t>Articular com núcleos comunitários de defesa civil, onde existirem</a:t>
            </a:r>
            <a:endParaRPr lang="en-US" sz="1800" dirty="0"/>
          </a:p>
        </p:txBody>
      </p:sp>
      <p:sp>
        <p:nvSpPr>
          <p:cNvPr id="10" name="Shape 6"/>
          <p:cNvSpPr/>
          <p:nvPr/>
        </p:nvSpPr>
        <p:spPr>
          <a:xfrm>
            <a:off x="6172200" y="1783080"/>
            <a:ext cx="5440680" cy="4434840"/>
          </a:xfrm>
          <a:prstGeom prst="roundRect">
            <a:avLst>
              <a:gd name="adj" fmla="val 329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1" name="Shape 7"/>
          <p:cNvSpPr/>
          <p:nvPr/>
        </p:nvSpPr>
        <p:spPr>
          <a:xfrm>
            <a:off x="6446520" y="1965960"/>
            <a:ext cx="777240" cy="777240"/>
          </a:xfrm>
          <a:prstGeom prst="ellipse">
            <a:avLst/>
          </a:prstGeom>
          <a:solidFill>
            <a:srgbClr val="D9A21B"/>
          </a:solidFill>
          <a:ln w="12700">
            <a:solidFill>
              <a:srgbClr val="D9A21B"/>
            </a:solidFill>
            <a:prstDash val="solid"/>
          </a:ln>
        </p:spPr>
      </p:sp>
      <p:pic>
        <p:nvPicPr>
          <p:cNvPr id="12" name="Image 1" descr="art/icons/Star_n.png">    </p:cNvPr>
          <p:cNvPicPr>
            <a:picLocks noChangeAspect="1"/>
          </p:cNvPicPr>
          <p:nvPr/>
        </p:nvPicPr>
        <p:blipFill>
          <a:blip r:embed="rId2"/>
          <a:stretch>
            <a:fillRect/>
          </a:stretch>
        </p:blipFill>
        <p:spPr>
          <a:xfrm>
            <a:off x="6633058" y="2152498"/>
            <a:ext cx="404165" cy="404165"/>
          </a:xfrm>
          <a:prstGeom prst="rect">
            <a:avLst/>
          </a:prstGeom>
        </p:spPr>
      </p:pic>
      <p:sp>
        <p:nvSpPr>
          <p:cNvPr id="13" name="Text 8"/>
          <p:cNvSpPr txBox="1"/>
          <p:nvPr/>
        </p:nvSpPr>
        <p:spPr>
          <a:xfrm>
            <a:off x="7452360" y="1920240"/>
            <a:ext cx="4023360" cy="86868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F. Clube, eletiva ou turno integral</a:t>
            </a:r>
            <a:endParaRPr lang="en-US" sz="1800" dirty="0"/>
          </a:p>
        </p:txBody>
      </p:sp>
      <p:sp>
        <p:nvSpPr>
          <p:cNvPr id="14" name="Text 9"/>
          <p:cNvSpPr txBox="1"/>
          <p:nvPr/>
        </p:nvSpPr>
        <p:spPr>
          <a:xfrm>
            <a:off x="6492240" y="3017520"/>
            <a:ext cx="4846320" cy="3108960"/>
          </a:xfrm>
          <a:prstGeom prst="rect">
            <a:avLst/>
          </a:prstGeom>
          <a:noFill/>
          <a:ln/>
        </p:spPr>
        <p:txBody>
          <a:bodyPr wrap="square" lIns="0" tIns="0" rIns="0" bIns="0" rtlCol="0" anchor="t"/>
          <a:lstStyle/>
          <a:p>
            <a:pPr marL="203200" indent="-203200">
              <a:spcAft>
                <a:spcPts val="1200"/>
              </a:spcAft>
              <a:buSzPct val="100000"/>
              <a:buChar char="•"/>
            </a:pPr>
            <a:r>
              <a:rPr lang="en-US" sz="1800" dirty="0">
                <a:solidFill>
                  <a:srgbClr val="14213D"/>
                </a:solidFill>
                <a:latin typeface="Calibri" pitchFamily="34" charset="0"/>
                <a:ea typeface="Calibri" pitchFamily="34" charset="-122"/>
                <a:cs typeface="Calibri" pitchFamily="34" charset="-120"/>
              </a:rPr>
              <a:t>Trilhas de enriquecimento (mapas, SIG, vazão)</a:t>
            </a:r>
            <a:endParaRPr lang="en-US" sz="1800" dirty="0"/>
          </a:p>
          <a:p>
            <a:pPr marL="203200" indent="-203200">
              <a:spcAft>
                <a:spcPts val="1200"/>
              </a:spcAft>
              <a:buSzPct val="100000"/>
              <a:buChar char="•"/>
            </a:pPr>
            <a:r>
              <a:rPr lang="en-US" sz="1800" dirty="0">
                <a:solidFill>
                  <a:srgbClr val="14213D"/>
                </a:solidFill>
                <a:latin typeface="Calibri" pitchFamily="34" charset="0"/>
                <a:ea typeface="Calibri" pitchFamily="34" charset="-122"/>
                <a:cs typeface="Calibri" pitchFamily="34" charset="-120"/>
              </a:rPr>
              <a:t>Projeto de diagnóstico de risco da escola</a:t>
            </a:r>
            <a:endParaRPr lang="en-US" sz="1800" dirty="0"/>
          </a:p>
          <a:p>
            <a:pPr marL="203200" indent="-203200">
              <a:spcAft>
                <a:spcPts val="1200"/>
              </a:spcAft>
              <a:buSzPct val="100000"/>
              <a:buChar char="•"/>
            </a:pPr>
            <a:r>
              <a:rPr lang="en-US" sz="1800" dirty="0">
                <a:solidFill>
                  <a:srgbClr val="14213D"/>
                </a:solidFill>
                <a:latin typeface="Calibri" pitchFamily="34" charset="0"/>
                <a:ea typeface="Calibri" pitchFamily="34" charset="-122"/>
                <a:cs typeface="Calibri" pitchFamily="34" charset="-120"/>
              </a:rPr>
              <a:t>Criação de fase e de quiz (em papel)</a:t>
            </a:r>
            <a:endParaRPr lang="en-US" sz="1800" dirty="0"/>
          </a:p>
          <a:p>
            <a:pPr marL="203200" indent="-203200">
              <a:spcAft>
                <a:spcPts val="1200"/>
              </a:spcAft>
              <a:buSzPct val="100000"/>
              <a:buChar char="•"/>
            </a:pPr>
            <a:r>
              <a:rPr lang="en-US" sz="1800" dirty="0">
                <a:solidFill>
                  <a:srgbClr val="14213D"/>
                </a:solidFill>
                <a:latin typeface="Calibri" pitchFamily="34" charset="0"/>
                <a:ea typeface="Calibri" pitchFamily="34" charset="-122"/>
                <a:cs typeface="Calibri" pitchFamily="34" charset="-120"/>
              </a:rPr>
              <a:t>Estudantes como monitores das oficinas</a:t>
            </a:r>
            <a:endParaRPr lang="en-US" sz="18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D9A21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BNCC</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Para conversar com as escolas: a BNCC</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822960"/>
                <a:gridCol w="2103120"/>
                <a:gridCol w="3108960"/>
                <a:gridCol w="502920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Ano</a:t>
                      </a:r>
                      <a:endParaRPr lang="en-US" sz="14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0F1B2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Componente</a:t>
                      </a:r>
                      <a:endParaRPr lang="en-US" sz="14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0F1B2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Habilidade</a:t>
                      </a:r>
                      <a:endParaRPr lang="en-US" sz="14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0F1B2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Em resumo</a:t>
                      </a:r>
                      <a:endParaRPr lang="en-US" sz="14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0F1B2E"/>
                    </a:solidFill>
                  </a:tcPr>
                </a:tc>
              </a:tr>
              <a:tr h="502920">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6º</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Geografia</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EF06GE04</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Ciclo da água e escoamento superficial urbano e rural</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6º</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Geografia</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EF06GE09, EF06GE12</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Modelos e perfis (maquete de encosta); recursos hídricos e ambientes urbanos</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6º</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Matemática</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EF06MA13, EF06MA32, EF06MA33</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Porcentagens; gráficos de dados ambientais; planilhas</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7º</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Geografia</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EF07GE09, EF07GE10</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Mapas temáticos (mapa de riscos) e gráficos</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7º</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Ciências e Matemática</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EF07CI08, EF07MA02</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Impactos de catástrofes naturais; porcentagens</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8º</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Ciências</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EF08CI16</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Iniciativas para o equilíbrio ambiental (debate)</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9º</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Ciências</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EF09CI13</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Propor iniciativas para problemas ambientais da comunidade (campanha)</a:t>
                      </a:r>
                      <a:endParaRPr lang="en-US" sz="1300" dirty="0">
                        <a:latin typeface="Calibri" charset="0"/>
                        <a:ea typeface="Calibri" charset="0"/>
                        <a:cs typeface="Calibri" charset="0"/>
                      </a:endParaRPr>
                    </a:p>
                  </a:txBody>
                  <a:tcPr marL="91440" marR="91440" marT="36576" marB="36576"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6035040"/>
            <a:ext cx="11064240" cy="457200"/>
          </a:xfrm>
          <a:prstGeom prst="rect">
            <a:avLst/>
          </a:prstGeom>
          <a:noFill/>
          <a:ln/>
        </p:spPr>
        <p:txBody>
          <a:bodyPr wrap="square" lIns="0" tIns="0" rIns="0" bIns="0" rtlCol="0" anchor="t"/>
          <a:lstStyle/>
          <a:p>
            <a:pPr indent="0" marL="0">
              <a:buNone/>
            </a:pPr>
            <a:r>
              <a:rPr lang="en-US" sz="1400" b="1" dirty="0">
                <a:solidFill>
                  <a:srgbClr val="000000"/>
                </a:solidFill>
                <a:latin typeface="Calibri" pitchFamily="34" charset="0"/>
                <a:ea typeface="Calibri" pitchFamily="34" charset="-122"/>
                <a:cs typeface="Calibri" pitchFamily="34" charset="-120"/>
              </a:rPr>
              <a:t>Competências Gerais 1, 2, 5, 7, 8, 9 e 10. Temas transversais: Meio Ambiente, Cidadania e Civismo, Ciência e Tecnologia.</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2FA36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ATIVIDADES</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Atividades para aplicar com os estudantes</a:t>
            </a:r>
            <a:endParaRPr lang="en-US" sz="3400" dirty="0"/>
          </a:p>
        </p:txBody>
      </p:sp>
      <p:sp>
        <p:nvSpPr>
          <p:cNvPr id="5" name="Shape 2"/>
          <p:cNvSpPr/>
          <p:nvPr/>
        </p:nvSpPr>
        <p:spPr>
          <a:xfrm>
            <a:off x="548640" y="169164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777240" y="174650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Chuva na maquete</a:t>
            </a:r>
            <a:endParaRPr lang="en-US" sz="1500" dirty="0"/>
          </a:p>
        </p:txBody>
      </p:sp>
      <p:sp>
        <p:nvSpPr>
          <p:cNvPr id="7" name="Text 4"/>
          <p:cNvSpPr txBox="1"/>
          <p:nvPr/>
        </p:nvSpPr>
        <p:spPr>
          <a:xfrm>
            <a:off x="777240" y="225856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6º e 7º</a:t>
            </a:r>
            <a:endParaRPr lang="en-US" sz="1300" dirty="0"/>
          </a:p>
        </p:txBody>
      </p:sp>
      <p:sp>
        <p:nvSpPr>
          <p:cNvPr id="8" name="Shape 5"/>
          <p:cNvSpPr/>
          <p:nvPr/>
        </p:nvSpPr>
        <p:spPr>
          <a:xfrm>
            <a:off x="4343400" y="169164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4572000" y="174650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Encosta em caixa</a:t>
            </a:r>
            <a:endParaRPr lang="en-US" sz="1500" dirty="0"/>
          </a:p>
        </p:txBody>
      </p:sp>
      <p:sp>
        <p:nvSpPr>
          <p:cNvPr id="10" name="Text 7"/>
          <p:cNvSpPr txBox="1"/>
          <p:nvPr/>
        </p:nvSpPr>
        <p:spPr>
          <a:xfrm>
            <a:off x="4572000" y="225856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6º ao 9º</a:t>
            </a:r>
            <a:endParaRPr lang="en-US" sz="1300" dirty="0"/>
          </a:p>
        </p:txBody>
      </p:sp>
      <p:sp>
        <p:nvSpPr>
          <p:cNvPr id="11" name="Shape 8"/>
          <p:cNvSpPr/>
          <p:nvPr/>
        </p:nvSpPr>
        <p:spPr>
          <a:xfrm>
            <a:off x="8138160" y="169164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2" name="Text 9"/>
          <p:cNvSpPr txBox="1"/>
          <p:nvPr/>
        </p:nvSpPr>
        <p:spPr>
          <a:xfrm>
            <a:off x="8366760" y="174650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Mapa de riscos do bairro</a:t>
            </a:r>
            <a:endParaRPr lang="en-US" sz="1500" dirty="0"/>
          </a:p>
        </p:txBody>
      </p:sp>
      <p:sp>
        <p:nvSpPr>
          <p:cNvPr id="13" name="Text 10"/>
          <p:cNvSpPr txBox="1"/>
          <p:nvPr/>
        </p:nvSpPr>
        <p:spPr>
          <a:xfrm>
            <a:off x="8366760" y="225856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6º ao 9º</a:t>
            </a:r>
            <a:endParaRPr lang="en-US" sz="1300" dirty="0"/>
          </a:p>
        </p:txBody>
      </p:sp>
      <p:sp>
        <p:nvSpPr>
          <p:cNvPr id="14" name="Shape 11"/>
          <p:cNvSpPr/>
          <p:nvPr/>
        </p:nvSpPr>
        <p:spPr>
          <a:xfrm>
            <a:off x="548640" y="274320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5" name="Text 12"/>
          <p:cNvSpPr txBox="1"/>
          <p:nvPr/>
        </p:nvSpPr>
        <p:spPr>
          <a:xfrm>
            <a:off x="777240" y="279806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Mito ou verdade (cartas)</a:t>
            </a:r>
            <a:endParaRPr lang="en-US" sz="1500" dirty="0"/>
          </a:p>
        </p:txBody>
      </p:sp>
      <p:sp>
        <p:nvSpPr>
          <p:cNvPr id="16" name="Text 13"/>
          <p:cNvSpPr txBox="1"/>
          <p:nvPr/>
        </p:nvSpPr>
        <p:spPr>
          <a:xfrm>
            <a:off x="777240" y="331012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6º ao 9º</a:t>
            </a:r>
            <a:endParaRPr lang="en-US" sz="1300" dirty="0"/>
          </a:p>
        </p:txBody>
      </p:sp>
      <p:sp>
        <p:nvSpPr>
          <p:cNvPr id="17" name="Shape 14"/>
          <p:cNvSpPr/>
          <p:nvPr/>
        </p:nvSpPr>
        <p:spPr>
          <a:xfrm>
            <a:off x="4343400" y="274320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8" name="Text 15"/>
          <p:cNvSpPr txBox="1"/>
          <p:nvPr/>
        </p:nvSpPr>
        <p:spPr>
          <a:xfrm>
            <a:off x="4572000" y="279806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Treino do protocolo (dramatização)</a:t>
            </a:r>
            <a:endParaRPr lang="en-US" sz="1500" dirty="0"/>
          </a:p>
        </p:txBody>
      </p:sp>
      <p:sp>
        <p:nvSpPr>
          <p:cNvPr id="19" name="Text 16"/>
          <p:cNvSpPr txBox="1"/>
          <p:nvPr/>
        </p:nvSpPr>
        <p:spPr>
          <a:xfrm>
            <a:off x="4572000" y="331012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6º ao 9º</a:t>
            </a:r>
            <a:endParaRPr lang="en-US" sz="1300" dirty="0"/>
          </a:p>
        </p:txBody>
      </p:sp>
      <p:sp>
        <p:nvSpPr>
          <p:cNvPr id="20" name="Shape 17"/>
          <p:cNvSpPr/>
          <p:nvPr/>
        </p:nvSpPr>
        <p:spPr>
          <a:xfrm>
            <a:off x="8138160" y="274320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1" name="Text 18"/>
          <p:cNvSpPr txBox="1"/>
          <p:nvPr/>
        </p:nvSpPr>
        <p:spPr>
          <a:xfrm>
            <a:off x="8366760" y="279806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Gráficos e porcentagens</a:t>
            </a:r>
            <a:endParaRPr lang="en-US" sz="1500" dirty="0"/>
          </a:p>
        </p:txBody>
      </p:sp>
      <p:sp>
        <p:nvSpPr>
          <p:cNvPr id="22" name="Text 19"/>
          <p:cNvSpPr txBox="1"/>
          <p:nvPr/>
        </p:nvSpPr>
        <p:spPr>
          <a:xfrm>
            <a:off x="8366760" y="331012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6º e 7º</a:t>
            </a:r>
            <a:endParaRPr lang="en-US" sz="1300" dirty="0"/>
          </a:p>
        </p:txBody>
      </p:sp>
      <p:sp>
        <p:nvSpPr>
          <p:cNvPr id="23" name="Shape 20"/>
          <p:cNvSpPr/>
          <p:nvPr/>
        </p:nvSpPr>
        <p:spPr>
          <a:xfrm>
            <a:off x="548640" y="379476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4" name="Text 21"/>
          <p:cNvSpPr txBox="1"/>
          <p:nvPr/>
        </p:nvSpPr>
        <p:spPr>
          <a:xfrm>
            <a:off x="777240" y="384962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Campanha de comunicação</a:t>
            </a:r>
            <a:endParaRPr lang="en-US" sz="1500" dirty="0"/>
          </a:p>
        </p:txBody>
      </p:sp>
      <p:sp>
        <p:nvSpPr>
          <p:cNvPr id="25" name="Text 22"/>
          <p:cNvSpPr txBox="1"/>
          <p:nvPr/>
        </p:nvSpPr>
        <p:spPr>
          <a:xfrm>
            <a:off x="777240" y="436168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7º ao 9º</a:t>
            </a:r>
            <a:endParaRPr lang="en-US" sz="1300" dirty="0"/>
          </a:p>
        </p:txBody>
      </p:sp>
      <p:sp>
        <p:nvSpPr>
          <p:cNvPr id="26" name="Shape 23"/>
          <p:cNvSpPr/>
          <p:nvPr/>
        </p:nvSpPr>
        <p:spPr>
          <a:xfrm>
            <a:off x="4343400" y="379476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27" name="Text 24"/>
          <p:cNvSpPr txBox="1"/>
          <p:nvPr/>
        </p:nvSpPr>
        <p:spPr>
          <a:xfrm>
            <a:off x="4572000" y="384962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Debate: quem faz o quê?</a:t>
            </a:r>
            <a:endParaRPr lang="en-US" sz="1500" dirty="0"/>
          </a:p>
        </p:txBody>
      </p:sp>
      <p:sp>
        <p:nvSpPr>
          <p:cNvPr id="28" name="Text 25"/>
          <p:cNvSpPr txBox="1"/>
          <p:nvPr/>
        </p:nvSpPr>
        <p:spPr>
          <a:xfrm>
            <a:off x="4572000" y="436168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8º e 9º</a:t>
            </a:r>
            <a:endParaRPr lang="en-US" sz="1300" dirty="0"/>
          </a:p>
        </p:txBody>
      </p:sp>
      <p:sp>
        <p:nvSpPr>
          <p:cNvPr id="29" name="Shape 26"/>
          <p:cNvSpPr/>
          <p:nvPr/>
        </p:nvSpPr>
        <p:spPr>
          <a:xfrm>
            <a:off x="8138160" y="379476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30" name="Text 27"/>
          <p:cNvSpPr txBox="1"/>
          <p:nvPr/>
        </p:nvSpPr>
        <p:spPr>
          <a:xfrm>
            <a:off x="8366760" y="384962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Cartão de Emergência da Família</a:t>
            </a:r>
            <a:endParaRPr lang="en-US" sz="1500" dirty="0"/>
          </a:p>
        </p:txBody>
      </p:sp>
      <p:sp>
        <p:nvSpPr>
          <p:cNvPr id="31" name="Text 28"/>
          <p:cNvSpPr txBox="1"/>
          <p:nvPr/>
        </p:nvSpPr>
        <p:spPr>
          <a:xfrm>
            <a:off x="8366760" y="436168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6º ao 9º</a:t>
            </a:r>
            <a:endParaRPr lang="en-US" sz="1300" dirty="0"/>
          </a:p>
        </p:txBody>
      </p:sp>
      <p:sp>
        <p:nvSpPr>
          <p:cNvPr id="32" name="Shape 29"/>
          <p:cNvSpPr/>
          <p:nvPr/>
        </p:nvSpPr>
        <p:spPr>
          <a:xfrm>
            <a:off x="548640" y="484632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33" name="Text 30"/>
          <p:cNvSpPr txBox="1"/>
          <p:nvPr/>
        </p:nvSpPr>
        <p:spPr>
          <a:xfrm>
            <a:off x="777240" y="490118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Diário do Hidro</a:t>
            </a:r>
            <a:endParaRPr lang="en-US" sz="1500" dirty="0"/>
          </a:p>
        </p:txBody>
      </p:sp>
      <p:sp>
        <p:nvSpPr>
          <p:cNvPr id="34" name="Text 31"/>
          <p:cNvSpPr txBox="1"/>
          <p:nvPr/>
        </p:nvSpPr>
        <p:spPr>
          <a:xfrm>
            <a:off x="777240" y="541324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6º ao 9º</a:t>
            </a:r>
            <a:endParaRPr lang="en-US" sz="1300" dirty="0"/>
          </a:p>
        </p:txBody>
      </p:sp>
      <p:sp>
        <p:nvSpPr>
          <p:cNvPr id="35" name="Shape 32"/>
          <p:cNvSpPr/>
          <p:nvPr/>
        </p:nvSpPr>
        <p:spPr>
          <a:xfrm>
            <a:off x="4343400" y="4846320"/>
            <a:ext cx="3520440" cy="9144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36" name="Text 33"/>
          <p:cNvSpPr txBox="1"/>
          <p:nvPr/>
        </p:nvSpPr>
        <p:spPr>
          <a:xfrm>
            <a:off x="4572000" y="4901184"/>
            <a:ext cx="3108960" cy="50292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Projeto: crie a sua fase</a:t>
            </a:r>
            <a:endParaRPr lang="en-US" sz="1500" dirty="0"/>
          </a:p>
        </p:txBody>
      </p:sp>
      <p:sp>
        <p:nvSpPr>
          <p:cNvPr id="37" name="Text 34"/>
          <p:cNvSpPr txBox="1"/>
          <p:nvPr/>
        </p:nvSpPr>
        <p:spPr>
          <a:xfrm>
            <a:off x="4572000" y="5413248"/>
            <a:ext cx="3108960" cy="292608"/>
          </a:xfrm>
          <a:prstGeom prst="rect">
            <a:avLst/>
          </a:prstGeom>
          <a:noFill/>
          <a:ln/>
        </p:spPr>
        <p:txBody>
          <a:bodyPr wrap="square" lIns="0" tIns="0" rIns="0" bIns="0" rtlCol="0" anchor="t"/>
          <a:lstStyle/>
          <a:p>
            <a:pPr indent="0" marL="0">
              <a:buNone/>
            </a:pPr>
            <a:r>
              <a:rPr lang="en-US" sz="1300" b="1" dirty="0">
                <a:solidFill>
                  <a:srgbClr val="2A9FD6"/>
                </a:solidFill>
                <a:latin typeface="Calibri" pitchFamily="34" charset="0"/>
                <a:ea typeface="Calibri" pitchFamily="34" charset="-122"/>
                <a:cs typeface="Calibri" pitchFamily="34" charset="-120"/>
              </a:rPr>
              <a:t>8º e 9º</a:t>
            </a:r>
            <a:endParaRPr lang="en-US" sz="1300" dirty="0"/>
          </a:p>
        </p:txBody>
      </p:sp>
      <p:sp>
        <p:nvSpPr>
          <p:cNvPr id="38" name="Text 35"/>
          <p:cNvSpPr txBox="1"/>
          <p:nvPr/>
        </p:nvSpPr>
        <p:spPr>
          <a:xfrm>
            <a:off x="548640" y="6172200"/>
            <a:ext cx="11064240" cy="320040"/>
          </a:xfrm>
          <a:prstGeom prst="rect">
            <a:avLst/>
          </a:prstGeom>
          <a:noFill/>
          <a:ln/>
        </p:spPr>
        <p:txBody>
          <a:bodyPr wrap="square" lIns="0" tIns="0" rIns="0" bIns="0" rtlCol="0" anchor="t"/>
          <a:lstStyle/>
          <a:p>
            <a:pPr indent="0" marL="0">
              <a:buNone/>
            </a:pPr>
            <a:r>
              <a:rPr lang="en-US" sz="1400" dirty="0">
                <a:solidFill>
                  <a:srgbClr val="4A5A73"/>
                </a:solidFill>
                <a:latin typeface="Calibri" pitchFamily="34" charset="0"/>
                <a:ea typeface="Calibri" pitchFamily="34" charset="-122"/>
                <a:cs typeface="Calibri" pitchFamily="34" charset="-120"/>
              </a:rPr>
              <a:t>No Caderno de atividades: objetivo, BNCC, materiais, passo a passo, variações de inclusão e avaliação.</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2E"/>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INCLUSÃO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Estudantes autistas: recursos e estratégias</a:t>
            </a:r>
            <a:endParaRPr lang="en-US" sz="3400" dirty="0"/>
          </a:p>
        </p:txBody>
      </p:sp>
      <p:sp>
        <p:nvSpPr>
          <p:cNvPr id="5" name="Shape 2"/>
          <p:cNvSpPr/>
          <p:nvPr/>
        </p:nvSpPr>
        <p:spPr>
          <a:xfrm>
            <a:off x="548640" y="1783080"/>
            <a:ext cx="5486400" cy="4434840"/>
          </a:xfrm>
          <a:prstGeom prst="roundRect">
            <a:avLst>
              <a:gd name="adj" fmla="val 3299"/>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777240" y="1965960"/>
            <a:ext cx="731520" cy="731520"/>
          </a:xfrm>
          <a:prstGeom prst="ellipse">
            <a:avLst/>
          </a:prstGeom>
          <a:solidFill>
            <a:srgbClr val="2A9FD6"/>
          </a:solidFill>
          <a:ln w="12700">
            <a:solidFill>
              <a:srgbClr val="2A9FD6"/>
            </a:solidFill>
            <a:prstDash val="solid"/>
          </a:ln>
        </p:spPr>
      </p:sp>
      <p:pic>
        <p:nvPicPr>
          <p:cNvPr id="7" name="Image 0" descr="art/icons/Gamepad_w.png">    </p:cNvPr>
          <p:cNvPicPr>
            <a:picLocks noChangeAspect="1"/>
          </p:cNvPicPr>
          <p:nvPr/>
        </p:nvPicPr>
        <p:blipFill>
          <a:blip r:embed="rId1"/>
          <a:stretch>
            <a:fillRect/>
          </a:stretch>
        </p:blipFill>
        <p:spPr>
          <a:xfrm>
            <a:off x="952805" y="2141525"/>
            <a:ext cx="380390" cy="380390"/>
          </a:xfrm>
          <a:prstGeom prst="rect">
            <a:avLst/>
          </a:prstGeom>
        </p:spPr>
      </p:pic>
      <p:sp>
        <p:nvSpPr>
          <p:cNvPr id="8" name="Text 4"/>
          <p:cNvSpPr txBox="1"/>
          <p:nvPr/>
        </p:nvSpPr>
        <p:spPr>
          <a:xfrm>
            <a:off x="1691640" y="2057400"/>
            <a:ext cx="4114800" cy="502920"/>
          </a:xfrm>
          <a:prstGeom prst="rect">
            <a:avLst/>
          </a:prstGeom>
          <a:noFill/>
          <a:ln/>
        </p:spPr>
        <p:txBody>
          <a:bodyPr wrap="square" lIns="0" tIns="0" rIns="0" bIns="0" rtlCol="0" anchor="t"/>
          <a:lstStyle/>
          <a:p>
            <a:pPr indent="0" marL="0">
              <a:buNone/>
            </a:pPr>
            <a:r>
              <a:rPr lang="en-US" sz="2100" b="1" dirty="0">
                <a:solidFill>
                  <a:srgbClr val="FFFFFF"/>
                </a:solidFill>
                <a:latin typeface="Calibri" pitchFamily="34" charset="0"/>
                <a:ea typeface="Calibri" pitchFamily="34" charset="-122"/>
                <a:cs typeface="Calibri" pitchFamily="34" charset="-120"/>
              </a:rPr>
              <a:t>No jogo (versão 3.4)</a:t>
            </a:r>
            <a:endParaRPr lang="en-US" sz="2100" dirty="0"/>
          </a:p>
        </p:txBody>
      </p:sp>
      <p:sp>
        <p:nvSpPr>
          <p:cNvPr id="9" name="Text 5"/>
          <p:cNvSpPr txBox="1"/>
          <p:nvPr/>
        </p:nvSpPr>
        <p:spPr>
          <a:xfrm>
            <a:off x="822960" y="2788920"/>
            <a:ext cx="5029200" cy="210312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Modo calmo (tecla C): efeitos reduzidos e sem relógio</a:t>
            </a:r>
            <a:endParaRPr lang="en-US" sz="1800" dirty="0"/>
          </a:p>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Botão SOM, alto contraste (H) e guia (K)</a:t>
            </a:r>
            <a:endParaRPr lang="en-US" sz="1800" dirty="0"/>
          </a:p>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Pausa a qualquer momento</a:t>
            </a:r>
            <a:endParaRPr lang="en-US" sz="1800" dirty="0"/>
          </a:p>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Preferências salvas no aparelho</a:t>
            </a:r>
            <a:endParaRPr lang="en-US" sz="1800" dirty="0"/>
          </a:p>
        </p:txBody>
      </p:sp>
      <p:sp>
        <p:nvSpPr>
          <p:cNvPr id="10" name="Text 6"/>
          <p:cNvSpPr txBox="1"/>
          <p:nvPr/>
        </p:nvSpPr>
        <p:spPr>
          <a:xfrm>
            <a:off x="822960" y="5029200"/>
            <a:ext cx="5029200" cy="1005840"/>
          </a:xfrm>
          <a:prstGeom prst="rect">
            <a:avLst/>
          </a:prstGeom>
          <a:noFill/>
          <a:ln/>
        </p:spPr>
        <p:txBody>
          <a:bodyPr wrap="square" lIns="0" tIns="0" rIns="0" bIns="0" rtlCol="0" anchor="t"/>
          <a:lstStyle/>
          <a:p>
            <a:pPr indent="0" marL="0">
              <a:buNone/>
            </a:pPr>
            <a:r>
              <a:rPr lang="en-US" sz="1400" b="1" dirty="0">
                <a:solidFill>
                  <a:srgbClr val="F5C451"/>
                </a:solidFill>
                <a:latin typeface="Calibri" pitchFamily="34" charset="0"/>
                <a:ea typeface="Calibri" pitchFamily="34" charset="-122"/>
                <a:cs typeface="Calibri" pitchFamily="34" charset="-120"/>
              </a:rPr>
              <a:t>Limites: textos longos, sem narração e sem ajuste de letra.</a:t>
            </a:r>
            <a:endParaRPr lang="en-US" sz="1400" dirty="0"/>
          </a:p>
        </p:txBody>
      </p:sp>
      <p:sp>
        <p:nvSpPr>
          <p:cNvPr id="11" name="Shape 7"/>
          <p:cNvSpPr/>
          <p:nvPr/>
        </p:nvSpPr>
        <p:spPr>
          <a:xfrm>
            <a:off x="6263640" y="1783080"/>
            <a:ext cx="5349240" cy="4434840"/>
          </a:xfrm>
          <a:prstGeom prst="roundRect">
            <a:avLst>
              <a:gd name="adj" fmla="val 3299"/>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12" name="Shape 8"/>
          <p:cNvSpPr/>
          <p:nvPr/>
        </p:nvSpPr>
        <p:spPr>
          <a:xfrm>
            <a:off x="6492240" y="1965960"/>
            <a:ext cx="731520" cy="731520"/>
          </a:xfrm>
          <a:prstGeom prst="ellipse">
            <a:avLst/>
          </a:prstGeom>
          <a:solidFill>
            <a:srgbClr val="F5C451"/>
          </a:solidFill>
          <a:ln w="12700">
            <a:solidFill>
              <a:srgbClr val="F5C451"/>
            </a:solidFill>
            <a:prstDash val="solid"/>
          </a:ln>
        </p:spPr>
      </p:sp>
      <p:pic>
        <p:nvPicPr>
          <p:cNvPr id="13" name="Image 1" descr="art/icons/Hand_n.png">    </p:cNvPr>
          <p:cNvPicPr>
            <a:picLocks noChangeAspect="1"/>
          </p:cNvPicPr>
          <p:nvPr/>
        </p:nvPicPr>
        <p:blipFill>
          <a:blip r:embed="rId2"/>
          <a:stretch>
            <a:fillRect/>
          </a:stretch>
        </p:blipFill>
        <p:spPr>
          <a:xfrm>
            <a:off x="6667805" y="2141525"/>
            <a:ext cx="380390" cy="380390"/>
          </a:xfrm>
          <a:prstGeom prst="rect">
            <a:avLst/>
          </a:prstGeom>
        </p:spPr>
      </p:pic>
      <p:sp>
        <p:nvSpPr>
          <p:cNvPr id="14" name="Text 9"/>
          <p:cNvSpPr txBox="1"/>
          <p:nvPr/>
        </p:nvSpPr>
        <p:spPr>
          <a:xfrm>
            <a:off x="7406640" y="2057400"/>
            <a:ext cx="4023360" cy="502920"/>
          </a:xfrm>
          <a:prstGeom prst="rect">
            <a:avLst/>
          </a:prstGeom>
          <a:noFill/>
          <a:ln/>
        </p:spPr>
        <p:txBody>
          <a:bodyPr wrap="square" lIns="0" tIns="0" rIns="0" bIns="0" rtlCol="0" anchor="t"/>
          <a:lstStyle/>
          <a:p>
            <a:pPr indent="0" marL="0">
              <a:buNone/>
            </a:pPr>
            <a:r>
              <a:rPr lang="en-US" sz="2100" b="1" dirty="0">
                <a:solidFill>
                  <a:srgbClr val="FFFFFF"/>
                </a:solidFill>
                <a:latin typeface="Calibri" pitchFamily="34" charset="0"/>
                <a:ea typeface="Calibri" pitchFamily="34" charset="-122"/>
                <a:cs typeface="Calibri" pitchFamily="34" charset="-120"/>
              </a:rPr>
              <a:t>Na sala de aula</a:t>
            </a:r>
            <a:endParaRPr lang="en-US" sz="2100" dirty="0"/>
          </a:p>
        </p:txBody>
      </p:sp>
      <p:sp>
        <p:nvSpPr>
          <p:cNvPr id="15" name="Text 10"/>
          <p:cNvSpPr txBox="1"/>
          <p:nvPr/>
        </p:nvSpPr>
        <p:spPr>
          <a:xfrm>
            <a:off x="6537960" y="2788920"/>
            <a:ext cx="4937760" cy="3383280"/>
          </a:xfrm>
          <a:prstGeom prst="rect">
            <a:avLst/>
          </a:prstGeom>
          <a:noFill/>
          <a:ln/>
        </p:spPr>
        <p:txBody>
          <a:bodyPr wrap="square" lIns="0" tIns="0" rIns="0" bIns="0" rtlCol="0" anchor="t"/>
          <a:lstStyle/>
          <a:p>
            <a:pPr marL="203200" indent="-2032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Agenda visual e história social antes da oficina</a:t>
            </a:r>
            <a:endParaRPr lang="en-US" sz="1800" dirty="0"/>
          </a:p>
          <a:p>
            <a:pPr marL="203200" indent="-2032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Avisar antes de cada mudança de momento</a:t>
            </a:r>
            <a:endParaRPr lang="en-US" sz="1800" dirty="0"/>
          </a:p>
          <a:p>
            <a:pPr marL="203200" indent="-2032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Papéis claros na dupla e opção de observar antes</a:t>
            </a:r>
            <a:endParaRPr lang="en-US" sz="1800" dirty="0"/>
          </a:p>
          <a:p>
            <a:pPr marL="203200" indent="-2032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Cartões de comunicação (pausa, não entendi, ajuda)</a:t>
            </a:r>
            <a:endParaRPr lang="en-US" sz="1800" dirty="0"/>
          </a:p>
          <a:p>
            <a:pPr marL="203200" indent="-2032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Linguagem literal e tempo extra</a:t>
            </a:r>
            <a:endParaRPr lang="en-US" sz="18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CCE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D9A21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INCLUSÃO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Altas habilidades ou superdotação: enriquecer</a:t>
            </a:r>
            <a:endParaRPr lang="en-US" sz="3400" dirty="0"/>
          </a:p>
        </p:txBody>
      </p:sp>
      <p:sp>
        <p:nvSpPr>
          <p:cNvPr id="5" name="Shape 2"/>
          <p:cNvSpPr/>
          <p:nvPr/>
        </p:nvSpPr>
        <p:spPr>
          <a:xfrm>
            <a:off x="548640" y="1783080"/>
            <a:ext cx="3520440" cy="3246120"/>
          </a:xfrm>
          <a:prstGeom prst="roundRect">
            <a:avLst>
              <a:gd name="adj" fmla="val 4507"/>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822960" y="1965960"/>
            <a:ext cx="1188720" cy="329184"/>
          </a:xfrm>
          <a:prstGeom prst="roundRect">
            <a:avLst>
              <a:gd name="adj" fmla="val 50000"/>
            </a:avLst>
          </a:prstGeom>
          <a:solidFill>
            <a:srgbClr val="2A9FD6"/>
          </a:solid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Tipo I</a:t>
            </a:r>
            <a:endParaRPr lang="en-US" sz="1300" dirty="0"/>
          </a:p>
        </p:txBody>
      </p:sp>
      <p:sp>
        <p:nvSpPr>
          <p:cNvPr id="7" name="Text 4"/>
          <p:cNvSpPr txBox="1"/>
          <p:nvPr/>
        </p:nvSpPr>
        <p:spPr>
          <a:xfrm>
            <a:off x="822960" y="2468880"/>
            <a:ext cx="3017520" cy="457200"/>
          </a:xfrm>
          <a:prstGeom prst="rect">
            <a:avLst/>
          </a:prstGeom>
          <a:noFill/>
          <a:ln/>
        </p:spPr>
        <p:txBody>
          <a:bodyPr wrap="square" lIns="0" tIns="0" rIns="0" bIns="0" rtlCol="0" anchor="t"/>
          <a:lstStyle/>
          <a:p>
            <a:pPr indent="0" marL="0">
              <a:buNone/>
            </a:pPr>
            <a:r>
              <a:rPr lang="en-US" sz="2100" b="1" dirty="0">
                <a:solidFill>
                  <a:srgbClr val="14213D"/>
                </a:solidFill>
                <a:latin typeface="Calibri" pitchFamily="34" charset="0"/>
                <a:ea typeface="Calibri" pitchFamily="34" charset="-122"/>
                <a:cs typeface="Calibri" pitchFamily="34" charset="-120"/>
              </a:rPr>
              <a:t>Explorar</a:t>
            </a:r>
            <a:endParaRPr lang="en-US" sz="2100" dirty="0"/>
          </a:p>
        </p:txBody>
      </p:sp>
      <p:sp>
        <p:nvSpPr>
          <p:cNvPr id="8" name="Text 5"/>
          <p:cNvSpPr txBox="1"/>
          <p:nvPr/>
        </p:nvSpPr>
        <p:spPr>
          <a:xfrm>
            <a:off x="822960" y="3017520"/>
            <a:ext cx="3017520" cy="1920240"/>
          </a:xfrm>
          <a:prstGeom prst="rect">
            <a:avLst/>
          </a:prstGeom>
          <a:noFill/>
          <a:ln/>
        </p:spPr>
        <p:txBody>
          <a:bodyPr wrap="square" lIns="0" tIns="0" rIns="0" bIns="0" rtlCol="0" anchor="t"/>
          <a:lstStyle/>
          <a:p>
            <a:pPr indent="0" marL="0">
              <a:buNone/>
            </a:pPr>
            <a:r>
              <a:rPr lang="en-US" sz="1700" dirty="0">
                <a:solidFill>
                  <a:srgbClr val="4A5A73"/>
                </a:solidFill>
                <a:latin typeface="Calibri" pitchFamily="34" charset="0"/>
                <a:ea typeface="Calibri" pitchFamily="34" charset="-122"/>
                <a:cs typeface="Calibri" pitchFamily="34" charset="-120"/>
              </a:rPr>
              <a:t>Conhecer dados e mapas reais de risco e alertas do município; ouvir um agente da Defesa Civil.</a:t>
            </a:r>
            <a:endParaRPr lang="en-US" sz="1700" dirty="0"/>
          </a:p>
        </p:txBody>
      </p:sp>
      <p:sp>
        <p:nvSpPr>
          <p:cNvPr id="9" name="Shape 6"/>
          <p:cNvSpPr/>
          <p:nvPr/>
        </p:nvSpPr>
        <p:spPr>
          <a:xfrm>
            <a:off x="4343400" y="1783080"/>
            <a:ext cx="3520440" cy="3246120"/>
          </a:xfrm>
          <a:prstGeom prst="roundRect">
            <a:avLst>
              <a:gd name="adj" fmla="val 4507"/>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4617720" y="1965960"/>
            <a:ext cx="1188720" cy="329184"/>
          </a:xfrm>
          <a:prstGeom prst="roundRect">
            <a:avLst>
              <a:gd name="adj" fmla="val 50000"/>
            </a:avLst>
          </a:prstGeom>
          <a:solidFill>
            <a:srgbClr val="E57A2E"/>
          </a:solid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Tipo II</a:t>
            </a:r>
            <a:endParaRPr lang="en-US" sz="1300" dirty="0"/>
          </a:p>
        </p:txBody>
      </p:sp>
      <p:sp>
        <p:nvSpPr>
          <p:cNvPr id="11" name="Text 8"/>
          <p:cNvSpPr txBox="1"/>
          <p:nvPr/>
        </p:nvSpPr>
        <p:spPr>
          <a:xfrm>
            <a:off x="4617720" y="2468880"/>
            <a:ext cx="3017520" cy="457200"/>
          </a:xfrm>
          <a:prstGeom prst="rect">
            <a:avLst/>
          </a:prstGeom>
          <a:noFill/>
          <a:ln/>
        </p:spPr>
        <p:txBody>
          <a:bodyPr wrap="square" lIns="0" tIns="0" rIns="0" bIns="0" rtlCol="0" anchor="t"/>
          <a:lstStyle/>
          <a:p>
            <a:pPr indent="0" marL="0">
              <a:buNone/>
            </a:pPr>
            <a:r>
              <a:rPr lang="en-US" sz="2100" b="1" dirty="0">
                <a:solidFill>
                  <a:srgbClr val="14213D"/>
                </a:solidFill>
                <a:latin typeface="Calibri" pitchFamily="34" charset="0"/>
                <a:ea typeface="Calibri" pitchFamily="34" charset="-122"/>
                <a:cs typeface="Calibri" pitchFamily="34" charset="-120"/>
              </a:rPr>
              <a:t>Treinar habilidades</a:t>
            </a:r>
            <a:endParaRPr lang="en-US" sz="2100" dirty="0"/>
          </a:p>
        </p:txBody>
      </p:sp>
      <p:sp>
        <p:nvSpPr>
          <p:cNvPr id="12" name="Text 9"/>
          <p:cNvSpPr txBox="1"/>
          <p:nvPr/>
        </p:nvSpPr>
        <p:spPr>
          <a:xfrm>
            <a:off x="4617720" y="3017520"/>
            <a:ext cx="3017520" cy="1920240"/>
          </a:xfrm>
          <a:prstGeom prst="rect">
            <a:avLst/>
          </a:prstGeom>
          <a:noFill/>
          <a:ln/>
        </p:spPr>
        <p:txBody>
          <a:bodyPr wrap="square" lIns="0" tIns="0" rIns="0" bIns="0" rtlCol="0" anchor="t"/>
          <a:lstStyle/>
          <a:p>
            <a:pPr indent="0" marL="0">
              <a:buNone/>
            </a:pPr>
            <a:r>
              <a:rPr lang="en-US" sz="1700" dirty="0">
                <a:solidFill>
                  <a:srgbClr val="4A5A73"/>
                </a:solidFill>
                <a:latin typeface="Calibri" pitchFamily="34" charset="0"/>
                <a:ea typeface="Calibri" pitchFamily="34" charset="-122"/>
                <a:cs typeface="Calibri" pitchFamily="34" charset="-120"/>
              </a:rPr>
              <a:t>Método racional de vazão, curvas de nível, introdução ao QGIS, escrita técnica.</a:t>
            </a:r>
            <a:endParaRPr lang="en-US" sz="1700" dirty="0"/>
          </a:p>
        </p:txBody>
      </p:sp>
      <p:sp>
        <p:nvSpPr>
          <p:cNvPr id="13" name="Shape 10"/>
          <p:cNvSpPr/>
          <p:nvPr/>
        </p:nvSpPr>
        <p:spPr>
          <a:xfrm>
            <a:off x="8138160" y="1783080"/>
            <a:ext cx="3520440" cy="3246120"/>
          </a:xfrm>
          <a:prstGeom prst="roundRect">
            <a:avLst>
              <a:gd name="adj" fmla="val 4507"/>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8412480" y="1965960"/>
            <a:ext cx="1188720" cy="329184"/>
          </a:xfrm>
          <a:prstGeom prst="roundRect">
            <a:avLst>
              <a:gd name="adj" fmla="val 50000"/>
            </a:avLst>
          </a:prstGeom>
          <a:solidFill>
            <a:srgbClr val="2FA36B"/>
          </a:solid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Tipo III</a:t>
            </a:r>
            <a:endParaRPr lang="en-US" sz="1300" dirty="0"/>
          </a:p>
        </p:txBody>
      </p:sp>
      <p:sp>
        <p:nvSpPr>
          <p:cNvPr id="15" name="Text 12"/>
          <p:cNvSpPr txBox="1"/>
          <p:nvPr/>
        </p:nvSpPr>
        <p:spPr>
          <a:xfrm>
            <a:off x="8412480" y="2468880"/>
            <a:ext cx="3017520" cy="457200"/>
          </a:xfrm>
          <a:prstGeom prst="rect">
            <a:avLst/>
          </a:prstGeom>
          <a:noFill/>
          <a:ln/>
        </p:spPr>
        <p:txBody>
          <a:bodyPr wrap="square" lIns="0" tIns="0" rIns="0" bIns="0" rtlCol="0" anchor="t"/>
          <a:lstStyle/>
          <a:p>
            <a:pPr indent="0" marL="0">
              <a:buNone/>
            </a:pPr>
            <a:r>
              <a:rPr lang="en-US" sz="2100" b="1" dirty="0">
                <a:solidFill>
                  <a:srgbClr val="14213D"/>
                </a:solidFill>
                <a:latin typeface="Calibri" pitchFamily="34" charset="0"/>
                <a:ea typeface="Calibri" pitchFamily="34" charset="-122"/>
                <a:cs typeface="Calibri" pitchFamily="34" charset="-120"/>
              </a:rPr>
              <a:t>Investigar</a:t>
            </a:r>
            <a:endParaRPr lang="en-US" sz="2100" dirty="0"/>
          </a:p>
        </p:txBody>
      </p:sp>
      <p:sp>
        <p:nvSpPr>
          <p:cNvPr id="16" name="Text 13"/>
          <p:cNvSpPr txBox="1"/>
          <p:nvPr/>
        </p:nvSpPr>
        <p:spPr>
          <a:xfrm>
            <a:off x="8412480" y="3017520"/>
            <a:ext cx="3017520" cy="1920240"/>
          </a:xfrm>
          <a:prstGeom prst="rect">
            <a:avLst/>
          </a:prstGeom>
          <a:noFill/>
          <a:ln/>
        </p:spPr>
        <p:txBody>
          <a:bodyPr wrap="square" lIns="0" tIns="0" rIns="0" bIns="0" rtlCol="0" anchor="t"/>
          <a:lstStyle/>
          <a:p>
            <a:pPr indent="0" marL="0">
              <a:buNone/>
            </a:pPr>
            <a:r>
              <a:rPr lang="en-US" sz="1700" dirty="0">
                <a:solidFill>
                  <a:srgbClr val="4A5A73"/>
                </a:solidFill>
                <a:latin typeface="Calibri" pitchFamily="34" charset="0"/>
                <a:ea typeface="Calibri" pitchFamily="34" charset="-122"/>
                <a:cs typeface="Calibri" pitchFamily="34" charset="-120"/>
              </a:rPr>
              <a:t>Diagnóstico de risco da escola, análise dos registros do Modo Professor, criação de fase e quiz.</a:t>
            </a:r>
            <a:endParaRPr lang="en-US" sz="1700" dirty="0"/>
          </a:p>
        </p:txBody>
      </p:sp>
      <p:sp>
        <p:nvSpPr>
          <p:cNvPr id="17" name="Shape 14"/>
          <p:cNvSpPr/>
          <p:nvPr/>
        </p:nvSpPr>
        <p:spPr>
          <a:xfrm>
            <a:off x="548640" y="5257800"/>
            <a:ext cx="11064240" cy="960120"/>
          </a:xfrm>
          <a:prstGeom prst="roundRect">
            <a:avLst>
              <a:gd name="adj" fmla="val 15238"/>
            </a:avLst>
          </a:prstGeom>
          <a:solidFill>
            <a:srgbClr val="0F1B2E"/>
          </a:solidFill>
          <a:ln w="12700">
            <a:solidFill>
              <a:srgbClr val="0F1B2E"/>
            </a:solidFill>
            <a:prstDash val="solid"/>
          </a:ln>
        </p:spPr>
      </p:sp>
      <p:sp>
        <p:nvSpPr>
          <p:cNvPr id="18" name="Text 15"/>
          <p:cNvSpPr txBox="1"/>
          <p:nvPr/>
        </p:nvSpPr>
        <p:spPr>
          <a:xfrm>
            <a:off x="822960" y="5257800"/>
            <a:ext cx="10515600" cy="9601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 identificação é feita por avaliação especializada. Ofereça o enriquecimento a quem se interessar, sem rotular.</a:t>
            </a:r>
            <a:endParaRPr lang="en-US" sz="17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E57A2E"/>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PESQUISA</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Ideias de pesquisa e colaboração</a:t>
            </a:r>
            <a:endParaRPr lang="en-US" sz="3400" dirty="0"/>
          </a:p>
        </p:txBody>
      </p:sp>
      <p:sp>
        <p:nvSpPr>
          <p:cNvPr id="5" name="Shape 2"/>
          <p:cNvSpPr/>
          <p:nvPr/>
        </p:nvSpPr>
        <p:spPr>
          <a:xfrm>
            <a:off x="548640" y="1783080"/>
            <a:ext cx="5440680" cy="1645920"/>
          </a:xfrm>
          <a:prstGeom prst="roundRect">
            <a:avLst>
              <a:gd name="adj" fmla="val 888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Text 3"/>
          <p:cNvSpPr txBox="1"/>
          <p:nvPr/>
        </p:nvSpPr>
        <p:spPr>
          <a:xfrm>
            <a:off x="822960" y="2011680"/>
            <a:ext cx="548640" cy="329184"/>
          </a:xfrm>
          <a:prstGeom prst="roundRect">
            <a:avLst>
              <a:gd name="adj" fmla="val 50000"/>
            </a:avLst>
          </a:prstGeom>
          <a:solidFill>
            <a:srgbClr val="2A9FD6"/>
          </a:solid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600200" y="1920240"/>
            <a:ext cx="4206240" cy="54864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Aprendizagem</a:t>
            </a:r>
            <a:endParaRPr lang="en-US" sz="1900" dirty="0"/>
          </a:p>
        </p:txBody>
      </p:sp>
      <p:sp>
        <p:nvSpPr>
          <p:cNvPr id="8" name="Text 5"/>
          <p:cNvSpPr txBox="1"/>
          <p:nvPr/>
        </p:nvSpPr>
        <p:spPr>
          <a:xfrm>
            <a:off x="868680" y="2606040"/>
            <a:ext cx="4846320" cy="77724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Pré e pós-teste, idealmente com grupo de comparação.</a:t>
            </a:r>
            <a:endParaRPr lang="en-US" sz="1500" dirty="0"/>
          </a:p>
        </p:txBody>
      </p:sp>
      <p:sp>
        <p:nvSpPr>
          <p:cNvPr id="9" name="Shape 6"/>
          <p:cNvSpPr/>
          <p:nvPr/>
        </p:nvSpPr>
        <p:spPr>
          <a:xfrm>
            <a:off x="6172200" y="1783080"/>
            <a:ext cx="5440680" cy="1645920"/>
          </a:xfrm>
          <a:prstGeom prst="roundRect">
            <a:avLst>
              <a:gd name="adj" fmla="val 888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0" name="Text 7"/>
          <p:cNvSpPr txBox="1"/>
          <p:nvPr/>
        </p:nvSpPr>
        <p:spPr>
          <a:xfrm>
            <a:off x="6446520" y="2011680"/>
            <a:ext cx="548640" cy="329184"/>
          </a:xfrm>
          <a:prstGeom prst="roundRect">
            <a:avLst>
              <a:gd name="adj" fmla="val 50000"/>
            </a:avLst>
          </a:prstGeom>
          <a:solidFill>
            <a:srgbClr val="E57A2E"/>
          </a:solid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7223760" y="1920240"/>
            <a:ext cx="4206240" cy="54864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Validade e adaptação regional</a:t>
            </a:r>
            <a:endParaRPr lang="en-US" sz="1900" dirty="0"/>
          </a:p>
        </p:txBody>
      </p:sp>
      <p:sp>
        <p:nvSpPr>
          <p:cNvPr id="12" name="Text 9"/>
          <p:cNvSpPr txBox="1"/>
          <p:nvPr/>
        </p:nvSpPr>
        <p:spPr>
          <a:xfrm>
            <a:off x="6492240" y="2606040"/>
            <a:ext cx="4846320" cy="77724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Novos grupos de especialistas; adaptar fenômenos, mapas e alertas a outros municípios.</a:t>
            </a:r>
            <a:endParaRPr lang="en-US" sz="1500" dirty="0"/>
          </a:p>
        </p:txBody>
      </p:sp>
      <p:sp>
        <p:nvSpPr>
          <p:cNvPr id="13" name="Shape 10"/>
          <p:cNvSpPr/>
          <p:nvPr/>
        </p:nvSpPr>
        <p:spPr>
          <a:xfrm>
            <a:off x="548640" y="3611880"/>
            <a:ext cx="5440680" cy="1645920"/>
          </a:xfrm>
          <a:prstGeom prst="roundRect">
            <a:avLst>
              <a:gd name="adj" fmla="val 888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4" name="Text 11"/>
          <p:cNvSpPr txBox="1"/>
          <p:nvPr/>
        </p:nvSpPr>
        <p:spPr>
          <a:xfrm>
            <a:off x="822960" y="3840480"/>
            <a:ext cx="548640" cy="329184"/>
          </a:xfrm>
          <a:prstGeom prst="roundRect">
            <a:avLst>
              <a:gd name="adj" fmla="val 50000"/>
            </a:avLst>
          </a:prstGeom>
          <a:solidFill>
            <a:srgbClr val="2FA36B"/>
          </a:solid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600200" y="3749040"/>
            <a:ext cx="4206240" cy="54864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Inclusão e acessibilidade</a:t>
            </a:r>
            <a:endParaRPr lang="en-US" sz="1900" dirty="0"/>
          </a:p>
        </p:txBody>
      </p:sp>
      <p:sp>
        <p:nvSpPr>
          <p:cNvPr id="16" name="Text 13"/>
          <p:cNvSpPr txBox="1"/>
          <p:nvPr/>
        </p:nvSpPr>
        <p:spPr>
          <a:xfrm>
            <a:off x="868680" y="4434840"/>
            <a:ext cx="4846320" cy="77724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Barreiras e facilitadores para estudantes autistas e com altas habilidades.</a:t>
            </a:r>
            <a:endParaRPr lang="en-US" sz="1500" dirty="0"/>
          </a:p>
        </p:txBody>
      </p:sp>
      <p:sp>
        <p:nvSpPr>
          <p:cNvPr id="17" name="Shape 14"/>
          <p:cNvSpPr/>
          <p:nvPr/>
        </p:nvSpPr>
        <p:spPr>
          <a:xfrm>
            <a:off x="6172200" y="3611880"/>
            <a:ext cx="5440680" cy="1645920"/>
          </a:xfrm>
          <a:prstGeom prst="roundRect">
            <a:avLst>
              <a:gd name="adj" fmla="val 8889"/>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8" name="Text 15"/>
          <p:cNvSpPr txBox="1"/>
          <p:nvPr/>
        </p:nvSpPr>
        <p:spPr>
          <a:xfrm>
            <a:off x="6446520" y="3840480"/>
            <a:ext cx="548640" cy="329184"/>
          </a:xfrm>
          <a:prstGeom prst="roundRect">
            <a:avLst>
              <a:gd name="adj" fmla="val 50000"/>
            </a:avLst>
          </a:prstGeom>
          <a:solidFill>
            <a:srgbClr val="D64545"/>
          </a:solid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6"/>
          <p:cNvSpPr txBox="1"/>
          <p:nvPr/>
        </p:nvSpPr>
        <p:spPr>
          <a:xfrm>
            <a:off x="7223760" y="3749040"/>
            <a:ext cx="4206240" cy="548640"/>
          </a:xfrm>
          <a:prstGeom prst="rect">
            <a:avLst/>
          </a:prstGeom>
          <a:noFill/>
          <a:ln/>
        </p:spPr>
        <p:txBody>
          <a:bodyPr wrap="square" lIns="0" tIns="0" rIns="0" bIns="0" rtlCol="0" anchor="ctr"/>
          <a:lstStyle/>
          <a:p>
            <a:pPr indent="0" marL="0">
              <a:buNone/>
            </a:pPr>
            <a:r>
              <a:rPr lang="en-US" sz="1900" b="1" dirty="0">
                <a:solidFill>
                  <a:srgbClr val="14213D"/>
                </a:solidFill>
                <a:latin typeface="Calibri" pitchFamily="34" charset="0"/>
                <a:ea typeface="Calibri" pitchFamily="34" charset="-122"/>
                <a:cs typeface="Calibri" pitchFamily="34" charset="-120"/>
              </a:rPr>
              <a:t>Implementação</a:t>
            </a:r>
            <a:endParaRPr lang="en-US" sz="1900" dirty="0"/>
          </a:p>
        </p:txBody>
      </p:sp>
      <p:sp>
        <p:nvSpPr>
          <p:cNvPr id="20" name="Text 17"/>
          <p:cNvSpPr txBox="1"/>
          <p:nvPr/>
        </p:nvSpPr>
        <p:spPr>
          <a:xfrm>
            <a:off x="6492240" y="4434840"/>
            <a:ext cx="4846320" cy="777240"/>
          </a:xfrm>
          <a:prstGeom prst="rect">
            <a:avLst/>
          </a:prstGeom>
          <a:noFill/>
          <a:ln/>
        </p:spPr>
        <p:txBody>
          <a:bodyPr wrap="square" lIns="0" tIns="0" rIns="0" bIns="0" rtlCol="0" anchor="t"/>
          <a:lstStyle/>
          <a:p>
            <a:pPr indent="0" marL="0">
              <a:buNone/>
            </a:pPr>
            <a:r>
              <a:rPr lang="en-US" sz="1500" dirty="0">
                <a:solidFill>
                  <a:srgbClr val="4A5A73"/>
                </a:solidFill>
                <a:latin typeface="Calibri" pitchFamily="34" charset="0"/>
                <a:ea typeface="Calibri" pitchFamily="34" charset="-122"/>
                <a:cs typeface="Calibri" pitchFamily="34" charset="-120"/>
              </a:rPr>
              <a:t>O que ajuda ou dificulta o uso em escolas públicas: tempo, aparelhos e formação.</a:t>
            </a:r>
            <a:endParaRPr lang="en-US" sz="1500" dirty="0"/>
          </a:p>
        </p:txBody>
      </p:sp>
      <p:sp>
        <p:nvSpPr>
          <p:cNvPr id="21" name="Shape 18"/>
          <p:cNvSpPr/>
          <p:nvPr/>
        </p:nvSpPr>
        <p:spPr>
          <a:xfrm>
            <a:off x="548640" y="5486400"/>
            <a:ext cx="11064240" cy="777240"/>
          </a:xfrm>
          <a:prstGeom prst="roundRect">
            <a:avLst>
              <a:gd name="adj" fmla="val 18824"/>
            </a:avLst>
          </a:prstGeom>
          <a:solidFill>
            <a:srgbClr val="BFE3F6"/>
          </a:solidFill>
          <a:ln w="12700">
            <a:solidFill>
              <a:srgbClr val="BFE3F6"/>
            </a:solidFill>
            <a:prstDash val="solid"/>
          </a:ln>
        </p:spPr>
      </p:sp>
      <p:sp>
        <p:nvSpPr>
          <p:cNvPr id="22" name="Text 19"/>
          <p:cNvSpPr txBox="1"/>
          <p:nvPr/>
        </p:nvSpPr>
        <p:spPr>
          <a:xfrm>
            <a:off x="822960" y="5486400"/>
            <a:ext cx="10515600" cy="77724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Instrumentos prontos e cuidados éticos: página Avaliação do site e material da oficina.</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E57A2E"/>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AVALIAÇÃO</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Como avaliar a metodologia do jogo</a:t>
            </a:r>
            <a:endParaRPr lang="en-US" sz="3400" dirty="0"/>
          </a:p>
        </p:txBody>
      </p:sp>
      <p:sp>
        <p:nvSpPr>
          <p:cNvPr id="5" name="Shape 2"/>
          <p:cNvSpPr/>
          <p:nvPr/>
        </p:nvSpPr>
        <p:spPr>
          <a:xfrm>
            <a:off x="548640" y="1783080"/>
            <a:ext cx="3520440" cy="374904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1847088" y="1965960"/>
            <a:ext cx="914400" cy="914400"/>
          </a:xfrm>
          <a:prstGeom prst="ellipse">
            <a:avLst/>
          </a:prstGeom>
          <a:solidFill>
            <a:srgbClr val="2A9FD6"/>
          </a:solidFill>
          <a:ln w="12700">
            <a:solidFill>
              <a:srgbClr val="2A9FD6"/>
            </a:solidFill>
            <a:prstDash val="solid"/>
          </a:ln>
        </p:spPr>
      </p:sp>
      <p:pic>
        <p:nvPicPr>
          <p:cNvPr id="7" name="Image 0" descr="art/icons/MagnifyingGlass_w.png">    </p:cNvPr>
          <p:cNvPicPr>
            <a:picLocks noChangeAspect="1"/>
          </p:cNvPicPr>
          <p:nvPr/>
        </p:nvPicPr>
        <p:blipFill>
          <a:blip r:embed="rId1"/>
          <a:stretch>
            <a:fillRect/>
          </a:stretch>
        </p:blipFill>
        <p:spPr>
          <a:xfrm>
            <a:off x="2066544" y="2185416"/>
            <a:ext cx="475488" cy="475488"/>
          </a:xfrm>
          <a:prstGeom prst="rect">
            <a:avLst/>
          </a:prstGeom>
        </p:spPr>
      </p:pic>
      <p:sp>
        <p:nvSpPr>
          <p:cNvPr id="8" name="Text 4"/>
          <p:cNvSpPr txBox="1"/>
          <p:nvPr/>
        </p:nvSpPr>
        <p:spPr>
          <a:xfrm>
            <a:off x="777240" y="3017520"/>
            <a:ext cx="3063240" cy="457200"/>
          </a:xfrm>
          <a:prstGeom prst="rect">
            <a:avLst/>
          </a:prstGeom>
          <a:noFill/>
          <a:ln/>
        </p:spPr>
        <p:txBody>
          <a:bodyPr wrap="square" lIns="0" tIns="0" rIns="0" bIns="0" rtlCol="0" anchor="t"/>
          <a:lstStyle/>
          <a:p>
            <a:pPr algn="ctr" indent="0" marL="0">
              <a:buNone/>
            </a:pPr>
            <a:r>
              <a:rPr lang="en-US" sz="2000" b="1" dirty="0">
                <a:solidFill>
                  <a:srgbClr val="14213D"/>
                </a:solidFill>
                <a:latin typeface="Calibri" pitchFamily="34" charset="0"/>
                <a:ea typeface="Calibri" pitchFamily="34" charset="-122"/>
                <a:cs typeface="Calibri" pitchFamily="34" charset="-120"/>
              </a:rPr>
              <a:t>Perguntas</a:t>
            </a:r>
            <a:endParaRPr lang="en-US" sz="2000" dirty="0"/>
          </a:p>
        </p:txBody>
      </p:sp>
      <p:sp>
        <p:nvSpPr>
          <p:cNvPr id="9" name="Text 5"/>
          <p:cNvSpPr txBox="1"/>
          <p:nvPr/>
        </p:nvSpPr>
        <p:spPr>
          <a:xfrm>
            <a:off x="822960" y="3566160"/>
            <a:ext cx="2971800" cy="1874520"/>
          </a:xfrm>
          <a:prstGeom prst="rect">
            <a:avLst/>
          </a:prstGeom>
          <a:noFill/>
          <a:ln/>
        </p:spPr>
        <p:txBody>
          <a:bodyPr wrap="square" lIns="0" tIns="0" rIns="0" bIns="0" rtlCol="0" anchor="t"/>
          <a:lstStyle/>
          <a:p>
            <a:pPr algn="ctr" indent="0" marL="0">
              <a:buNone/>
            </a:pPr>
            <a:r>
              <a:rPr lang="en-US" sz="1600" dirty="0">
                <a:solidFill>
                  <a:srgbClr val="4A5A73"/>
                </a:solidFill>
                <a:latin typeface="Calibri" pitchFamily="34" charset="0"/>
                <a:ea typeface="Calibri" pitchFamily="34" charset="-122"/>
                <a:cs typeface="Calibri" pitchFamily="34" charset="-120"/>
              </a:rPr>
              <a:t>O jogo aumenta o conhecimento e a percepção de preparo? Como é a experiência, inclusive de estudantes autistas e com altas habilidades?</a:t>
            </a:r>
            <a:endParaRPr lang="en-US" sz="1600" dirty="0"/>
          </a:p>
        </p:txBody>
      </p:sp>
      <p:sp>
        <p:nvSpPr>
          <p:cNvPr id="10" name="Shape 6"/>
          <p:cNvSpPr/>
          <p:nvPr/>
        </p:nvSpPr>
        <p:spPr>
          <a:xfrm>
            <a:off x="4343400" y="1783080"/>
            <a:ext cx="3520440" cy="374904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1" name="Shape 7"/>
          <p:cNvSpPr/>
          <p:nvPr/>
        </p:nvSpPr>
        <p:spPr>
          <a:xfrm>
            <a:off x="5641848" y="1965960"/>
            <a:ext cx="914400" cy="914400"/>
          </a:xfrm>
          <a:prstGeom prst="ellipse">
            <a:avLst/>
          </a:prstGeom>
          <a:solidFill>
            <a:srgbClr val="E57A2E"/>
          </a:solidFill>
          <a:ln w="12700">
            <a:solidFill>
              <a:srgbClr val="E57A2E"/>
            </a:solidFill>
            <a:prstDash val="solid"/>
          </a:ln>
        </p:spPr>
      </p:sp>
      <p:pic>
        <p:nvPicPr>
          <p:cNvPr id="12" name="Image 1" descr="art/icons/ClipboardList_w.png">    </p:cNvPr>
          <p:cNvPicPr>
            <a:picLocks noChangeAspect="1"/>
          </p:cNvPicPr>
          <p:nvPr/>
        </p:nvPicPr>
        <p:blipFill>
          <a:blip r:embed="rId2"/>
          <a:stretch>
            <a:fillRect/>
          </a:stretch>
        </p:blipFill>
        <p:spPr>
          <a:xfrm>
            <a:off x="5861304" y="2185416"/>
            <a:ext cx="475488" cy="475488"/>
          </a:xfrm>
          <a:prstGeom prst="rect">
            <a:avLst/>
          </a:prstGeom>
        </p:spPr>
      </p:pic>
      <p:sp>
        <p:nvSpPr>
          <p:cNvPr id="13" name="Text 8"/>
          <p:cNvSpPr txBox="1"/>
          <p:nvPr/>
        </p:nvSpPr>
        <p:spPr>
          <a:xfrm>
            <a:off x="4572000" y="3017520"/>
            <a:ext cx="3063240" cy="457200"/>
          </a:xfrm>
          <a:prstGeom prst="rect">
            <a:avLst/>
          </a:prstGeom>
          <a:noFill/>
          <a:ln/>
        </p:spPr>
        <p:txBody>
          <a:bodyPr wrap="square" lIns="0" tIns="0" rIns="0" bIns="0" rtlCol="0" anchor="t"/>
          <a:lstStyle/>
          <a:p>
            <a:pPr algn="ctr" indent="0" marL="0">
              <a:buNone/>
            </a:pPr>
            <a:r>
              <a:rPr lang="en-US" sz="2000" b="1" dirty="0">
                <a:solidFill>
                  <a:srgbClr val="14213D"/>
                </a:solidFill>
                <a:latin typeface="Calibri" pitchFamily="34" charset="0"/>
                <a:ea typeface="Calibri" pitchFamily="34" charset="-122"/>
                <a:cs typeface="Calibri" pitchFamily="34" charset="-120"/>
              </a:rPr>
              <a:t>Desenho e instrumentos</a:t>
            </a:r>
            <a:endParaRPr lang="en-US" sz="2000" dirty="0"/>
          </a:p>
        </p:txBody>
      </p:sp>
      <p:sp>
        <p:nvSpPr>
          <p:cNvPr id="14" name="Text 9"/>
          <p:cNvSpPr txBox="1"/>
          <p:nvPr/>
        </p:nvSpPr>
        <p:spPr>
          <a:xfrm>
            <a:off x="4617720" y="3566160"/>
            <a:ext cx="2971800" cy="1874520"/>
          </a:xfrm>
          <a:prstGeom prst="rect">
            <a:avLst/>
          </a:prstGeom>
          <a:noFill/>
          <a:ln/>
        </p:spPr>
        <p:txBody>
          <a:bodyPr wrap="square" lIns="0" tIns="0" rIns="0" bIns="0" rtlCol="0" anchor="t"/>
          <a:lstStyle/>
          <a:p>
            <a:pPr algn="ctr" indent="0" marL="0">
              <a:buNone/>
            </a:pPr>
            <a:r>
              <a:rPr lang="en-US" sz="1600" dirty="0">
                <a:solidFill>
                  <a:srgbClr val="4A5A73"/>
                </a:solidFill>
                <a:latin typeface="Calibri" pitchFamily="34" charset="0"/>
                <a:ea typeface="Calibri" pitchFamily="34" charset="-122"/>
                <a:cs typeface="Calibri" pitchFamily="34" charset="-120"/>
              </a:rPr>
              <a:t>Pré e pós-teste + observação + registros do Modo Professor + grupo focal e entrevistas.</a:t>
            </a:r>
            <a:endParaRPr lang="en-US" sz="1600" dirty="0"/>
          </a:p>
        </p:txBody>
      </p:sp>
      <p:sp>
        <p:nvSpPr>
          <p:cNvPr id="15" name="Shape 10"/>
          <p:cNvSpPr/>
          <p:nvPr/>
        </p:nvSpPr>
        <p:spPr>
          <a:xfrm>
            <a:off x="8138160" y="1783080"/>
            <a:ext cx="3520440" cy="3749040"/>
          </a:xfrm>
          <a:prstGeom prst="roundRect">
            <a:avLst>
              <a:gd name="adj" fmla="val 4156"/>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6" name="Shape 11"/>
          <p:cNvSpPr/>
          <p:nvPr/>
        </p:nvSpPr>
        <p:spPr>
          <a:xfrm>
            <a:off x="9436608" y="1965960"/>
            <a:ext cx="914400" cy="914400"/>
          </a:xfrm>
          <a:prstGeom prst="ellipse">
            <a:avLst/>
          </a:prstGeom>
          <a:solidFill>
            <a:srgbClr val="2FA36B"/>
          </a:solidFill>
          <a:ln w="12700">
            <a:solidFill>
              <a:srgbClr val="2FA36B"/>
            </a:solidFill>
            <a:prstDash val="solid"/>
          </a:ln>
        </p:spPr>
      </p:sp>
      <p:pic>
        <p:nvPicPr>
          <p:cNvPr id="17" name="Image 2" descr="art/icons/ScaleBalanced_w.png">    </p:cNvPr>
          <p:cNvPicPr>
            <a:picLocks noChangeAspect="1"/>
          </p:cNvPicPr>
          <p:nvPr/>
        </p:nvPicPr>
        <p:blipFill>
          <a:blip r:embed="rId3"/>
          <a:stretch>
            <a:fillRect/>
          </a:stretch>
        </p:blipFill>
        <p:spPr>
          <a:xfrm>
            <a:off x="9656064" y="2185416"/>
            <a:ext cx="475488" cy="475488"/>
          </a:xfrm>
          <a:prstGeom prst="rect">
            <a:avLst/>
          </a:prstGeom>
        </p:spPr>
      </p:pic>
      <p:sp>
        <p:nvSpPr>
          <p:cNvPr id="18" name="Text 12"/>
          <p:cNvSpPr txBox="1"/>
          <p:nvPr/>
        </p:nvSpPr>
        <p:spPr>
          <a:xfrm>
            <a:off x="8366760" y="3017520"/>
            <a:ext cx="3063240" cy="457200"/>
          </a:xfrm>
          <a:prstGeom prst="rect">
            <a:avLst/>
          </a:prstGeom>
          <a:noFill/>
          <a:ln/>
        </p:spPr>
        <p:txBody>
          <a:bodyPr wrap="square" lIns="0" tIns="0" rIns="0" bIns="0" rtlCol="0" anchor="t"/>
          <a:lstStyle/>
          <a:p>
            <a:pPr algn="ctr" indent="0" marL="0">
              <a:buNone/>
            </a:pPr>
            <a:r>
              <a:rPr lang="en-US" sz="2000" b="1" dirty="0">
                <a:solidFill>
                  <a:srgbClr val="14213D"/>
                </a:solidFill>
                <a:latin typeface="Calibri" pitchFamily="34" charset="0"/>
                <a:ea typeface="Calibri" pitchFamily="34" charset="-122"/>
                <a:cs typeface="Calibri" pitchFamily="34" charset="-120"/>
              </a:rPr>
              <a:t>Ética e análise</a:t>
            </a:r>
            <a:endParaRPr lang="en-US" sz="2000" dirty="0"/>
          </a:p>
        </p:txBody>
      </p:sp>
      <p:sp>
        <p:nvSpPr>
          <p:cNvPr id="19" name="Text 13"/>
          <p:cNvSpPr txBox="1"/>
          <p:nvPr/>
        </p:nvSpPr>
        <p:spPr>
          <a:xfrm>
            <a:off x="8412480" y="3566160"/>
            <a:ext cx="2971800" cy="1874520"/>
          </a:xfrm>
          <a:prstGeom prst="rect">
            <a:avLst/>
          </a:prstGeom>
          <a:noFill/>
          <a:ln/>
        </p:spPr>
        <p:txBody>
          <a:bodyPr wrap="square" lIns="0" tIns="0" rIns="0" bIns="0" rtlCol="0" anchor="t"/>
          <a:lstStyle/>
          <a:p>
            <a:pPr algn="ctr" indent="0" marL="0">
              <a:buNone/>
            </a:pPr>
            <a:r>
              <a:rPr lang="en-US" sz="1600" dirty="0">
                <a:solidFill>
                  <a:srgbClr val="4A5A73"/>
                </a:solidFill>
                <a:latin typeface="Calibri" pitchFamily="34" charset="0"/>
                <a:ea typeface="Calibri" pitchFamily="34" charset="-122"/>
                <a:cs typeface="Calibri" pitchFamily="34" charset="-120"/>
              </a:rPr>
              <a:t>TCLE, TALE e CEP (Res. CNS 510/2016). Wilcoxon ou t pareado e ganho normalizado (Hake, 1998).</a:t>
            </a:r>
            <a:endParaRPr lang="en-US" sz="1600" dirty="0"/>
          </a:p>
        </p:txBody>
      </p:sp>
      <p:sp>
        <p:nvSpPr>
          <p:cNvPr id="20" name="Shape 14"/>
          <p:cNvSpPr/>
          <p:nvPr/>
        </p:nvSpPr>
        <p:spPr>
          <a:xfrm>
            <a:off x="548640" y="5715000"/>
            <a:ext cx="11064240" cy="548640"/>
          </a:xfrm>
          <a:prstGeom prst="roundRect">
            <a:avLst>
              <a:gd name="adj" fmla="val 26667"/>
            </a:avLst>
          </a:prstGeom>
          <a:solidFill>
            <a:srgbClr val="E5533D"/>
          </a:solidFill>
          <a:ln w="12700">
            <a:solidFill>
              <a:srgbClr val="E5533D"/>
            </a:solidFill>
            <a:prstDash val="solid"/>
          </a:ln>
        </p:spPr>
      </p:sp>
      <p:sp>
        <p:nvSpPr>
          <p:cNvPr id="21" name="Text 15"/>
          <p:cNvSpPr txBox="1"/>
          <p:nvPr/>
        </p:nvSpPr>
        <p:spPr>
          <a:xfrm>
            <a:off x="822960" y="5715000"/>
            <a:ext cx="105156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As escalas foram elaboradas para esta oficina e não são validadas: interprete com cautela.</a:t>
            </a:r>
            <a:endParaRPr lang="en-US" sz="15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513332"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ATIVIDADE 3</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Construa o seu plano de parceria com escolas (8 min)</a:t>
            </a:r>
            <a:endParaRPr lang="en-US" sz="3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4206240"/>
                <a:gridCol w="6858000"/>
              </a:tblGrid>
              <a:tr h="603504">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Minha instituição e o município</a:t>
                      </a:r>
                      <a:endParaRPr lang="en-US" sz="14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3F8FC"/>
                    </a:solidFill>
                  </a:tcPr>
                </a:tc>
                <a:tc>
                  <a:txBody>
                    <a:bodyPr/>
                    <a:lstStyle/>
                    <a:p>
                      <a:pPr indent="0" marL="0">
                        <a:buNone/>
                      </a:pPr>
                      <a:endParaRPr lang="en-US" sz="13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Escolas ou redes que atendo</a:t>
                      </a:r>
                      <a:endParaRPr lang="en-US" sz="14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3F8FC"/>
                    </a:solidFill>
                  </a:tcPr>
                </a:tc>
                <a:tc>
                  <a:txBody>
                    <a:bodyPr/>
                    <a:lstStyle/>
                    <a:p>
                      <a:pPr indent="0" marL="0">
                        <a:buNone/>
                      </a:pPr>
                      <a:endParaRPr lang="en-US" sz="13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Modelo de uso que faz sentido (A a F)</a:t>
                      </a:r>
                      <a:endParaRPr lang="en-US" sz="14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3F8FC"/>
                    </a:solidFill>
                  </a:tcPr>
                </a:tc>
                <a:tc>
                  <a:txBody>
                    <a:bodyPr/>
                    <a:lstStyle/>
                    <a:p>
                      <a:pPr indent="0" marL="0">
                        <a:buNone/>
                      </a:pPr>
                      <a:endParaRPr lang="en-US" sz="13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O papel da minha instituição</a:t>
                      </a:r>
                      <a:endParaRPr lang="en-US" sz="14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3F8FC"/>
                    </a:solidFill>
                  </a:tcPr>
                </a:tc>
                <a:tc>
                  <a:txBody>
                    <a:bodyPr/>
                    <a:lstStyle/>
                    <a:p>
                      <a:pPr indent="0" marL="0">
                        <a:buNone/>
                      </a:pPr>
                      <a:endParaRPr lang="en-US" sz="13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Recursos e parceiros</a:t>
                      </a:r>
                      <a:endParaRPr lang="en-US" sz="14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3F8FC"/>
                    </a:solidFill>
                  </a:tcPr>
                </a:tc>
                <a:tc>
                  <a:txBody>
                    <a:bodyPr/>
                    <a:lstStyle/>
                    <a:p>
                      <a:pPr indent="0" marL="0">
                        <a:buNone/>
                      </a:pPr>
                      <a:endParaRPr lang="en-US" sz="13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Como acompanhar ou pesquisar</a:t>
                      </a:r>
                      <a:endParaRPr lang="en-US" sz="14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3F8FC"/>
                    </a:solidFill>
                  </a:tcPr>
                </a:tc>
                <a:tc>
                  <a:txBody>
                    <a:bodyPr/>
                    <a:lstStyle/>
                    <a:p>
                      <a:pPr indent="0" marL="0">
                        <a:buNone/>
                      </a:pPr>
                      <a:endParaRPr lang="en-US" sz="13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Primeiro passo nos próximos 30 dias</a:t>
                      </a:r>
                      <a:endParaRPr lang="en-US" sz="14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3F8FC"/>
                    </a:solidFill>
                  </a:tcPr>
                </a:tc>
                <a:tc>
                  <a:txBody>
                    <a:bodyPr/>
                    <a:lstStyle/>
                    <a:p>
                      <a:pPr indent="0" marL="0">
                        <a:buNone/>
                      </a:pPr>
                      <a:endParaRPr lang="en-US" sz="1300" dirty="0">
                        <a:latin typeface="Calibri" charset="0"/>
                        <a:ea typeface="Calibri" charset="0"/>
                        <a:cs typeface="Calibri" charset="0"/>
                      </a:endParaRPr>
                    </a:p>
                  </a:txBody>
                  <a:tcPr marL="109728" marR="109728" marT="45720" marB="45720" anchor="ctr">
                    <a:lnL w="12700" cap="flat" cmpd="sng" algn="ctr">
                      <a:solidFill>
                        <a:srgbClr val="C9D6E4"/>
                      </a:solidFill>
                      <a:prstDash val="solid"/>
                      <a:round/>
                      <a:headEnd type="none" w="med" len="med"/>
                      <a:tailEnd type="none" w="med" len="med"/>
                    </a:lnL>
                    <a:lnR w="12700" cap="flat" cmpd="sng" algn="ctr">
                      <a:solidFill>
                        <a:srgbClr val="C9D6E4"/>
                      </a:solidFill>
                      <a:prstDash val="solid"/>
                      <a:round/>
                      <a:headEnd type="none" w="med" len="med"/>
                      <a:tailEnd type="none" w="med" len="med"/>
                    </a:lnR>
                    <a:lnT w="12700" cap="flat" cmpd="sng" algn="ctr">
                      <a:solidFill>
                        <a:srgbClr val="C9D6E4"/>
                      </a:solidFill>
                      <a:prstDash val="solid"/>
                      <a:round/>
                      <a:headEnd type="none" w="med" len="med"/>
                      <a:tailEnd type="none" w="med" len="med"/>
                    </a:lnT>
                    <a:lnB w="12700" cap="flat" cmpd="sng" algn="ctr">
                      <a:solidFill>
                        <a:srgbClr val="C9D6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2FA36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DEVOLUTIVA</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Resultados de hoje (para preencher ao vivo)</a:t>
            </a:r>
            <a:endParaRPr lang="en-US" sz="3400" dirty="0"/>
          </a:p>
        </p:txBody>
      </p:sp>
      <p:sp>
        <p:nvSpPr>
          <p:cNvPr id="5" name="Shape 2"/>
          <p:cNvSpPr/>
          <p:nvPr/>
        </p:nvSpPr>
        <p:spPr>
          <a:xfrm>
            <a:off x="548640" y="1783080"/>
            <a:ext cx="3520440" cy="3566160"/>
          </a:xfrm>
          <a:prstGeom prst="roundRect">
            <a:avLst>
              <a:gd name="adj" fmla="val 3117"/>
            </a:avLst>
          </a:prstGeom>
          <a:solidFill>
            <a:srgbClr val="FFFFFF"/>
          </a:solidFill>
          <a:ln w="25400">
            <a:solidFill>
              <a:srgbClr val="C9D6E4"/>
            </a:solidFill>
            <a:prstDash val="dash"/>
          </a:ln>
        </p:spPr>
      </p:sp>
      <p:sp>
        <p:nvSpPr>
          <p:cNvPr id="6" name="Text 3"/>
          <p:cNvSpPr txBox="1"/>
          <p:nvPr/>
        </p:nvSpPr>
        <p:spPr>
          <a:xfrm>
            <a:off x="731520" y="1920240"/>
            <a:ext cx="3154680" cy="548640"/>
          </a:xfrm>
          <a:prstGeom prst="rect">
            <a:avLst/>
          </a:prstGeom>
          <a:noFill/>
          <a:ln/>
        </p:spPr>
        <p:txBody>
          <a:bodyPr wrap="square" lIns="0" tIns="0" rIns="0" bIns="0" rtlCol="0" anchor="t"/>
          <a:lstStyle/>
          <a:p>
            <a:pPr algn="ctr" indent="0" marL="0">
              <a:buNone/>
            </a:pPr>
            <a:r>
              <a:rPr lang="en-US" sz="1800" b="1" dirty="0">
                <a:solidFill>
                  <a:srgbClr val="14213D"/>
                </a:solidFill>
                <a:latin typeface="Calibri" pitchFamily="34" charset="0"/>
                <a:ea typeface="Calibri" pitchFamily="34" charset="-122"/>
                <a:cs typeface="Calibri" pitchFamily="34" charset="-120"/>
              </a:rPr>
              <a:t>Confiança antes e depois</a:t>
            </a:r>
            <a:endParaRPr lang="en-US" sz="1800" dirty="0"/>
          </a:p>
        </p:txBody>
      </p:sp>
      <p:sp>
        <p:nvSpPr>
          <p:cNvPr id="7" name="Text 4"/>
          <p:cNvSpPr txBox="1"/>
          <p:nvPr/>
        </p:nvSpPr>
        <p:spPr>
          <a:xfrm>
            <a:off x="822960" y="2926080"/>
            <a:ext cx="2971800" cy="1097280"/>
          </a:xfrm>
          <a:prstGeom prst="rect">
            <a:avLst/>
          </a:prstGeom>
          <a:noFill/>
          <a:ln/>
        </p:spPr>
        <p:txBody>
          <a:bodyPr wrap="square" lIns="0" tIns="0" rIns="0" bIns="0" rtlCol="0" anchor="ctr"/>
          <a:lstStyle/>
          <a:p>
            <a:pPr algn="ctr" indent="0" marL="0">
              <a:buNone/>
            </a:pPr>
            <a:r>
              <a:rPr lang="en-US" sz="1400" dirty="0">
                <a:solidFill>
                  <a:srgbClr val="4A5A73"/>
                </a:solidFill>
                <a:latin typeface="Calibri" pitchFamily="34" charset="0"/>
                <a:ea typeface="Calibri" pitchFamily="34" charset="-122"/>
                <a:cs typeface="Calibri" pitchFamily="34" charset="-120"/>
              </a:rPr>
              <a:t>Cole aqui o gráfico ou os números da planilha</a:t>
            </a:r>
            <a:endParaRPr lang="en-US" sz="1400" dirty="0"/>
          </a:p>
        </p:txBody>
      </p:sp>
      <p:sp>
        <p:nvSpPr>
          <p:cNvPr id="8" name="Text 5"/>
          <p:cNvSpPr txBox="1"/>
          <p:nvPr/>
        </p:nvSpPr>
        <p:spPr>
          <a:xfrm>
            <a:off x="731520" y="4572000"/>
            <a:ext cx="3154680" cy="685800"/>
          </a:xfrm>
          <a:prstGeom prst="rect">
            <a:avLst/>
          </a:prstGeom>
          <a:noFill/>
          <a:ln/>
        </p:spPr>
        <p:txBody>
          <a:bodyPr wrap="square" lIns="0" tIns="0" rIns="0" bIns="0" rtlCol="0" anchor="t"/>
          <a:lstStyle/>
          <a:p>
            <a:pPr algn="ctr" indent="0" marL="0">
              <a:buNone/>
            </a:pPr>
            <a:r>
              <a:rPr lang="en-US" sz="1200" dirty="0">
                <a:solidFill>
                  <a:srgbClr val="000000"/>
                </a:solidFill>
                <a:latin typeface="Calibri" pitchFamily="34" charset="0"/>
                <a:ea typeface="Calibri" pitchFamily="34" charset="-122"/>
                <a:cs typeface="Calibri" pitchFamily="34" charset="-120"/>
              </a:rPr>
              <a:t>Média dos 5 itens, pré e pós (aba Resumo)</a:t>
            </a:r>
            <a:endParaRPr lang="en-US" sz="1200" dirty="0"/>
          </a:p>
        </p:txBody>
      </p:sp>
      <p:sp>
        <p:nvSpPr>
          <p:cNvPr id="9" name="Shape 6"/>
          <p:cNvSpPr/>
          <p:nvPr/>
        </p:nvSpPr>
        <p:spPr>
          <a:xfrm>
            <a:off x="4343400" y="1783080"/>
            <a:ext cx="3520440" cy="3566160"/>
          </a:xfrm>
          <a:prstGeom prst="roundRect">
            <a:avLst>
              <a:gd name="adj" fmla="val 3117"/>
            </a:avLst>
          </a:prstGeom>
          <a:solidFill>
            <a:srgbClr val="FFFFFF"/>
          </a:solidFill>
          <a:ln w="25400">
            <a:solidFill>
              <a:srgbClr val="C9D6E4"/>
            </a:solidFill>
            <a:prstDash val="dash"/>
          </a:ln>
        </p:spPr>
      </p:sp>
      <p:sp>
        <p:nvSpPr>
          <p:cNvPr id="10" name="Text 7"/>
          <p:cNvSpPr txBox="1"/>
          <p:nvPr/>
        </p:nvSpPr>
        <p:spPr>
          <a:xfrm>
            <a:off x="4526280" y="1920240"/>
            <a:ext cx="3154680" cy="548640"/>
          </a:xfrm>
          <a:prstGeom prst="rect">
            <a:avLst/>
          </a:prstGeom>
          <a:noFill/>
          <a:ln/>
        </p:spPr>
        <p:txBody>
          <a:bodyPr wrap="square" lIns="0" tIns="0" rIns="0" bIns="0" rtlCol="0" anchor="t"/>
          <a:lstStyle/>
          <a:p>
            <a:pPr algn="ctr" indent="0" marL="0">
              <a:buNone/>
            </a:pPr>
            <a:r>
              <a:rPr lang="en-US" sz="1800" b="1" dirty="0">
                <a:solidFill>
                  <a:srgbClr val="14213D"/>
                </a:solidFill>
                <a:latin typeface="Calibri" pitchFamily="34" charset="0"/>
                <a:ea typeface="Calibri" pitchFamily="34" charset="-122"/>
                <a:cs typeface="Calibri" pitchFamily="34" charset="-120"/>
              </a:rPr>
              <a:t>Experiência com o jogo</a:t>
            </a:r>
            <a:endParaRPr lang="en-US" sz="1800" dirty="0"/>
          </a:p>
        </p:txBody>
      </p:sp>
      <p:sp>
        <p:nvSpPr>
          <p:cNvPr id="11" name="Text 8"/>
          <p:cNvSpPr txBox="1"/>
          <p:nvPr/>
        </p:nvSpPr>
        <p:spPr>
          <a:xfrm>
            <a:off x="4617720" y="2926080"/>
            <a:ext cx="2971800" cy="1097280"/>
          </a:xfrm>
          <a:prstGeom prst="rect">
            <a:avLst/>
          </a:prstGeom>
          <a:noFill/>
          <a:ln/>
        </p:spPr>
        <p:txBody>
          <a:bodyPr wrap="square" lIns="0" tIns="0" rIns="0" bIns="0" rtlCol="0" anchor="ctr"/>
          <a:lstStyle/>
          <a:p>
            <a:pPr algn="ctr" indent="0" marL="0">
              <a:buNone/>
            </a:pPr>
            <a:r>
              <a:rPr lang="en-US" sz="1400" dirty="0">
                <a:solidFill>
                  <a:srgbClr val="4A5A73"/>
                </a:solidFill>
                <a:latin typeface="Calibri" pitchFamily="34" charset="0"/>
                <a:ea typeface="Calibri" pitchFamily="34" charset="-122"/>
                <a:cs typeface="Calibri" pitchFamily="34" charset="-120"/>
              </a:rPr>
              <a:t>Cole aqui o gráfico ou os números da planilha</a:t>
            </a:r>
            <a:endParaRPr lang="en-US" sz="1400" dirty="0"/>
          </a:p>
        </p:txBody>
      </p:sp>
      <p:sp>
        <p:nvSpPr>
          <p:cNvPr id="12" name="Text 9"/>
          <p:cNvSpPr txBox="1"/>
          <p:nvPr/>
        </p:nvSpPr>
        <p:spPr>
          <a:xfrm>
            <a:off x="4526280" y="4572000"/>
            <a:ext cx="3154680" cy="685800"/>
          </a:xfrm>
          <a:prstGeom prst="rect">
            <a:avLst/>
          </a:prstGeom>
          <a:noFill/>
          <a:ln/>
        </p:spPr>
        <p:txBody>
          <a:bodyPr wrap="square" lIns="0" tIns="0" rIns="0" bIns="0" rtlCol="0" anchor="t"/>
          <a:lstStyle/>
          <a:p>
            <a:pPr algn="ctr" indent="0" marL="0">
              <a:buNone/>
            </a:pPr>
            <a:r>
              <a:rPr lang="en-US" sz="1200" dirty="0">
                <a:solidFill>
                  <a:srgbClr val="000000"/>
                </a:solidFill>
                <a:latin typeface="Calibri" pitchFamily="34" charset="0"/>
                <a:ea typeface="Calibri" pitchFamily="34" charset="-122"/>
                <a:cs typeface="Calibri" pitchFamily="34" charset="-120"/>
              </a:rPr>
              <a:t>% de concordância por item e itens de desconforto</a:t>
            </a:r>
            <a:endParaRPr lang="en-US" sz="1200" dirty="0"/>
          </a:p>
        </p:txBody>
      </p:sp>
      <p:sp>
        <p:nvSpPr>
          <p:cNvPr id="13" name="Shape 10"/>
          <p:cNvSpPr/>
          <p:nvPr/>
        </p:nvSpPr>
        <p:spPr>
          <a:xfrm>
            <a:off x="8138160" y="1783080"/>
            <a:ext cx="3520440" cy="3566160"/>
          </a:xfrm>
          <a:prstGeom prst="roundRect">
            <a:avLst>
              <a:gd name="adj" fmla="val 3117"/>
            </a:avLst>
          </a:prstGeom>
          <a:solidFill>
            <a:srgbClr val="FFFFFF"/>
          </a:solidFill>
          <a:ln w="25400">
            <a:solidFill>
              <a:srgbClr val="C9D6E4"/>
            </a:solidFill>
            <a:prstDash val="dash"/>
          </a:ln>
        </p:spPr>
      </p:sp>
      <p:sp>
        <p:nvSpPr>
          <p:cNvPr id="14" name="Text 11"/>
          <p:cNvSpPr txBox="1"/>
          <p:nvPr/>
        </p:nvSpPr>
        <p:spPr>
          <a:xfrm>
            <a:off x="8321040" y="1920240"/>
            <a:ext cx="3154680" cy="548640"/>
          </a:xfrm>
          <a:prstGeom prst="rect">
            <a:avLst/>
          </a:prstGeom>
          <a:noFill/>
          <a:ln/>
        </p:spPr>
        <p:txBody>
          <a:bodyPr wrap="square" lIns="0" tIns="0" rIns="0" bIns="0" rtlCol="0" anchor="t"/>
          <a:lstStyle/>
          <a:p>
            <a:pPr algn="ctr" indent="0" marL="0">
              <a:buNone/>
            </a:pPr>
            <a:r>
              <a:rPr lang="en-US" sz="1800" b="1" dirty="0">
                <a:solidFill>
                  <a:srgbClr val="14213D"/>
                </a:solidFill>
                <a:latin typeface="Calibri" pitchFamily="34" charset="0"/>
                <a:ea typeface="Calibri" pitchFamily="34" charset="-122"/>
                <a:cs typeface="Calibri" pitchFamily="34" charset="-120"/>
              </a:rPr>
              <a:t>Validação de conteúdo</a:t>
            </a:r>
            <a:endParaRPr lang="en-US" sz="1800" dirty="0"/>
          </a:p>
        </p:txBody>
      </p:sp>
      <p:sp>
        <p:nvSpPr>
          <p:cNvPr id="15" name="Text 12"/>
          <p:cNvSpPr txBox="1"/>
          <p:nvPr/>
        </p:nvSpPr>
        <p:spPr>
          <a:xfrm>
            <a:off x="8412480" y="2926080"/>
            <a:ext cx="2971800" cy="1097280"/>
          </a:xfrm>
          <a:prstGeom prst="rect">
            <a:avLst/>
          </a:prstGeom>
          <a:noFill/>
          <a:ln/>
        </p:spPr>
        <p:txBody>
          <a:bodyPr wrap="square" lIns="0" tIns="0" rIns="0" bIns="0" rtlCol="0" anchor="ctr"/>
          <a:lstStyle/>
          <a:p>
            <a:pPr algn="ctr" indent="0" marL="0">
              <a:buNone/>
            </a:pPr>
            <a:r>
              <a:rPr lang="en-US" sz="1400" dirty="0">
                <a:solidFill>
                  <a:srgbClr val="4A5A73"/>
                </a:solidFill>
                <a:latin typeface="Calibri" pitchFamily="34" charset="0"/>
                <a:ea typeface="Calibri" pitchFamily="34" charset="-122"/>
                <a:cs typeface="Calibri" pitchFamily="34" charset="-120"/>
              </a:rPr>
              <a:t>Cole aqui o gráfico ou os números da planilha</a:t>
            </a:r>
            <a:endParaRPr lang="en-US" sz="1400" dirty="0"/>
          </a:p>
        </p:txBody>
      </p:sp>
      <p:sp>
        <p:nvSpPr>
          <p:cNvPr id="16" name="Text 13"/>
          <p:cNvSpPr txBox="1"/>
          <p:nvPr/>
        </p:nvSpPr>
        <p:spPr>
          <a:xfrm>
            <a:off x="8321040" y="4572000"/>
            <a:ext cx="3154680" cy="685800"/>
          </a:xfrm>
          <a:prstGeom prst="rect">
            <a:avLst/>
          </a:prstGeom>
          <a:noFill/>
          <a:ln/>
        </p:spPr>
        <p:txBody>
          <a:bodyPr wrap="square" lIns="0" tIns="0" rIns="0" bIns="0" rtlCol="0" anchor="t"/>
          <a:lstStyle/>
          <a:p>
            <a:pPr algn="ctr" indent="0" marL="0">
              <a:buNone/>
            </a:pPr>
            <a:r>
              <a:rPr lang="en-US" sz="1200" dirty="0">
                <a:solidFill>
                  <a:srgbClr val="000000"/>
                </a:solidFill>
                <a:latin typeface="Calibri" pitchFamily="34" charset="0"/>
                <a:ea typeface="Calibri" pitchFamily="34" charset="-122"/>
                <a:cs typeface="Calibri" pitchFamily="34" charset="-120"/>
              </a:rPr>
              <a:t>I-CVI por dimensão e itens a revisar</a:t>
            </a:r>
            <a:endParaRPr lang="en-US" sz="1200" dirty="0"/>
          </a:p>
        </p:txBody>
      </p:sp>
      <p:sp>
        <p:nvSpPr>
          <p:cNvPr id="17" name="Shape 14"/>
          <p:cNvSpPr/>
          <p:nvPr/>
        </p:nvSpPr>
        <p:spPr>
          <a:xfrm>
            <a:off x="548640" y="5532120"/>
            <a:ext cx="11064240" cy="731520"/>
          </a:xfrm>
          <a:prstGeom prst="roundRect">
            <a:avLst>
              <a:gd name="adj" fmla="val 20000"/>
            </a:avLst>
          </a:prstGeom>
          <a:solidFill>
            <a:srgbClr val="0F1B2E"/>
          </a:solidFill>
          <a:ln w="12700">
            <a:solidFill>
              <a:srgbClr val="0F1B2E"/>
            </a:solidFill>
            <a:prstDash val="solid"/>
          </a:ln>
        </p:spPr>
      </p:sp>
      <p:sp>
        <p:nvSpPr>
          <p:cNvPr id="18" name="Text 15"/>
          <p:cNvSpPr txBox="1"/>
          <p:nvPr/>
        </p:nvSpPr>
        <p:spPr>
          <a:xfrm>
            <a:off x="822960" y="5532120"/>
            <a:ext cx="1051560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Turma pequena e amostra de conveniência: apresentar de forma descritiva, sem generalizar.</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B2E"/>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E5533D"/>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CUIDADOS</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Cuidados e limites</a:t>
            </a:r>
            <a:endParaRPr lang="en-US" sz="3400" dirty="0"/>
          </a:p>
        </p:txBody>
      </p:sp>
      <p:sp>
        <p:nvSpPr>
          <p:cNvPr id="5" name="Shape 2"/>
          <p:cNvSpPr/>
          <p:nvPr/>
        </p:nvSpPr>
        <p:spPr>
          <a:xfrm>
            <a:off x="548640" y="1783080"/>
            <a:ext cx="5440680" cy="1280160"/>
          </a:xfrm>
          <a:prstGeom prst="roundRect">
            <a:avLst>
              <a:gd name="adj" fmla="val 11429"/>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txBody>
          <a:bodyPr/>
          <a:p/>
        </p:txBody>
      </p:sp>
      <p:sp>
        <p:nvSpPr>
          <p:cNvPr id="6" name="Shape 3"/>
          <p:cNvSpPr/>
          <p:nvPr/>
        </p:nvSpPr>
        <p:spPr>
          <a:xfrm>
            <a:off x="777240" y="2057400"/>
            <a:ext cx="731520" cy="731520"/>
          </a:xfrm>
          <a:prstGeom prst="ellipse">
            <a:avLst/>
          </a:prstGeom>
          <a:solidFill>
            <a:srgbClr val="F5C451"/>
          </a:solidFill>
          <a:ln w="12700">
            <a:solidFill>
              <a:srgbClr val="F5C451"/>
            </a:solidFill>
            <a:prstDash val="solid"/>
          </a:ln>
        </p:spPr>
        <p:txBody>
          <a:bodyPr/>
          <a:p/>
        </p:txBody>
      </p:sp>
      <p:pic>
        <p:nvPicPr>
          <p:cNvPr id="7" name="Image 0" descr="art/icons/Bell_n.png">    </p:cNvPr>
          <p:cNvPicPr>
            <a:picLocks noChangeAspect="1"/>
          </p:cNvPicPr>
          <p:nvPr/>
        </p:nvPicPr>
        <p:blipFill>
          <a:blip r:embed="rId1"/>
          <a:stretch>
            <a:fillRect/>
          </a:stretch>
        </p:blipFill>
        <p:spPr>
          <a:xfrm>
            <a:off x="952805" y="2232965"/>
            <a:ext cx="380390" cy="380390"/>
          </a:xfrm>
          <a:prstGeom prst="rect">
            <a:avLst/>
          </a:prstGeom>
        </p:spPr>
      </p:pic>
      <p:sp>
        <p:nvSpPr>
          <p:cNvPr id="8" name="Text 4"/>
          <p:cNvSpPr txBox="1"/>
          <p:nvPr/>
        </p:nvSpPr>
        <p:spPr>
          <a:xfrm>
            <a:off x="1783080" y="1783080"/>
            <a:ext cx="4069080" cy="12801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Não substitui o simulado real nem as orientações da Defesa Civil local.</a:t>
            </a:r>
            <a:endParaRPr lang="en-US" sz="1600" dirty="0"/>
          </a:p>
        </p:txBody>
      </p:sp>
      <p:sp>
        <p:nvSpPr>
          <p:cNvPr id="9" name="Shape 5"/>
          <p:cNvSpPr/>
          <p:nvPr/>
        </p:nvSpPr>
        <p:spPr>
          <a:xfrm>
            <a:off x="6172200" y="1783080"/>
            <a:ext cx="5440680" cy="1280160"/>
          </a:xfrm>
          <a:prstGeom prst="roundRect">
            <a:avLst>
              <a:gd name="adj" fmla="val 11429"/>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txBody>
          <a:bodyPr/>
          <a:p/>
        </p:txBody>
      </p:sp>
      <p:sp>
        <p:nvSpPr>
          <p:cNvPr id="10" name="Shape 6"/>
          <p:cNvSpPr/>
          <p:nvPr/>
        </p:nvSpPr>
        <p:spPr>
          <a:xfrm>
            <a:off x="6400800" y="2057400"/>
            <a:ext cx="731520" cy="731520"/>
          </a:xfrm>
          <a:prstGeom prst="ellipse">
            <a:avLst/>
          </a:prstGeom>
          <a:solidFill>
            <a:srgbClr val="F5C451"/>
          </a:solidFill>
          <a:ln w="12700">
            <a:solidFill>
              <a:srgbClr val="F5C451"/>
            </a:solidFill>
            <a:prstDash val="solid"/>
          </a:ln>
        </p:spPr>
        <p:txBody>
          <a:bodyPr/>
          <a:p/>
        </p:txBody>
      </p:sp>
      <p:pic>
        <p:nvPicPr>
          <p:cNvPr id="11" name="Image 1" descr="art/icons/Map_n.png">    </p:cNvPr>
          <p:cNvPicPr>
            <a:picLocks noChangeAspect="1"/>
          </p:cNvPicPr>
          <p:nvPr/>
        </p:nvPicPr>
        <p:blipFill>
          <a:blip r:embed="rId2"/>
          <a:stretch>
            <a:fillRect/>
          </a:stretch>
        </p:blipFill>
        <p:spPr>
          <a:xfrm>
            <a:off x="6576365" y="2232965"/>
            <a:ext cx="380390" cy="380390"/>
          </a:xfrm>
          <a:prstGeom prst="rect">
            <a:avLst/>
          </a:prstGeom>
        </p:spPr>
      </p:pic>
      <p:sp>
        <p:nvSpPr>
          <p:cNvPr id="12" name="Text 7"/>
          <p:cNvSpPr txBox="1"/>
          <p:nvPr/>
        </p:nvSpPr>
        <p:spPr>
          <a:xfrm>
            <a:off x="7406640" y="1783080"/>
            <a:ext cx="4069080" cy="12801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Conteúdo geral: adapte ao município e confirme telefones e alertas locais.</a:t>
            </a:r>
            <a:endParaRPr lang="en-US" sz="1600" dirty="0"/>
          </a:p>
        </p:txBody>
      </p:sp>
      <p:sp>
        <p:nvSpPr>
          <p:cNvPr id="13" name="Shape 8"/>
          <p:cNvSpPr/>
          <p:nvPr/>
        </p:nvSpPr>
        <p:spPr>
          <a:xfrm>
            <a:off x="548640" y="3246120"/>
            <a:ext cx="5440680" cy="1280160"/>
          </a:xfrm>
          <a:prstGeom prst="roundRect">
            <a:avLst>
              <a:gd name="adj" fmla="val 11429"/>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txBody>
          <a:bodyPr/>
          <a:p/>
        </p:txBody>
      </p:sp>
      <p:sp>
        <p:nvSpPr>
          <p:cNvPr id="14" name="Shape 9"/>
          <p:cNvSpPr/>
          <p:nvPr/>
        </p:nvSpPr>
        <p:spPr>
          <a:xfrm>
            <a:off x="777240" y="3520440"/>
            <a:ext cx="731520" cy="731520"/>
          </a:xfrm>
          <a:prstGeom prst="ellipse">
            <a:avLst/>
          </a:prstGeom>
          <a:solidFill>
            <a:srgbClr val="F5C451"/>
          </a:solidFill>
          <a:ln w="12700">
            <a:solidFill>
              <a:srgbClr val="F5C451"/>
            </a:solidFill>
            <a:prstDash val="solid"/>
          </a:ln>
        </p:spPr>
        <p:txBody>
          <a:bodyPr/>
          <a:p/>
        </p:txBody>
      </p:sp>
      <p:pic>
        <p:nvPicPr>
          <p:cNvPr id="15" name="Image 2" descr="art/icons/Phone_n.png">    </p:cNvPr>
          <p:cNvPicPr>
            <a:picLocks noChangeAspect="1"/>
          </p:cNvPicPr>
          <p:nvPr/>
        </p:nvPicPr>
        <p:blipFill>
          <a:blip r:embed="rId3"/>
          <a:stretch>
            <a:fillRect/>
          </a:stretch>
        </p:blipFill>
        <p:spPr>
          <a:xfrm>
            <a:off x="952805" y="3696005"/>
            <a:ext cx="380390" cy="380390"/>
          </a:xfrm>
          <a:prstGeom prst="rect">
            <a:avLst/>
          </a:prstGeom>
        </p:spPr>
      </p:pic>
      <p:sp>
        <p:nvSpPr>
          <p:cNvPr id="16" name="Text 10"/>
          <p:cNvSpPr txBox="1"/>
          <p:nvPr/>
        </p:nvSpPr>
        <p:spPr>
          <a:xfrm>
            <a:off x="1783080" y="3246120"/>
            <a:ext cx="4069080" cy="12801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Nunca ligue de verdade para 199, 193 ou 192 para treinar.</a:t>
            </a:r>
            <a:endParaRPr lang="en-US" sz="1600" dirty="0"/>
          </a:p>
        </p:txBody>
      </p:sp>
      <p:sp>
        <p:nvSpPr>
          <p:cNvPr id="17" name="Shape 11"/>
          <p:cNvSpPr/>
          <p:nvPr/>
        </p:nvSpPr>
        <p:spPr>
          <a:xfrm>
            <a:off x="6172200" y="3246120"/>
            <a:ext cx="5440680" cy="1280160"/>
          </a:xfrm>
          <a:prstGeom prst="roundRect">
            <a:avLst>
              <a:gd name="adj" fmla="val 11429"/>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txBody>
          <a:bodyPr/>
          <a:p/>
        </p:txBody>
      </p:sp>
      <p:sp>
        <p:nvSpPr>
          <p:cNvPr id="18" name="Shape 12"/>
          <p:cNvSpPr/>
          <p:nvPr/>
        </p:nvSpPr>
        <p:spPr>
          <a:xfrm>
            <a:off x="6400800" y="3520440"/>
            <a:ext cx="731520" cy="731520"/>
          </a:xfrm>
          <a:prstGeom prst="ellipse">
            <a:avLst/>
          </a:prstGeom>
          <a:solidFill>
            <a:srgbClr val="F5C451"/>
          </a:solidFill>
          <a:ln w="12700">
            <a:solidFill>
              <a:srgbClr val="F5C451"/>
            </a:solidFill>
            <a:prstDash val="solid"/>
          </a:ln>
        </p:spPr>
        <p:txBody>
          <a:bodyPr/>
          <a:p/>
        </p:txBody>
      </p:sp>
      <p:pic>
        <p:nvPicPr>
          <p:cNvPr id="19" name="Image 3" descr="art/icons/Heart_n.png">    </p:cNvPr>
          <p:cNvPicPr>
            <a:picLocks noChangeAspect="1"/>
          </p:cNvPicPr>
          <p:nvPr/>
        </p:nvPicPr>
        <p:blipFill>
          <a:blip r:embed="rId4"/>
          <a:stretch>
            <a:fillRect/>
          </a:stretch>
        </p:blipFill>
        <p:spPr>
          <a:xfrm>
            <a:off x="6576365" y="3696005"/>
            <a:ext cx="380390" cy="380390"/>
          </a:xfrm>
          <a:prstGeom prst="rect">
            <a:avLst/>
          </a:prstGeom>
        </p:spPr>
      </p:pic>
      <p:sp>
        <p:nvSpPr>
          <p:cNvPr id="20" name="Text 13"/>
          <p:cNvSpPr txBox="1"/>
          <p:nvPr/>
        </p:nvSpPr>
        <p:spPr>
          <a:xfrm>
            <a:off x="7406640" y="3246120"/>
            <a:ext cx="4069080" cy="12801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Acolha emoções: alguns estudantes viveram enchentes ou perdas.</a:t>
            </a:r>
            <a:endParaRPr lang="en-US" sz="1600" dirty="0"/>
          </a:p>
        </p:txBody>
      </p:sp>
      <p:sp>
        <p:nvSpPr>
          <p:cNvPr id="21" name="Shape 14"/>
          <p:cNvSpPr/>
          <p:nvPr/>
        </p:nvSpPr>
        <p:spPr>
          <a:xfrm>
            <a:off x="548640" y="4709160"/>
            <a:ext cx="5440680" cy="1280160"/>
          </a:xfrm>
          <a:prstGeom prst="roundRect">
            <a:avLst>
              <a:gd name="adj" fmla="val 11429"/>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txBody>
          <a:bodyPr/>
          <a:p/>
        </p:txBody>
      </p:sp>
      <p:sp>
        <p:nvSpPr>
          <p:cNvPr id="22" name="Shape 15"/>
          <p:cNvSpPr/>
          <p:nvPr/>
        </p:nvSpPr>
        <p:spPr>
          <a:xfrm>
            <a:off x="777240" y="4983480"/>
            <a:ext cx="731520" cy="731520"/>
          </a:xfrm>
          <a:prstGeom prst="ellipse">
            <a:avLst/>
          </a:prstGeom>
          <a:solidFill>
            <a:srgbClr val="F5C451"/>
          </a:solidFill>
          <a:ln w="12700">
            <a:solidFill>
              <a:srgbClr val="F5C451"/>
            </a:solidFill>
            <a:prstDash val="solid"/>
          </a:ln>
        </p:spPr>
        <p:txBody>
          <a:bodyPr/>
          <a:p/>
        </p:txBody>
      </p:sp>
      <p:pic>
        <p:nvPicPr>
          <p:cNvPr id="23" name="Image 4" descr="art/icons/MagnifyingGlass_n.png">    </p:cNvPr>
          <p:cNvPicPr>
            <a:picLocks noChangeAspect="1"/>
          </p:cNvPicPr>
          <p:nvPr/>
        </p:nvPicPr>
        <p:blipFill>
          <a:blip r:embed="rId5"/>
          <a:stretch>
            <a:fillRect/>
          </a:stretch>
        </p:blipFill>
        <p:spPr>
          <a:xfrm>
            <a:off x="952805" y="5159045"/>
            <a:ext cx="380390" cy="380390"/>
          </a:xfrm>
          <a:prstGeom prst="rect">
            <a:avLst/>
          </a:prstGeom>
        </p:spPr>
      </p:pic>
      <p:sp>
        <p:nvSpPr>
          <p:cNvPr id="24" name="Text 16"/>
          <p:cNvSpPr txBox="1"/>
          <p:nvPr/>
        </p:nvSpPr>
        <p:spPr>
          <a:xfrm>
            <a:off x="1783080" y="4709160"/>
            <a:ext cx="4069080" cy="12801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efetividade do jogo ainda está em avaliação. Licenciamento em definição.</a:t>
            </a:r>
            <a:endParaRPr lang="en-US" sz="1600" dirty="0"/>
          </a:p>
          <a:p>
            <a:r>
              <a:rPr sz="1600">
                <a:solidFill>
                  <a:srgbClr val="FFFFFF"/>
                </a:solidFill>
                <a:latin typeface="Calibri"/>
              </a:rPr>
              <a:t>Programa de computador registrado no INPI sob o processo nº BR 51 2026 009207-8, titularidade da UFGD.</a:t>
            </a:r>
          </a:p>
        </p:txBody>
      </p:sp>
      <p:sp>
        <p:nvSpPr>
          <p:cNvPr id="25" name="Shape 17"/>
          <p:cNvSpPr/>
          <p:nvPr/>
        </p:nvSpPr>
        <p:spPr>
          <a:xfrm>
            <a:off x="6172200" y="4709160"/>
            <a:ext cx="5440680" cy="1280160"/>
          </a:xfrm>
          <a:prstGeom prst="roundRect">
            <a:avLst>
              <a:gd name="adj" fmla="val 11429"/>
            </a:avLst>
          </a:prstGeom>
          <a:solidFill>
            <a:srgbClr val="1B2C4A"/>
          </a:solidFill>
          <a:ln w="12700">
            <a:solidFill>
              <a:srgbClr val="1B2C4A"/>
            </a:solidFill>
            <a:prstDash val="solid"/>
          </a:ln>
          <a:effectLst>
            <a:outerShdw sx="100000" sy="100000" kx="0" ky="0" algn="bl" rotWithShape="0" blurRad="101600" dist="25400" dir="5400000">
              <a:srgbClr val="000000">
                <a:alpha val="14000"/>
              </a:srgbClr>
            </a:outerShdw>
          </a:effectLst>
        </p:spPr>
      </p:sp>
      <p:sp>
        <p:nvSpPr>
          <p:cNvPr id="26" name="Shape 18"/>
          <p:cNvSpPr/>
          <p:nvPr/>
        </p:nvSpPr>
        <p:spPr>
          <a:xfrm>
            <a:off x="6400800" y="4983480"/>
            <a:ext cx="731520" cy="731520"/>
          </a:xfrm>
          <a:prstGeom prst="ellipse">
            <a:avLst/>
          </a:prstGeom>
          <a:solidFill>
            <a:srgbClr val="F5C451"/>
          </a:solidFill>
          <a:ln w="12700">
            <a:solidFill>
              <a:srgbClr val="F5C451"/>
            </a:solidFill>
            <a:prstDash val="solid"/>
          </a:ln>
        </p:spPr>
      </p:sp>
      <p:pic>
        <p:nvPicPr>
          <p:cNvPr id="27" name="Image 5" descr="art/icons/ScaleBalanced_n.png">    </p:cNvPr>
          <p:cNvPicPr>
            <a:picLocks noChangeAspect="1"/>
          </p:cNvPicPr>
          <p:nvPr/>
        </p:nvPicPr>
        <p:blipFill>
          <a:blip r:embed="rId6"/>
          <a:stretch>
            <a:fillRect/>
          </a:stretch>
        </p:blipFill>
        <p:spPr>
          <a:xfrm>
            <a:off x="6576365" y="5159045"/>
            <a:ext cx="380390" cy="380390"/>
          </a:xfrm>
          <a:prstGeom prst="rect">
            <a:avLst/>
          </a:prstGeom>
        </p:spPr>
      </p:pic>
      <p:sp>
        <p:nvSpPr>
          <p:cNvPr id="28" name="Text 19"/>
          <p:cNvSpPr txBox="1"/>
          <p:nvPr/>
        </p:nvSpPr>
        <p:spPr>
          <a:xfrm>
            <a:off x="7406640" y="4709160"/>
            <a:ext cx="4069080" cy="12801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Dados desta oficina só entram em pesquisa com consentimento e aprovação do Comitê de Ética.</a:t>
            </a:r>
            <a:endParaRPr lang="en-US" sz="16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CCE6"/>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463040" cy="329184"/>
          </a:xfrm>
          <a:prstGeom prst="roundRect">
            <a:avLst>
              <a:gd name="adj" fmla="val 50000"/>
            </a:avLst>
          </a:prstGeom>
          <a:solidFill>
            <a:srgbClr val="2FA36B"/>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MATERIAIS</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Onde encontrar tudo</a:t>
            </a:r>
            <a:endParaRPr lang="en-US" sz="3400" dirty="0"/>
          </a:p>
        </p:txBody>
      </p:sp>
      <p:sp>
        <p:nvSpPr>
          <p:cNvPr id="5" name="Shape 2"/>
          <p:cNvSpPr/>
          <p:nvPr/>
        </p:nvSpPr>
        <p:spPr>
          <a:xfrm>
            <a:off x="548640" y="1783080"/>
            <a:ext cx="7406640" cy="969264"/>
          </a:xfrm>
          <a:prstGeom prst="roundRect">
            <a:avLst>
              <a:gd name="adj" fmla="val 15094"/>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6" name="Shape 3"/>
          <p:cNvSpPr/>
          <p:nvPr/>
        </p:nvSpPr>
        <p:spPr>
          <a:xfrm>
            <a:off x="731520" y="1901952"/>
            <a:ext cx="731520" cy="731520"/>
          </a:xfrm>
          <a:prstGeom prst="ellipse">
            <a:avLst/>
          </a:prstGeom>
          <a:solidFill>
            <a:srgbClr val="2A9FD6"/>
          </a:solidFill>
          <a:ln w="12700">
            <a:solidFill>
              <a:srgbClr val="2A9FD6"/>
            </a:solidFill>
            <a:prstDash val="solid"/>
          </a:ln>
        </p:spPr>
      </p:sp>
      <p:pic>
        <p:nvPicPr>
          <p:cNvPr id="7" name="Image 0" descr="art/icons/Gamepad_w.png">    </p:cNvPr>
          <p:cNvPicPr>
            <a:picLocks noChangeAspect="1"/>
          </p:cNvPicPr>
          <p:nvPr/>
        </p:nvPicPr>
        <p:blipFill>
          <a:blip r:embed="rId1"/>
          <a:stretch>
            <a:fillRect/>
          </a:stretch>
        </p:blipFill>
        <p:spPr>
          <a:xfrm>
            <a:off x="907085" y="2077517"/>
            <a:ext cx="380390" cy="380390"/>
          </a:xfrm>
          <a:prstGeom prst="rect">
            <a:avLst/>
          </a:prstGeom>
        </p:spPr>
      </p:pic>
      <p:sp>
        <p:nvSpPr>
          <p:cNvPr id="8" name="Text 4"/>
          <p:cNvSpPr txBox="1"/>
          <p:nvPr/>
        </p:nvSpPr>
        <p:spPr>
          <a:xfrm>
            <a:off x="1691640" y="1810512"/>
            <a:ext cx="6126480" cy="91440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Jogo HIDRO
</a:t>
            </a:r>
            <a:pPr indent="0" marL="0">
              <a:buNone/>
            </a:pPr>
            <a:r>
              <a:rPr lang="en-US" sz="1400" dirty="0">
                <a:solidFill>
                  <a:srgbClr val="4A5A73"/>
                </a:solidFill>
                <a:latin typeface="Calibri" pitchFamily="34" charset="0"/>
                <a:ea typeface="Calibri" pitchFamily="34" charset="-122"/>
                <a:cs typeface="Calibri" pitchFamily="34" charset="-120"/>
              </a:rPr>
              <a:t>aigeogames.itch.io/hidro-educacao-reducao-riscos-ufgd</a:t>
            </a:r>
            <a:endParaRPr lang="en-US" sz="1400" dirty="0"/>
          </a:p>
        </p:txBody>
      </p:sp>
      <p:sp>
        <p:nvSpPr>
          <p:cNvPr id="9" name="Shape 5"/>
          <p:cNvSpPr/>
          <p:nvPr/>
        </p:nvSpPr>
        <p:spPr>
          <a:xfrm>
            <a:off x="548640" y="2898648"/>
            <a:ext cx="7406640" cy="969264"/>
          </a:xfrm>
          <a:prstGeom prst="roundRect">
            <a:avLst>
              <a:gd name="adj" fmla="val 15094"/>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0" name="Shape 6"/>
          <p:cNvSpPr/>
          <p:nvPr/>
        </p:nvSpPr>
        <p:spPr>
          <a:xfrm>
            <a:off x="731520" y="3017520"/>
            <a:ext cx="731520" cy="731520"/>
          </a:xfrm>
          <a:prstGeom prst="ellipse">
            <a:avLst/>
          </a:prstGeom>
          <a:solidFill>
            <a:srgbClr val="E57A2E"/>
          </a:solidFill>
          <a:ln w="12700">
            <a:solidFill>
              <a:srgbClr val="E57A2E"/>
            </a:solidFill>
            <a:prstDash val="solid"/>
          </a:ln>
        </p:spPr>
      </p:sp>
      <p:pic>
        <p:nvPicPr>
          <p:cNvPr id="11" name="Image 1" descr="art/icons/Globe_w.png">    </p:cNvPr>
          <p:cNvPicPr>
            <a:picLocks noChangeAspect="1"/>
          </p:cNvPicPr>
          <p:nvPr/>
        </p:nvPicPr>
        <p:blipFill>
          <a:blip r:embed="rId2"/>
          <a:stretch>
            <a:fillRect/>
          </a:stretch>
        </p:blipFill>
        <p:spPr>
          <a:xfrm>
            <a:off x="907085" y="3193085"/>
            <a:ext cx="380390" cy="380390"/>
          </a:xfrm>
          <a:prstGeom prst="rect">
            <a:avLst/>
          </a:prstGeom>
        </p:spPr>
      </p:pic>
      <p:sp>
        <p:nvSpPr>
          <p:cNvPr id="12" name="Text 7"/>
          <p:cNvSpPr txBox="1"/>
          <p:nvPr/>
        </p:nvSpPr>
        <p:spPr>
          <a:xfrm>
            <a:off x="1691640" y="2926080"/>
            <a:ext cx="6126480" cy="91440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Site com os materiais
</a:t>
            </a:r>
            <a:pPr indent="0" marL="0">
              <a:buNone/>
            </a:pPr>
            <a:r>
              <a:rPr lang="en-US" sz="1400" dirty="0">
                <a:solidFill>
                  <a:srgbClr val="4A5A73"/>
                </a:solidFill>
                <a:latin typeface="Calibri" pitchFamily="34" charset="0"/>
                <a:ea typeface="Calibri" pitchFamily="34" charset="-122"/>
                <a:cs typeface="Calibri" pitchFamily="34" charset="-120"/>
              </a:rPr>
              <a:t>[endereço do site]</a:t>
            </a:r>
            <a:endParaRPr lang="en-US" sz="1400" dirty="0"/>
          </a:p>
        </p:txBody>
      </p:sp>
      <p:sp>
        <p:nvSpPr>
          <p:cNvPr id="13" name="Shape 8"/>
          <p:cNvSpPr/>
          <p:nvPr/>
        </p:nvSpPr>
        <p:spPr>
          <a:xfrm>
            <a:off x="548640" y="4014216"/>
            <a:ext cx="7406640" cy="969264"/>
          </a:xfrm>
          <a:prstGeom prst="roundRect">
            <a:avLst>
              <a:gd name="adj" fmla="val 15094"/>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4" name="Shape 9"/>
          <p:cNvSpPr/>
          <p:nvPr/>
        </p:nvSpPr>
        <p:spPr>
          <a:xfrm>
            <a:off x="731520" y="4133088"/>
            <a:ext cx="731520" cy="731520"/>
          </a:xfrm>
          <a:prstGeom prst="ellipse">
            <a:avLst/>
          </a:prstGeom>
          <a:solidFill>
            <a:srgbClr val="2FA36B"/>
          </a:solidFill>
          <a:ln w="12700">
            <a:solidFill>
              <a:srgbClr val="2FA36B"/>
            </a:solidFill>
            <a:prstDash val="solid"/>
          </a:ln>
        </p:spPr>
      </p:sp>
      <p:pic>
        <p:nvPicPr>
          <p:cNvPr id="15" name="Image 2" descr="art/icons/BookOpen_w.png">    </p:cNvPr>
          <p:cNvPicPr>
            <a:picLocks noChangeAspect="1"/>
          </p:cNvPicPr>
          <p:nvPr/>
        </p:nvPicPr>
        <p:blipFill>
          <a:blip r:embed="rId3"/>
          <a:stretch>
            <a:fillRect/>
          </a:stretch>
        </p:blipFill>
        <p:spPr>
          <a:xfrm>
            <a:off x="907085" y="4308653"/>
            <a:ext cx="380390" cy="380390"/>
          </a:xfrm>
          <a:prstGeom prst="rect">
            <a:avLst/>
          </a:prstGeom>
        </p:spPr>
      </p:pic>
      <p:sp>
        <p:nvSpPr>
          <p:cNvPr id="16" name="Text 10"/>
          <p:cNvSpPr txBox="1"/>
          <p:nvPr/>
        </p:nvSpPr>
        <p:spPr>
          <a:xfrm>
            <a:off x="1691640" y="4041648"/>
            <a:ext cx="6126480" cy="91440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Para baixar
</a:t>
            </a:r>
            <a:pPr indent="0" marL="0">
              <a:buNone/>
            </a:pPr>
            <a:r>
              <a:rPr lang="en-US" sz="1400" dirty="0">
                <a:solidFill>
                  <a:srgbClr val="4A5A73"/>
                </a:solidFill>
                <a:latin typeface="Calibri" pitchFamily="34" charset="0"/>
                <a:ea typeface="Calibri" pitchFamily="34" charset="-122"/>
                <a:cs typeface="Calibri" pitchFamily="34" charset="-120"/>
              </a:rPr>
              <a:t>Plano de aula, caderno de atividades, guia de inclusão, instrumentos de avaliação, instrumentos da oficina e planilha</a:t>
            </a:r>
            <a:endParaRPr lang="en-US" sz="1400" dirty="0"/>
          </a:p>
        </p:txBody>
      </p:sp>
      <p:sp>
        <p:nvSpPr>
          <p:cNvPr id="17" name="Shape 11"/>
          <p:cNvSpPr/>
          <p:nvPr/>
        </p:nvSpPr>
        <p:spPr>
          <a:xfrm>
            <a:off x="548640" y="5129784"/>
            <a:ext cx="7406640" cy="969264"/>
          </a:xfrm>
          <a:prstGeom prst="roundRect">
            <a:avLst>
              <a:gd name="adj" fmla="val 15094"/>
            </a:avLst>
          </a:prstGeom>
          <a:solidFill>
            <a:srgbClr val="FFFFFF"/>
          </a:solidFill>
          <a:ln w="12700">
            <a:solidFill>
              <a:srgbClr val="FFFFFF"/>
            </a:solidFill>
            <a:prstDash val="solid"/>
          </a:ln>
          <a:effectLst>
            <a:outerShdw sx="100000" sy="100000" kx="0" ky="0" algn="bl" rotWithShape="0" blurRad="101600" dist="25400" dir="5400000">
              <a:srgbClr val="000000">
                <a:alpha val="14000"/>
              </a:srgbClr>
            </a:outerShdw>
          </a:effectLst>
        </p:spPr>
      </p:sp>
      <p:sp>
        <p:nvSpPr>
          <p:cNvPr id="18" name="Shape 12"/>
          <p:cNvSpPr/>
          <p:nvPr/>
        </p:nvSpPr>
        <p:spPr>
          <a:xfrm>
            <a:off x="731520" y="5248656"/>
            <a:ext cx="731520" cy="731520"/>
          </a:xfrm>
          <a:prstGeom prst="ellipse">
            <a:avLst/>
          </a:prstGeom>
          <a:solidFill>
            <a:srgbClr val="D64545"/>
          </a:solidFill>
          <a:ln w="12700">
            <a:solidFill>
              <a:srgbClr val="D64545"/>
            </a:solidFill>
            <a:prstDash val="solid"/>
          </a:ln>
        </p:spPr>
      </p:sp>
      <p:pic>
        <p:nvPicPr>
          <p:cNvPr id="19" name="Image 3" descr="art/icons/Users_w.png">    </p:cNvPr>
          <p:cNvPicPr>
            <a:picLocks noChangeAspect="1"/>
          </p:cNvPicPr>
          <p:nvPr/>
        </p:nvPicPr>
        <p:blipFill>
          <a:blip r:embed="rId4"/>
          <a:stretch>
            <a:fillRect/>
          </a:stretch>
        </p:blipFill>
        <p:spPr>
          <a:xfrm>
            <a:off x="907085" y="5424221"/>
            <a:ext cx="380390" cy="380390"/>
          </a:xfrm>
          <a:prstGeom prst="rect">
            <a:avLst/>
          </a:prstGeom>
        </p:spPr>
      </p:pic>
      <p:sp>
        <p:nvSpPr>
          <p:cNvPr id="20" name="Text 13"/>
          <p:cNvSpPr txBox="1"/>
          <p:nvPr/>
        </p:nvSpPr>
        <p:spPr>
          <a:xfrm>
            <a:off x="1691640" y="5157216"/>
            <a:ext cx="6126480" cy="91440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Contato
</a:t>
            </a:r>
            <a:pPr indent="0" marL="0">
              <a:buNone/>
            </a:pPr>
            <a:r>
              <a:rPr lang="en-US" sz="1400" dirty="0">
                <a:solidFill>
                  <a:srgbClr val="4A5A73"/>
                </a:solidFill>
                <a:latin typeface="Calibri" pitchFamily="34" charset="0"/>
                <a:ea typeface="Calibri" pitchFamily="34" charset="-122"/>
                <a:cs typeface="Calibri" pitchFamily="34" charset="-120"/>
              </a:rPr>
              <a:t>antonioiderlian@outlook.com | antoniosousa@ufgd.edu.br</a:t>
            </a:r>
            <a:endParaRPr lang="en-US" sz="1400" dirty="0"/>
          </a:p>
        </p:txBody>
      </p:sp>
      <p:sp>
        <p:nvSpPr>
          <p:cNvPr id="21" name="Shape 14"/>
          <p:cNvSpPr/>
          <p:nvPr/>
        </p:nvSpPr>
        <p:spPr>
          <a:xfrm>
            <a:off x="8412480" y="1783080"/>
            <a:ext cx="3200400" cy="3200400"/>
          </a:xfrm>
          <a:prstGeom prst="roundRect">
            <a:avLst>
              <a:gd name="adj" fmla="val 3429"/>
            </a:avLst>
          </a:prstGeom>
          <a:solidFill>
            <a:srgbClr val="FFFFFF"/>
          </a:solidFill>
          <a:ln w="25400">
            <a:solidFill>
              <a:srgbClr val="C9D6E4"/>
            </a:solidFill>
            <a:prstDash val="dash"/>
          </a:ln>
        </p:spPr>
      </p:sp>
      <p:sp>
        <p:nvSpPr>
          <p:cNvPr id="22" name="Text 15"/>
          <p:cNvSpPr txBox="1"/>
          <p:nvPr/>
        </p:nvSpPr>
        <p:spPr>
          <a:xfrm>
            <a:off x="8549640" y="2926080"/>
            <a:ext cx="2926080" cy="914400"/>
          </a:xfrm>
          <a:prstGeom prst="rect">
            <a:avLst/>
          </a:prstGeom>
          <a:noFill/>
          <a:ln/>
        </p:spPr>
        <p:txBody>
          <a:bodyPr wrap="square" lIns="0" tIns="0" rIns="0" bIns="0" rtlCol="0" anchor="ctr"/>
          <a:lstStyle/>
          <a:p>
            <a:pPr algn="ctr" indent="0" marL="0">
              <a:buNone/>
            </a:pPr>
            <a:r>
              <a:rPr lang="en-US" sz="1600" dirty="0">
                <a:solidFill>
                  <a:srgbClr val="4A5A73"/>
                </a:solidFill>
                <a:latin typeface="Calibri" pitchFamily="34" charset="0"/>
                <a:ea typeface="Calibri" pitchFamily="34" charset="-122"/>
                <a:cs typeface="Calibri" pitchFamily="34" charset="-120"/>
              </a:rPr>
              <a:t>Insira aqui o QR code do site</a:t>
            </a:r>
            <a:endParaRPr lang="en-US" sz="1600" dirty="0"/>
          </a:p>
        </p:txBody>
      </p:sp>
      <p:sp>
        <p:nvSpPr>
          <p:cNvPr id="23" name="Text 16"/>
          <p:cNvSpPr txBox="1"/>
          <p:nvPr/>
        </p:nvSpPr>
        <p:spPr>
          <a:xfrm>
            <a:off x="8412480" y="5074920"/>
            <a:ext cx="3200400" cy="457200"/>
          </a:xfrm>
          <a:prstGeom prst="rect">
            <a:avLst/>
          </a:prstGeom>
          <a:noFill/>
          <a:ln/>
        </p:spPr>
        <p:txBody>
          <a:bodyPr wrap="square" lIns="0" tIns="0" rIns="0" bIns="0" rtlCol="0" anchor="t"/>
          <a:lstStyle/>
          <a:p>
            <a:pPr algn="ctr" indent="0" marL="0">
              <a:buNone/>
            </a:pPr>
            <a:r>
              <a:rPr lang="en-US" sz="1400" b="1" dirty="0">
                <a:solidFill>
                  <a:srgbClr val="000000"/>
                </a:solidFill>
                <a:latin typeface="Calibri" pitchFamily="34" charset="0"/>
                <a:ea typeface="Calibri" pitchFamily="34" charset="-122"/>
                <a:cs typeface="Calibri" pitchFamily="34" charset="-120"/>
              </a:rPr>
              <a:t>Escaneie para acessar os materiais</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8FC"/>
        </a:solidFill>
      </p:bgPr>
    </p:bg>
    <p:spTree>
      <p:nvGrpSpPr>
        <p:cNvPr id="1" name=""/>
        <p:cNvGrpSpPr/>
        <p:nvPr/>
      </p:nvGrpSpPr>
      <p:grpSpPr>
        <a:xfrm>
          <a:off x="0" y="0"/>
          <a:ext cx="0" cy="0"/>
          <a:chOff x="0" y="0"/>
          <a:chExt cx="0" cy="0"/>
        </a:xfrm>
      </p:grpSpPr>
      <p:sp>
        <p:nvSpPr>
          <p:cNvPr id="3" name="Text 0"/>
          <p:cNvSpPr txBox="1"/>
          <p:nvPr/>
        </p:nvSpPr>
        <p:spPr>
          <a:xfrm>
            <a:off x="548640" y="384048"/>
            <a:ext cx="1513332" cy="329184"/>
          </a:xfrm>
          <a:prstGeom prst="roundRect">
            <a:avLst>
              <a:gd name="adj" fmla="val 50000"/>
            </a:avLst>
          </a:prstGeom>
          <a:solidFill>
            <a:srgbClr val="4A5A73"/>
          </a:solidFill>
          <a:ln/>
        </p:spPr>
        <p:txBody>
          <a:bodyPr wrap="square" lIns="0" tIns="0" rIns="0" bIns="0" rtlCol="0" anchor="ctr"/>
          <a:lstStyle/>
          <a:p>
            <a:pPr algn="ctr" indent="0" marL="0">
              <a:buNone/>
            </a:pPr>
            <a:r>
              <a:rPr lang="en-US" sz="1200" b="1" spc="100" kern="0" dirty="0">
                <a:solidFill>
                  <a:srgbClr val="0F1B2E"/>
                </a:solidFill>
                <a:latin typeface="Calibri" pitchFamily="34" charset="0"/>
                <a:ea typeface="Calibri" pitchFamily="34" charset="-122"/>
                <a:cs typeface="Calibri" pitchFamily="34" charset="-120"/>
              </a:rPr>
              <a:t>REFERÊNCIAS</a:t>
            </a:r>
            <a:endParaRPr lang="en-US" sz="1200" dirty="0"/>
          </a:p>
        </p:txBody>
      </p:sp>
      <p:sp>
        <p:nvSpPr>
          <p:cNvPr id="4" name="Text 1"/>
          <p:cNvSpPr txBox="1"/>
          <p:nvPr/>
        </p:nvSpPr>
        <p:spPr>
          <a:xfrm>
            <a:off x="548640" y="841248"/>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Calibri" pitchFamily="34" charset="0"/>
                <a:ea typeface="Calibri" pitchFamily="34" charset="-122"/>
                <a:cs typeface="Calibri" pitchFamily="34" charset="-120"/>
              </a:rPr>
              <a:t>Referências</a:t>
            </a:r>
            <a:endParaRPr lang="en-US" sz="3400" dirty="0"/>
          </a:p>
        </p:txBody>
      </p:sp>
      <p:sp>
        <p:nvSpPr>
          <p:cNvPr id="5" name="Text 2"/>
          <p:cNvSpPr txBox="1"/>
          <p:nvPr/>
        </p:nvSpPr>
        <p:spPr>
          <a:xfrm>
            <a:off x="640080" y="1691640"/>
            <a:ext cx="10881360" cy="45720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BRASIL. Ministério da Educação. Base Nacional Comum Curricular. Brasília: MEC, 2018.</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BRASIL. Lei nº 12.608, de 10 de abril de 2012 (PNPDEC), art. 29; e Lei nº 9.394/1996 (LDB), art. 26.</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UNISDR. Marco de Sendai para a Redução do Risco de Desastres 2015-2030. Genebra: UNISDR, 2015.</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CAST. Universal Design for Learning Guidelines version 2.2. 2018.</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RENZULLI, J. S. The Enrichment Triad Model. Mansfield Center: Creative Learning Press, 1977.</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HAKE, R. R. Interactive-engagement versus traditional methods. American Journal of Physics, v. 66, n. 1, p. 64-74, 1998.</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BRASIL. Lei nº 12.764/2012; Lei nº 13.146/2015; Política Nacional de Educação Especial na Perspectiva da Educação Inclusiva (MEC, 2008).</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BRASIL. Conselho Nacional de Saúde. Resolução nº 510, de 7 de abril de 2016.</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LYNN, M. R. Determination and quantification of content validity. Nursing Research, v. 35, n. 6, p. 382-386, 1986.</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POLIT, D. F.; BECK, C. T. The content validity index: are you sure you know what's being reported? Research in Nursing &amp; Health, v. 29, n. 5, p. 489-497, 2006.</a:t>
            </a:r>
            <a:endParaRPr lang="en-US" sz="1300" dirty="0"/>
          </a:p>
          <a:p>
            <a:pPr marL="203200" indent="-203200">
              <a:spcAft>
                <a:spcPts val="500"/>
              </a:spcAft>
              <a:buSzPct val="100000"/>
              <a:buChar char="•"/>
            </a:pPr>
            <a:r>
              <a:rPr lang="en-US" sz="1300" dirty="0">
                <a:solidFill>
                  <a:srgbClr val="14213D"/>
                </a:solidFill>
                <a:latin typeface="Calibri" pitchFamily="34" charset="0"/>
                <a:ea typeface="Calibri" pitchFamily="34" charset="-122"/>
                <a:cs typeface="Calibri" pitchFamily="34" charset="-120"/>
              </a:rPr>
              <a:t>SOUSA, A. I. P. HIDRO: Redução de Riscos. Jogo educativo digital. Versão 3.4. Dourados: UFGD, 2026.</a:t>
            </a:r>
            <a:endParaRPr lang="en-US" sz="13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5A7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B2E"/>
        </a:solidFill>
      </p:bgPr>
    </p:bg>
    <p:spTree>
      <p:nvGrpSpPr>
        <p:cNvPr id="1" name=""/>
        <p:cNvGrpSpPr/>
        <p:nvPr/>
      </p:nvGrpSpPr>
      <p:grpSpPr>
        <a:xfrm>
          <a:off x="0" y="0"/>
          <a:ext cx="0" cy="0"/>
          <a:chOff x="0" y="0"/>
          <a:chExt cx="0" cy="0"/>
        </a:xfrm>
      </p:grpSpPr>
      <p:sp>
        <p:nvSpPr>
          <p:cNvPr id="3" name="Text 0"/>
          <p:cNvSpPr txBox="1"/>
          <p:nvPr/>
        </p:nvSpPr>
        <p:spPr>
          <a:xfrm>
            <a:off x="640080" y="640080"/>
            <a:ext cx="1737360" cy="329184"/>
          </a:xfrm>
          <a:prstGeom prst="roundRect">
            <a:avLst>
              <a:gd name="adj" fmla="val 50000"/>
            </a:avLst>
          </a:prstGeom>
          <a:solidFill>
            <a:srgbClr val="F5C451"/>
          </a:solidFill>
          <a:ln/>
        </p:spPr>
        <p:txBody>
          <a:bodyPr wrap="square" lIns="0" tIns="0" rIns="0" bIns="0" rtlCol="0" anchor="ctr"/>
          <a:lstStyle/>
          <a:p>
            <a:pPr algn="ctr" indent="0" marL="0">
              <a:buNone/>
            </a:pPr>
            <a:r>
              <a:rPr lang="en-US" sz="1300" b="1" spc="100" kern="0" dirty="0">
                <a:solidFill>
                  <a:srgbClr val="0F1B2E"/>
                </a:solidFill>
                <a:latin typeface="Calibri" pitchFamily="34" charset="0"/>
                <a:ea typeface="Calibri" pitchFamily="34" charset="-122"/>
                <a:cs typeface="Calibri" pitchFamily="34" charset="-120"/>
              </a:rPr>
              <a:t>OBRIGADO</a:t>
            </a:r>
            <a:endParaRPr lang="en-US" sz="1300" dirty="0"/>
          </a:p>
        </p:txBody>
      </p:sp>
      <p:sp>
        <p:nvSpPr>
          <p:cNvPr id="4" name="Text 1"/>
          <p:cNvSpPr txBox="1"/>
          <p:nvPr/>
        </p:nvSpPr>
        <p:spPr>
          <a:xfrm>
            <a:off x="640080" y="1188720"/>
            <a:ext cx="6400800" cy="8229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Perguntas e trocas</a:t>
            </a:r>
            <a:endParaRPr lang="en-US" sz="4000" dirty="0"/>
          </a:p>
        </p:txBody>
      </p:sp>
      <p:sp>
        <p:nvSpPr>
          <p:cNvPr id="5" name="Text 2"/>
          <p:cNvSpPr txBox="1"/>
          <p:nvPr/>
        </p:nvSpPr>
        <p:spPr>
          <a:xfrm>
            <a:off x="640080" y="2194560"/>
            <a:ext cx="6583680" cy="2560320"/>
          </a:xfrm>
          <a:prstGeom prst="rect">
            <a:avLst/>
          </a:prstGeom>
          <a:noFill/>
          <a:ln/>
        </p:spPr>
        <p:txBody>
          <a:bodyPr wrap="square" lIns="0" tIns="0" rIns="0" bIns="0" rtlCol="0" anchor="t"/>
          <a:lstStyle/>
          <a:p>
            <a:pPr indent="0" marL="0">
              <a:spcAft>
                <a:spcPts val="600"/>
              </a:spcAft>
              <a:buNone/>
            </a:pPr>
            <a:r>
              <a:rPr lang="en-US" sz="2000" b="1" dirty="0">
                <a:solidFill>
                  <a:srgbClr val="F5C451"/>
                </a:solidFill>
                <a:latin typeface="Calibri" pitchFamily="34" charset="0"/>
                <a:ea typeface="Calibri" pitchFamily="34" charset="-122"/>
                <a:cs typeface="Calibri" pitchFamily="34" charset="-120"/>
              </a:rPr>
              <a:t>Antonio Idêrlian Pereira de Sousa
</a:t>
            </a:r>
            <a:pPr indent="0" marL="0">
              <a:spcAft>
                <a:spcPts val="600"/>
              </a:spcAft>
              <a:buNone/>
            </a:pPr>
            <a:r>
              <a:rPr lang="en-US" sz="1500" dirty="0">
                <a:solidFill>
                  <a:srgbClr val="B8CCE6"/>
                </a:solidFill>
                <a:latin typeface="Calibri" pitchFamily="34" charset="0"/>
                <a:ea typeface="Calibri" pitchFamily="34" charset="-122"/>
                <a:cs typeface="Calibri" pitchFamily="34" charset="-120"/>
              </a:rPr>
              <a:t>Geógrafo, mestre e doutorando em Geografia (PPGG/FCH/UFGD). Técnico do Laboratório de Geoprocessamento (FCA/UFGD).
</a:t>
            </a:r>
            <a:pPr indent="0" marL="0">
              <a:spcAft>
                <a:spcPts val="600"/>
              </a:spcAft>
              <a:buNone/>
            </a:pPr>
            <a:r>
              <a:rPr lang="en-US" sz="1700" dirty="0">
                <a:solidFill>
                  <a:srgbClr val="FFFFFF"/>
                </a:solidFill>
                <a:latin typeface="Calibri" pitchFamily="34" charset="0"/>
                <a:ea typeface="Calibri" pitchFamily="34" charset="-122"/>
                <a:cs typeface="Calibri" pitchFamily="34" charset="-120"/>
              </a:rPr>
              <a:t>antonioiderlian@outlook.com
antoniosousa@ufgd.edu.br
</a:t>
            </a:r>
            <a:pPr indent="0" marL="0">
              <a:spcAft>
                <a:spcPts val="600"/>
              </a:spcAft>
              <a:buNone/>
            </a:pPr>
            <a:r>
              <a:rPr lang="en-US" sz="1500" dirty="0">
                <a:solidFill>
                  <a:srgbClr val="BFE3F6"/>
                </a:solidFill>
                <a:latin typeface="Calibri" pitchFamily="34" charset="0"/>
                <a:ea typeface="Calibri" pitchFamily="34" charset="-122"/>
                <a:cs typeface="Calibri" pitchFamily="34" charset="-120"/>
              </a:rPr>
              <a:t>Currículo Lattes: lattes.cnpq.br/8679039748672255</a:t>
            </a:r>
            <a:endParaRPr lang="en-US" sz="1600" dirty="0"/>
          </a:p>
        </p:txBody>
      </p:sp>
      <p:sp>
        <p:nvSpPr>
          <p:cNvPr id="6" name="Shape 3"/>
          <p:cNvSpPr/>
          <p:nvPr/>
        </p:nvSpPr>
        <p:spPr>
          <a:xfrm>
            <a:off x="640080" y="5120640"/>
            <a:ext cx="6035040" cy="1005840"/>
          </a:xfrm>
          <a:prstGeom prst="roundRect">
            <a:avLst>
              <a:gd name="adj" fmla="val 10909"/>
            </a:avLst>
          </a:prstGeom>
          <a:solidFill>
            <a:srgbClr val="FFFFFF"/>
          </a:solidFill>
          <a:ln w="12700">
            <a:solidFill>
              <a:srgbClr val="FFFFFF"/>
            </a:solidFill>
            <a:prstDash val="solid"/>
          </a:ln>
        </p:spPr>
      </p:sp>
      <p:pic>
        <p:nvPicPr>
          <p:cNvPr id="7" name="Image 0" descr="art/logo-ufgd.png">    </p:cNvPr>
          <p:cNvPicPr>
            <a:picLocks noChangeAspect="1"/>
          </p:cNvPicPr>
          <p:nvPr/>
        </p:nvPicPr>
        <p:blipFill>
          <a:blip r:embed="rId1"/>
          <a:stretch>
            <a:fillRect/>
          </a:stretch>
        </p:blipFill>
        <p:spPr>
          <a:xfrm>
            <a:off x="918583" y="5221224"/>
            <a:ext cx="1669636" cy="804672"/>
          </a:xfrm>
          <a:prstGeom prst="rect">
            <a:avLst/>
          </a:prstGeom>
        </p:spPr>
      </p:pic>
      <p:pic>
        <p:nvPicPr>
          <p:cNvPr id="8" name="Image 1" descr="art/logo-fca.png">    </p:cNvPr>
          <p:cNvPicPr>
            <a:picLocks noChangeAspect="1"/>
          </p:cNvPicPr>
          <p:nvPr/>
        </p:nvPicPr>
        <p:blipFill>
          <a:blip r:embed="rId2"/>
          <a:stretch>
            <a:fillRect/>
          </a:stretch>
        </p:blipFill>
        <p:spPr>
          <a:xfrm>
            <a:off x="2866722" y="5221224"/>
            <a:ext cx="1562540" cy="804672"/>
          </a:xfrm>
          <a:prstGeom prst="rect">
            <a:avLst/>
          </a:prstGeom>
        </p:spPr>
      </p:pic>
      <p:pic>
        <p:nvPicPr>
          <p:cNvPr id="9" name="Image 2" descr="art/logo-ppgg.png">    </p:cNvPr>
          <p:cNvPicPr>
            <a:picLocks noChangeAspect="1"/>
          </p:cNvPicPr>
          <p:nvPr/>
        </p:nvPicPr>
        <p:blipFill>
          <a:blip r:embed="rId3"/>
          <a:stretch>
            <a:fillRect/>
          </a:stretch>
        </p:blipFill>
        <p:spPr>
          <a:xfrm>
            <a:off x="4707764" y="5221224"/>
            <a:ext cx="1688853" cy="804672"/>
          </a:xfrm>
          <a:prstGeom prst="rect">
            <a:avLst/>
          </a:prstGeom>
        </p:spPr>
      </p:pic>
      <p:sp>
        <p:nvSpPr>
          <p:cNvPr id="10" name="Shape 4"/>
          <p:cNvSpPr/>
          <p:nvPr/>
        </p:nvSpPr>
        <p:spPr>
          <a:xfrm>
            <a:off x="7680960" y="914400"/>
            <a:ext cx="4023360" cy="5212080"/>
          </a:xfrm>
          <a:prstGeom prst="roundRect">
            <a:avLst>
              <a:gd name="adj" fmla="val 3636"/>
            </a:avLst>
          </a:prstGeom>
          <a:solidFill>
            <a:srgbClr val="1B2C4A"/>
          </a:solidFill>
          <a:ln w="12700">
            <a:solidFill>
              <a:srgbClr val="1B2C4A"/>
            </a:solidFill>
            <a:prstDash val="solid"/>
          </a:ln>
        </p:spPr>
      </p:sp>
      <p:pic>
        <p:nvPicPr>
          <p:cNvPr id="11" name="Image 3" descr="art/idoso_big.png">    </p:cNvPr>
          <p:cNvPicPr>
            <a:picLocks noChangeAspect="1"/>
          </p:cNvPicPr>
          <p:nvPr/>
        </p:nvPicPr>
        <p:blipFill>
          <a:blip r:embed="rId4"/>
          <a:stretch>
            <a:fillRect/>
          </a:stretch>
        </p:blipFill>
        <p:spPr>
          <a:xfrm>
            <a:off x="7772400" y="3246120"/>
            <a:ext cx="1463040" cy="1463040"/>
          </a:xfrm>
          <a:prstGeom prst="rect">
            <a:avLst/>
          </a:prstGeom>
        </p:spPr>
      </p:pic>
      <p:pic>
        <p:nvPicPr>
          <p:cNvPr id="12" name="Image 4" descr="art/hidro_big.png">    </p:cNvPr>
          <p:cNvPicPr>
            <a:picLocks noChangeAspect="1"/>
          </p:cNvPicPr>
          <p:nvPr/>
        </p:nvPicPr>
        <p:blipFill>
          <a:blip r:embed="rId5"/>
          <a:stretch>
            <a:fillRect/>
          </a:stretch>
        </p:blipFill>
        <p:spPr>
          <a:xfrm>
            <a:off x="9006840" y="2240280"/>
            <a:ext cx="2468880" cy="2468880"/>
          </a:xfrm>
          <a:prstGeom prst="rect">
            <a:avLst/>
          </a:prstGeom>
        </p:spPr>
      </p:pic>
      <p:pic>
        <p:nvPicPr>
          <p:cNvPr id="13" name="Image 5" descr="art/moradora_big.png">    </p:cNvPr>
          <p:cNvPicPr>
            <a:picLocks noChangeAspect="1"/>
          </p:cNvPicPr>
          <p:nvPr/>
        </p:nvPicPr>
        <p:blipFill>
          <a:blip r:embed="rId6"/>
          <a:stretch>
            <a:fillRect/>
          </a:stretch>
        </p:blipFill>
        <p:spPr>
          <a:xfrm>
            <a:off x="10287000" y="3291840"/>
            <a:ext cx="1417320" cy="1417320"/>
          </a:xfrm>
          <a:prstGeom prst="rect">
            <a:avLst/>
          </a:prstGeom>
        </p:spPr>
      </p:pic>
      <p:pic>
        <p:nvPicPr>
          <p:cNvPr id="14" name="Image 6" descr="art/crianca_big.png">    </p:cNvPr>
          <p:cNvPicPr>
            <a:picLocks noChangeAspect="1"/>
          </p:cNvPicPr>
          <p:nvPr/>
        </p:nvPicPr>
        <p:blipFill>
          <a:blip r:embed="rId7"/>
          <a:stretch>
            <a:fillRect/>
          </a:stretch>
        </p:blipFill>
        <p:spPr>
          <a:xfrm>
            <a:off x="8778240" y="3931920"/>
            <a:ext cx="914400" cy="914400"/>
          </a:xfrm>
          <a:prstGeom prst="rect">
            <a:avLst/>
          </a:prstGeom>
        </p:spPr>
      </p:pic>
      <p:sp>
        <p:nvSpPr>
          <p:cNvPr id="15" name="Text 5"/>
          <p:cNvSpPr txBox="1"/>
          <p:nvPr/>
        </p:nvSpPr>
        <p:spPr>
          <a:xfrm>
            <a:off x="7680960" y="1143000"/>
            <a:ext cx="4023360" cy="822960"/>
          </a:xfrm>
          <a:prstGeom prst="rect">
            <a:avLst/>
          </a:prstGeom>
          <a:noFill/>
          <a:ln/>
        </p:spPr>
        <p:txBody>
          <a:bodyPr wrap="square" lIns="0" tIns="0" rIns="0" bIns="0" rtlCol="0" anchor="t"/>
          <a:lstStyle/>
          <a:p>
            <a:pPr algn="ctr" indent="0" marL="0">
              <a:buNone/>
            </a:pPr>
            <a:r>
              <a:rPr lang="en-US" sz="4000" b="1" dirty="0">
                <a:solidFill>
                  <a:srgbClr val="F5C451"/>
                </a:solidFill>
                <a:latin typeface="Calibri" pitchFamily="34" charset="0"/>
                <a:ea typeface="Calibri" pitchFamily="34" charset="-122"/>
                <a:cs typeface="Calibri" pitchFamily="34" charset="-120"/>
              </a:rPr>
              <a:t>Obrigado!</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HIDRO: possibilidades de uso do jogo nas escolas (oficina para educadores)</dc:title>
  <dc:subject>Oficina para educadores, gestores e agentes de proteção e defesa civil</dc:subject>
  <dc:creator>Antonio Idêrlian Pereira de Sousa</dc:creator>
  <cp:lastModifiedBy>Antonio Idêrlian Pereira de Sousa</cp:lastModifiedBy>
  <cp:revision>1</cp:revision>
  <dcterms:created xsi:type="dcterms:W3CDTF">2026-09-22T21:17:58Z</dcterms:created>
  <dcterms:modified xsi:type="dcterms:W3CDTF">2026-09-22T21:17:58Z</dcterms:modified>
</cp:coreProperties>
</file>