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14213D"/>
                </a:solidFill>
                <a:latin typeface="Calibri"/>
              </a:rPr>
              <a:t>Parte da chuva que escorre (%, valores aproximados)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Parte da chuva que escorre (%)</c:v>
                </c:pt>
              </c:strCache>
            </c:strRef>
          </c:tx>
          <c:spPr>
            <a:solidFill>
              <a:srgbClr val="2FA36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A3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A3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7A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53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Mata / floresta</c:v>
                  </c:pt>
                  <c:pt idx="1">
                    <c:v>Gramado ou praça</c:v>
                  </c:pt>
                  <c:pt idx="2">
                    <c:v>Bairro com casas e quintais</c:v>
                  </c:pt>
                  <c:pt idx="3">
                    <c:v>Centro com ruas e telhados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20</c:v>
                </c:pt>
                <c:pt idx="2">
                  <c:v>40</c:v>
                </c:pt>
                <c:pt idx="3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421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(2 min). Boas-vindas. Explique que a oficina tem duas partes: primeiro entendemos o que acontece quando chove muito (base teórica) e depois treinamos boas decisões no jogo HIDRO. Duração sugerida: 2 aulas de 50 minutos (100 min). Existe uma versão de 1 aula descrita no slide 4.
Público: 6º ao 9º ano. Material 100% editável: troque textos, imagens e exemplos pela realidade do seu bairro.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(5 min). Comece pela experiência dos alunos. Faça as três perguntas em voz alta e deixe 3 ou 4 alunos responderem.
CUIDADO: alguns alunos podem ter vivido enchentes ou perdas. Acolha os relatos, não force ninguém a falar e evite pedir detalhes de sofrimento.
O objetivo é ativar o que eles já sabem e criar curiosidade: para onde a água vai quando some da rua?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(2 min). Leia os três objetivos com a turma. Eles serão retomados no fechamento.
Conexões curriculares (ajuste às habilidades da BNCC do seu currículo): Geografia (relevo, bacias hidrográficas, urbanização e áreas de risco), Ciências (ciclo da água, solo e infiltração), Matemática (porcentagens e gráficos) e Língua Portuguesa (texto instrucional e cartazes).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(2 min). Apresente as quatro etapas e os tempos.
VERSÃO DE 1 AULA (50 min): Descobrir 20 min (use os slides 5, 8, 10, 11 a 15 e 18), Preparar 5 min (slides 22, 23), Jogar 20 min (apenas a Fase 1 ou a Fase 2) e Refletir 5 min (2 perguntas da roda de conversa). A missão para casa fica como tarefa.
Se a escola tiver poucos computadores, veja o slide 30 com alternativas.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TEÓRICA (4 min). Pergunta-guia: o que acontece com a chuva quando cai numa mata e quando cai na rua?
Mostre a imagem: à esquerda o solo com vegetação, onde grande parte da água se INFILTRA (entra no solo e abastece lençóis e nascentes); à direita a cidade, onde asfalto e telhados IMPERMEABILIZAM e a água ESCORRE pela superfície até a boca de lobo.
Ideia central: quanto mais impermeável, mais água escorre de uma vez para a rua e para os 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TEÓRICA (4 min). Leia o gráfico com a turma: quanto MAIS impermeável a superfície, MAIOR a parte da chuva que escorre.
ATENÇÃO: os valores são aproximados (ordem de grandeza), baseados nos coeficientes de escoamento superficial usados em hidrologia urbana. Eles variam com o tipo de solo, a inclinação e a umidade. Use o gráfico para comparar, não como medida exata.
Atividade para 8º e 9º anos: calcular quantos litros escorrem de uma rua de 200 m² numa chuva de 20 mm (1 mm de chuva = 1 litro por m²). Resposta aproximada com 85%: 200 x 20 x 0,85 = 3 400 litros.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TEÓRICA (3 min). Quatro causas que se combinam. Peça exemplos do bairro para cada uma.
Ponto importante: chuva forte é o gatilho, mas o DESASTRE depende também de como a cidade foi construída e de como as pessoas estão preparadas (isso prepara o conceito de risco do próximo slide).
Ocupação de áreas de risco: moradias em várzeas de rios e em encostas íngremes. Muitas vezes é consequência de falta de acesso à moradia segura, então evite culpar as famílias.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TEÓRICA (4 min). Este slide usa os nomes técnicos, com o nome popular entre parênteses.
Sequência da água: sarjeta (1) leva a água até a boca de lobo (2), que é a grade no meio-fio; dela a água segue para a galeria de águas pluviais (3), uma tubulação subterrânea. O poço de visita (4) é a câmara fechada pelo tampão de ferro, por onde a manutenção entra; ele é o "bueiro com tampa" da fala popular. Por fim a água sai (5) num rio ou canal.
Nota: em engenharia, "bueiro" também designa a obra que leva a água por baixo de uma rua ou estrada; na fala popular, a palavra serve para a boca de lobo e o poço de visita.
Risco: sem o tampão, o poço vira uma armadilha escondida pela água.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TEÓRICA (4 min). Conceito de RISCO em linguagem simples: risco = perigo x vulnerabilidade.
PERIGO é o fenômeno (chuva forte, rio que sobe, encosta encharcada). VULNERABILIDADE é o quanto pessoas e casas podem ser afetadas (moradia em área baixa, falta de alerta, falta de preparo).
Se um dos dois for zero, o risco desaparece. Isso mostra por que preparar-se reduz o risco mesmo quando não dá para impedir a chuva. Para 8º e 9º anos: peça exemplos de como reduzir a vulnerabilidade de uma comunidade.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TEÓRICA (3 min). Visão geral: quatro fenômenos, quatro nomes. Estas quatro imagens são cenas das quatro fases do jogo.
Definições em linguagem simples:
- Alagamento: água acumulada na rua por chuva forte e drenagem insuficiente ou entupida.
- Enxurrada: água que escorre rápido e com força, típica de ruas em declive.
- Enchente: o rio sobe dentro do próprio canal, sem transbordar ainda. Se continuar subindo e ultrapassar as margens, vira uma INUNDAÇÃO: a água alcança a planície.
- Deslizamento: terra, lama ou pedras descem uma encosta, geralmente com solo encharcado.
Nota para o professor: enchente e inundação NÃO são sinônimos. Enchente (ou cheia) é a subida da água dentro do canal do rio; inundação é quando essa água ultrapassa a capacidade do canal e transborda para a planície. Uma enchente pode ou não virar inundação. Reforce essa diferença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FENÔMENO 1 (3 min). Relacione com o slide da microdrenagem: quando a boca de lobo está entupida de lixo, a água não entra na galeria e se acumula na rua.
Perigos que os alunos costumam não conhecer: (1) água de alagamento mistura esgoto e lixo (doenças como a leptospirose); (2) buracos e bueiros abertos ficam invisíveis; (3) fios podem estar energizados. Por isso a regra é NÃO andar na água e desligar a energia antes que ela alcance as tomadas.
No jogo: Fase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FENÔMENO 2 (3 min). Diferença essencial: no alagamento a água é lenta e acumula; na enxurrada ela é RÁPIDA, então o perigo está na força, não na profundidade.
O valor de 15 cm é uma referência aproximada muito usada em orientações de segurança: água em movimento derruba e arrasta pessoas mesmo com pouca profundidade. Reforce: nunca atravessar a pé nem de carro.
Mito comum: "vou desentupir o bueiro para a água descer". Na enxurrada a boca de lobo e o poço de visita podem sugar a pessoa e o tampão pode sair do lugar.
No jogo: Fase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FENÔMENO 3 (3 min). Aponte o diagrama: 1 é o nível normal dentro da calha; 2 é a cheia, ainda dentro do canal; 3 é o transbordamento, quando a água ocupa a planície de inundação.
Diferença para a enxurrada: a enchente costuma ser mais LENTA e há tempo de agir, se os alertas forem acompanhados. Por isso a decisão certa é sair cedo, e não esperar a água chegar à porta.
Explique "cabeceira": a parte alta do rio, onde a água nasce; uma chuva lá pode causar cheia longe dali.
No jogo: Fase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FENÔMENO 4 (3 min). Aponte o diagrama: 1 rachadura no topo; 2 a água infiltrada deixa o solo pesado e reduz a resistência; 3 a linha tracejada mostra por onde a massa de terra pode se soltar.
Os sinais são a chave: rachaduras, árvores inclinadas e estalos pedem afastamento imediato. Reforce que NÃO se deve tapar rachadura com cimento nem subir no talude para "olhar de perto".
Alerta pedagógico: o deslizamento é o fenômeno em que "voltar para pegar algo" mais mata. Objetos se repõem; vidas, não.
No jogo: Fase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COMPARATIVO (3 min). Use a tabela como "cola" de consulta durante o jogo. Peça que os alunos completem a frase: "O que muda entre eles é a ______ (velocidade / o lugar / o sinal de alerta)".
A tabela é uma simplificação didática: na realidade os fenômenos podem acontecer combinados (por exemplo, uma enxurrada que alimenta uma enchente).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MITO OU VERDADE (6 min). Dinâmica: cada aluno (ou dupla) recebe dois cartões, um "V" e um "M". Leia cada frase, conte até 5 e peça que levantem o cartão ao mesmo tempo. Só depois mostre o próximo slide com as respostas.
GABARITO (não mostre ainda): 1 MITO, 2 VERDADE, 3 MITO, 4 MITO, 5 VERDADE.
Sem cartões: peça que levantem a mão para "verdade" e depois para "mito", ou que se posicionem em lados da sala.
No jogo, os moradores marcados com "?" fazem esta mesma pergunta.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RESPOSTAS (4 min). Discuta cada uma antes de passar para a próxima. Pergunte primeiro a um aluno que acertou e depois a alguém que errou: "o que fez você pensar assim?".
Errar aqui é bom: os mitos existem porque parecem lógicos. O objetivo é substituí-los por informação correta antes do jogo.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PROTOCOLO (5 min). Este é o slide mais importante da parte teórica: é a mesma ordem exigida no jogo.
1) PROTEJA-SE: equipamento de proteção (botas, capa, colete) e não se exponha ao perigo. Uma pessoa ferida não ajuda ninguém.
2) AVISE: ligue 199 (Defesa Civil). Diga onde está, o que acontece e se há pessoas em risco. Em risco imediato de vida, ligue também 193 (Bombeiros).
3) AJA COM SEGURANÇA: desligar a energia, ajudar quem precisa e evacuar pela rota indicada.
Exceção do jogo: desligar o disjuntor é urgente e pode ser feito a qualquer momento.
Peça que repitam a sequência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TELEFONES E MOCHILA (4 min). Peça que anotem os números no caderno.
199 Defesa Civil; 193 Corpo de Bombeiros; 192 SAMU; 190 Polícia Militar. O alerta por SMS da Defesa Civil (envio do CEP para 40199) ajuda a receber avisos da sua região; CONFIRME o serviço no site da Defesa Civil do seu município antes de divulgar aos alunos.
MOCHILA DE EMERGÊNCIA: deve ficar pronta ANTES da chuva, em local de fácil acesso. Pergunte: o que vocês acrescentariam para um bebê, um idoso ou um animal de estimação?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CHECAGEM RÁPIDA (4 min). Faça as três perguntas em voz alta e peça que respondam com os dedos (1, 2 ou 3) ou em cartões A, B, C.
GABARITO: 1 = C (199); 2 = B (proteger-se); 3 = B (enxurrada).
Se a turma errar muito a pergunta 2, retome o slide do protocolo antes de iniciar o jogo: ele é a base das decisões.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(1 min). Marque a mudança de momento: "agora saímos da teoria e vamos colocar tudo em prática". Lembre que no jogo errar não tem risco real: é para treinar a decisão certa.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APRESENTANDO O JOGO (3 min). O HIDRO é um simulador educativo: o aluno controla o personagem Hidro em quatro cenários e precisa tomar decisões seguras antes que o risco chegue ao limite.
As telas mostradas neste material são ilustrações fiéis ao jogo. Se puder, abra o jogo no projetor e mostre o menu, o glossário (tecla G) e a Fase 1 por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JOGAR (3 min). No computador: setas ou W, A, S, D para andar e ESPAÇO para agir. No celular ou tablet: arraste o dedo na metade esquerda da tela (o joystick aparece onde você toca) e use o botão AGIR ou toque diretamente no item marcado com "!".
No celular, jogue com a tela na horizontal. Ao ler os diálogos, basta tocar na tela (ou apertar ESPAÇO) para continuar.
Se a turma usar celulares, peça que testem o joystick por 30 segundos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LENDO A TELA (3 min). Percorra os números com a turma.
1 Medidor de RISCO: sobe com o tempo; verde é normal, amarelo atenção, laranja elevado e vermelho crítico. O texto também informa o nível (não depende só da cor). 2 PRÓXIMO PASSO: dica do que fazer agora. 3 "!" marca um item onde agir (cinza = ainda bloqueado pelo protocolo; verde pulsante = é o próximo passo). 4 "?" marca um morador que quer conversar (mito ou verdade). 5 Seta verde: mostra o caminho para o próximo passo. 6 Botões do topo: pausar, mapa, professor, tela cheia, glossário e som.
Alunos que preferirem jogar sem ajuda podem desligar o guia (tecla K, ou no menu de pausa).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DE OURO (3 min). Estas quatro regras resumem o funcionamento do jogo.
1) Ordem do protocolo: proteção pessoal (capa, botas, mochila), depois avisar a Defesa Civil, depois as ações. O jogo bloqueia e explica quando a ordem não é seguida. 2) O relógio do desastre: o risco sobe com o tempo, mas pausa enquanto se lê diálogos e se responde ao quiz, para ninguém ser punido por ler. 3) Decisões perigosas (como entrar na água) reiniciam a fase, com uma explicação. 4) Medalhas: ouro exige 75% no quiz, nenhuma decisão perigosa e concluir de primeira.
Dica: converse com os moradores marcados com "?" para ganhar pontos e desfazer mitos.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1 (10 a 12 min). Objetivos: aplicar o protocolo, entender o risco elétrico e reconhecer o perigo do poço de visita sem tampão.
Se a turma demorar a desligar o disjuntor, a água chega às tomadas e a fase reinicia; é uma boa oportunidade para conversar sobre o porquê.
Durante o jogo, circule e faça a pergunta para pensar às duplas. Resposta esperada: água e eletricidade juntas podem causar choque grave, e o risco existe mesmo antes de a água estar visível nas tomadas.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2 (8 a 10 min). Objetivos: entender que a força da água em movimento é o perigo, e usar rotas seguras (passarela).
A primeira tentativa de entrar na água gera um aviso; a segunda reinicia a fase. Deixe os alunos errarem e conversem sobre o motivo.
Resposta esperada da pergunta: a velocidade e a força da água derrubam e arrastam pessoas mesmo com poucos centímetros; além disso, há buracos e tampas soltas escondidos.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3 (8 a 10 min). Objetivos: compreender que a enchente é gradual, que os alertas permitem agir com antecedência e que a evacuação precoce protege pessoas vulneráveis.
Nesta fase o jogador acompanha uma pessoa idosa até o abrigo: converse sobre quem precisa de ajuda extra numa emergência (crianças, idosos, pessoas com deficiência, animais).
Resposta esperada da pergunta: quem espera pode encontrar a rota alagada, sem tempo e sem opções; sair cedo permite escolher o melhor caminho e levar o essencial.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4 (8 a 10 min). Objetivos: reconhecer sinais de instabilidade, observar de longe e evacuar sem voltar.
O talude (a parte inclinada da encosta) é terreno perigoso: caminhar sobre ele deixa o personagem mais lento e aumenta a instabilidade. A trilha marrom é o caminho seguro.
Resposta esperada da pergunta: pisar e concentrar água no talude sobrecarrega o solo e pode ajudar a desencadear o deslizamento; a trilha e as rotas indicadas reduzem esse 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ORGANIZAÇÃO (3 min). Escolha o modo conforme os equipamentos da escola.
DUPLAS (ideal): um joga, um confere o protocolo e um anota (em trios). Troquem de papel a cada fase. GRUPOS COM 1 COMPUTADOR: rodízio de 5 minutos por aluno, com os demais aconselhando. MODO TURMA: o professor joga na tela projetada e a turma decide por votação (cartões V e M ou levantar a mão); funciona bem com muitos alunos e poucos aparelhos.
Antes de começar: abra o jogo, teste o som (opcional) e faça a Fase 1 rapidamente. Combinados: falar baixo, ajudar sem tomar o controle e respeitar o tempo de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FICHA (durante o jogo). Imprima ou peça que os alunos copiem a tabela no caderno. O repórter da dupla preenche.
Ela serve de base para a roda de conversa e como registro de avaliação: observe se os alunos conseguem nomear decisões que ajudaram e decisões que atrapalharam.
A tabela é editável: acrescente linhas se jogarem mais fases.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 DE CONVERSA (12 min). Organize a sala em círculo ou em grupos. Peça que cada dupla escolha uma pergunta.
Pergunta 4 é a mais importante: conecta o jogo à realidade local. Anote no quadro os pontos de risco citados (por exemplo: "rua que sempre alaga perto da escola") e retome na missão para casa.
RESPEITO: alguns alunos podem ter vivido perdas. Combine que ninguém é obrigado a contar e que todas as experiências são respeitadas.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MISSÃO PARA CASA (3 min). Três tarefas curtas para levar o aprendizado à família e à comunidade.
1) CARTÃO DE EMERGÊNCIA DA FAMÍLIA: cada aluno copia o modelo e preenche com a família (telefones, ponto de encontro, rota de saída, quem ajuda crianças, idosos e animais). O jogo também traz uma versão deste cartão ao final. 2) MAPA DE RISCOS DO BAIRRO: desenhar onde alaga, onde a água corre rápido, onde há encosta e onde é seguro. Pode ser feito em cartolina e virar exposição na escola. 3) Contar para duas pessoas um mito ou verdade que aprendeu.
O cartão ao lado é editável: adapte os telefones à realidade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ADAPTAÇÕES (3 min). Ajuste a profundidade ao ano.
6º e 7º anos: foco em observar, nomear e reconhecer sinais; jogar em duplas; produzir desenhos e cartazes. 8º e 9º anos: aprofundar causas e escalas (urbanização, bacia hidrográfica), analisar dados (o gráfico de escoamento), montar o mapa de riscos do bairro e discutir políticas públicas (drenagem, coleta de lixo, moradia segura).
INTERDISCIPLINARIDADE: Geografia (relevo, bacias, urbanização), Ciências (ciclo da água, solo), Matemática (porcentagens, gráficos e escala), Língua Portuguesa (texto instrucional e cartazes) e Artes (mapas e cartazes ilustrados). Confira as habilidades da BNCC do seu currículo para registrar o planejamento.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AVALIAÇÃO (3 min). Sugestão de rubrica em três níveis. Use a ficha de observação, a roda de conversa e as medalhas do jogo como evidências, não como nota única.
O objetivo é formativo: identificar o que a turma já domina e o que precisa retomar. A tabela é editável: adapte os critérios ao seu planejamento.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GLOSSÁRIO (apêndice). Use como consulta durante a oficina. No jogo, o glossário também está disponível pela tecla G ou pelo botão GLOSSÁRIO.
Termos técnicos aparecem com o nome popular entre parênteses: boca de lobo (bueiro) e poço de visita (bueiro com tampa). Em engenharia, "bueiro" também designa a obra que leva a água por baixo de uma rua ou estrada.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CRÉDITOS. O jogo HIDRO e este material foram desenvolvidos de forma independente por Antonio Idêrlian Pereira de Sousa. As ilustrações das cenas foram montadas com os sprites do próprio jogo e os diagramas foram produzidos originalmente para esta oficina.
O licenciamento do jogo e do material está em definição: até que seja publicado, use apenas para fins educacionais e cite a autoria. Confirme os telefones e serviços de alerta com a Defesa Civil do seu município.
Este arquivo é totalmente editável: adapte textos, imagens e exemplos à realidade da sua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 |  6º AO 9º ANO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2588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faria se a chuva não parasse?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42900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BFE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Entenda como surgem alagamentos, enxurradas, enchentes e deslizamentos e treine boas decisões no jogo HIDRO.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40080" y="5349240"/>
            <a:ext cx="566928" cy="566928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7" name="Image 0" descr="art/icons/CloudRai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5485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535838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HIDRO: Redução de Riscos de Desastres Hidrológicos</a:t>
            </a:r>
            <a:endParaRPr lang="en-US" sz="1400" dirty="0"/>
          </a:p>
        </p:txBody>
      </p:sp>
      <p:pic>
        <p:nvPicPr>
          <p:cNvPr id="9" name="Image 1" descr="art/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440680" cy="299237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09360" y="450113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do jogo HIDRO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começar pela sua experiência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352044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47088" y="2194560"/>
            <a:ext cx="914400" cy="9144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pic>
        <p:nvPicPr>
          <p:cNvPr id="7" name="Image 0" descr="art/icons/HouseFloodWat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544" y="241401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3337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viu uma rua alagar? O que aconteceu?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4343400" y="1874520"/>
            <a:ext cx="352044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641848" y="2194560"/>
            <a:ext cx="914400" cy="91440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11" name="Image 1" descr="art/icons/Wate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2414016"/>
            <a:ext cx="475488" cy="4754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17720" y="3337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chuva para, para onde a água da rua "some"?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138160" y="1874520"/>
            <a:ext cx="352044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9436608" y="2194560"/>
            <a:ext cx="914400" cy="914400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pic>
        <p:nvPicPr>
          <p:cNvPr id="15" name="Image 2" descr="art/icons/CircleQuestio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414016"/>
            <a:ext cx="475488" cy="47548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412480" y="3337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faria se a água começasse a subir agora?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22857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Levante a mão: quem já viu ou viveu uma situação assim?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da oficina você vai…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667512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2084832"/>
            <a:ext cx="768096" cy="768096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7" name="Image 0" descr="art/icons/MagnifyingGlas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583" y="2269175"/>
            <a:ext cx="399410" cy="39941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9659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</a:t>
            </a:r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alagamento, enxurrada, enchente e deslizamento, usando o nome certo para cada um.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3291840"/>
            <a:ext cx="667512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77240" y="3547872"/>
            <a:ext cx="768096" cy="768096"/>
          </a:xfrm>
          <a:prstGeom prst="ellipse">
            <a:avLst/>
          </a:prstGeom>
          <a:solidFill>
            <a:srgbClr val="E57A2E"/>
          </a:solidFill>
          <a:ln w="12700">
            <a:solidFill>
              <a:srgbClr val="E57A2E"/>
            </a:solidFill>
            <a:prstDash val="solid"/>
          </a:ln>
        </p:spPr>
      </p:sp>
      <p:pic>
        <p:nvPicPr>
          <p:cNvPr id="11" name="Image 1" descr="art/icons/Bel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83" y="3732215"/>
            <a:ext cx="399410" cy="39941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4290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sinais </a:t>
            </a:r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alerta e saber a quem pedir ajuda: Defesa Civil, 199.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548640" y="4754880"/>
            <a:ext cx="667512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77240" y="5010912"/>
            <a:ext cx="768096" cy="768096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15" name="Image 2" descr="art/icons/Gamepa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83" y="5195255"/>
            <a:ext cx="399410" cy="39941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83080" y="48920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com segurança </a:t>
            </a:r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o protocolo (proteja-se, avise, aja) no jogo HIDRO.</a:t>
            </a:r>
            <a:endParaRPr lang="en-US" sz="1800" dirty="0"/>
          </a:p>
        </p:txBody>
      </p:sp>
      <p:pic>
        <p:nvPicPr>
          <p:cNvPr id="17" name="Image 3" descr="art/scene_enxurrad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828800"/>
            <a:ext cx="4069080" cy="223799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589520" y="413994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Enxurrada, uma das quatro fases do jogo</a:t>
            </a:r>
            <a:endParaRPr lang="en-US" sz="1100" dirty="0"/>
          </a:p>
        </p:txBody>
      </p:sp>
      <p:pic>
        <p:nvPicPr>
          <p:cNvPr id="19" name="Image 4" descr="art/hidro_bi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4523994"/>
            <a:ext cx="1554480" cy="1554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será a nossa oficina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25880" y="2057400"/>
            <a:ext cx="1051560" cy="105156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7" name="Image 0" descr="art/icons/BookOpe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254" y="2309774"/>
            <a:ext cx="546811" cy="54681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Descobrir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325880" y="37033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F1B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41605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teórica: por que a água causa problemas e quais são os 4 fenômenos.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364992" y="1828800"/>
            <a:ext cx="2606040" cy="356616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42232" y="2057400"/>
            <a:ext cx="1051560" cy="1051560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pic>
        <p:nvPicPr>
          <p:cNvPr id="13" name="Image 1" descr="art/icons/ClipboardList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606" y="2309774"/>
            <a:ext cx="546811" cy="54681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47872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Preparar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4142232" y="37033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F1B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593592" y="41605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segurança, telefones úteis e como funciona o jogo.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181344" y="1828800"/>
            <a:ext cx="2606040" cy="356616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958584" y="2057400"/>
            <a:ext cx="1051560" cy="105156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19" name="Image 2" descr="art/icons/Gamepa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958" y="2309774"/>
            <a:ext cx="546811" cy="54681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64224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Jogar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6958584" y="37033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F1B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09944" y="41605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duplas: quatro cenários, decisões sob pressão de tempo.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8997696" y="1828800"/>
            <a:ext cx="2606040" cy="356616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774936" y="2057400"/>
            <a:ext cx="1051560" cy="1051560"/>
          </a:xfrm>
          <a:prstGeom prst="ellipse">
            <a:avLst/>
          </a:prstGeom>
          <a:solidFill>
            <a:srgbClr val="E57A2E"/>
          </a:solidFill>
          <a:ln w="12700">
            <a:solidFill>
              <a:srgbClr val="E57A2E"/>
            </a:solidFill>
            <a:prstDash val="solid"/>
          </a:ln>
        </p:spPr>
      </p:sp>
      <p:pic>
        <p:nvPicPr>
          <p:cNvPr id="25" name="Image 3" descr="art/icons/Us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7310" y="2309774"/>
            <a:ext cx="546811" cy="54681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80576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Refletir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9774936" y="37033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F1B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9226296" y="41605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de conversa e missão para casa: o Cartão de Emergência.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6667"/>
            </a:avLst>
          </a:prstGeom>
          <a:solidFill>
            <a:srgbClr val="BFE3F6"/>
          </a:solidFill>
          <a:ln w="12700">
            <a:solidFill>
              <a:srgbClr val="BFE3F6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100 minutos (2 aulas). Versão de 1 aula (50 min): veja as notas do professor.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609344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TEÓRICA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vai a água da chuva?</a:t>
            </a:r>
            <a:endParaRPr lang="en-US" sz="3400" dirty="0"/>
          </a:p>
        </p:txBody>
      </p:sp>
      <p:pic>
        <p:nvPicPr>
          <p:cNvPr id="5" name="Image 0" descr="art/diag_infiltr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589520" cy="360502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36981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COM VEGETAÇÃO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389120" y="536981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 IMPERMEABILIZADA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458200" y="1691640"/>
            <a:ext cx="320040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41080" y="1828800"/>
            <a:ext cx="640080" cy="64008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10" name="Image 1" descr="art/icons/Tre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699" y="1982419"/>
            <a:ext cx="332842" cy="33284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418320" y="18288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Infiltração
</a:t>
            </a:r>
            <a:pPr indent="0" marL="0">
              <a:buNone/>
            </a:pPr>
            <a:r>
              <a:rPr lang="en-US" sz="15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água entra no solo aos poucos.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458200" y="3657600"/>
            <a:ext cx="320040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8641080" y="3794760"/>
            <a:ext cx="640080" cy="64008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14" name="Image 2" descr="art/icons/Roa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699" y="3948379"/>
            <a:ext cx="332842" cy="33284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418320" y="37947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Escoamento superficial
</a:t>
            </a:r>
            <a:pPr indent="0" marL="0">
              <a:buNone/>
            </a:pPr>
            <a:r>
              <a:rPr lang="en-US" sz="15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água escorre pela superfície, de uma vez.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548640" y="5806440"/>
            <a:ext cx="11109960" cy="548640"/>
          </a:xfrm>
          <a:prstGeom prst="roundRect">
            <a:avLst>
              <a:gd name="adj" fmla="val 26667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822960" y="5806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asfalto e telhado = menos infiltração + mais água correndo para a rua.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609344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TEÓRICA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da chuva escorre pela superfície?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7498080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731520" y="1828800"/>
          <a:ext cx="71323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8366760" y="1737360"/>
            <a:ext cx="3291840" cy="2331720"/>
          </a:xfrm>
          <a:prstGeom prst="roundRect">
            <a:avLst>
              <a:gd name="adj" fmla="val 6275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366760" y="18745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7200" dirty="0"/>
          </a:p>
        </p:txBody>
      </p:sp>
      <p:sp>
        <p:nvSpPr>
          <p:cNvPr id="9" name="Text 5"/>
          <p:cNvSpPr txBox="1"/>
          <p:nvPr/>
        </p:nvSpPr>
        <p:spPr>
          <a:xfrm>
            <a:off x="8595360" y="30175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escorrem em áreas de ruas e telhados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366760" y="4251960"/>
            <a:ext cx="329184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595360" y="43708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Ideia-chave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4690872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cidade transforma chuva em correnteza.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897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aproximados. Variam com o tipo de solo e a inclinação.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609344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TEÓRICA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cidade alaga?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4068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2194560"/>
            <a:ext cx="868680" cy="86868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7" name="Image 0" descr="art/icons/Cit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2403043"/>
            <a:ext cx="451714" cy="45171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20240" y="1984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Impermeabilização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1920240" y="24414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Asfalto, calçadas e telhados impedem a água de entrar no solo.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72200" y="1783080"/>
            <a:ext cx="544068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00800" y="2194560"/>
            <a:ext cx="868680" cy="86868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pic>
        <p:nvPicPr>
          <p:cNvPr id="12" name="Image 1" descr="art/icons/Trash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283" y="2403043"/>
            <a:ext cx="451714" cy="45171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543800" y="1984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e entupimento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7543800" y="24414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nas ruas entope as bocas de lobo (bueiros) e a água não escoa.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3657600"/>
            <a:ext cx="544068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77240" y="4069080"/>
            <a:ext cx="868680" cy="868680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pic>
        <p:nvPicPr>
          <p:cNvPr id="17" name="Image 2" descr="art/icons/HouseCircleExclamatio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" y="4277563"/>
            <a:ext cx="451714" cy="45171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920240" y="3858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de áreas de risco</a:t>
            </a:r>
            <a:endParaRPr lang="en-US" sz="2100" dirty="0"/>
          </a:p>
        </p:txBody>
      </p:sp>
      <p:sp>
        <p:nvSpPr>
          <p:cNvPr id="19" name="Text 13"/>
          <p:cNvSpPr txBox="1"/>
          <p:nvPr/>
        </p:nvSpPr>
        <p:spPr>
          <a:xfrm>
            <a:off x="1920240" y="43159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Casas em várzeas de rios e em encostas ficam mais expostas.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172200" y="3657600"/>
            <a:ext cx="544068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00800" y="4069080"/>
            <a:ext cx="868680" cy="868680"/>
          </a:xfrm>
          <a:prstGeom prst="ellipse">
            <a:avLst/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</p:sp>
      <p:pic>
        <p:nvPicPr>
          <p:cNvPr id="22" name="Image 3" descr="art/icons/CloudRai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283" y="4277563"/>
            <a:ext cx="451714" cy="45171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543800" y="3858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 intensa</a:t>
            </a:r>
            <a:endParaRPr lang="en-US" sz="2100" dirty="0"/>
          </a:p>
        </p:txBody>
      </p:sp>
      <p:sp>
        <p:nvSpPr>
          <p:cNvPr id="24" name="Text 17"/>
          <p:cNvSpPr txBox="1"/>
          <p:nvPr/>
        </p:nvSpPr>
        <p:spPr>
          <a:xfrm>
            <a:off x="7543800" y="43159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 água em pouco tempo supera a capacidade da drenagem.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22857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chuva forte vira desastre: depende da cidade e do quanto estamos preparados.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609344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TEÓRICA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água "some" da rua: a microdrenagem</a:t>
            </a:r>
            <a:endParaRPr lang="en-US" sz="3400" dirty="0"/>
          </a:p>
        </p:txBody>
      </p:sp>
      <p:pic>
        <p:nvPicPr>
          <p:cNvPr id="5" name="Image 0" descr="art/diag_microdrenag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315200" cy="3749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183880" y="1764792"/>
            <a:ext cx="457200" cy="457200"/>
          </a:xfrm>
          <a:prstGeom prst="ellipse">
            <a:avLst/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796528" y="169164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Sarjeta
</a:t>
            </a:r>
            <a:pPr indent="0" marL="0">
              <a:buNone/>
            </a:pPr>
            <a:r>
              <a:rPr lang="en-US" sz="13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na beira da rua que conduz a água.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2523744"/>
            <a:ext cx="457200" cy="457200"/>
          </a:xfrm>
          <a:prstGeom prst="ellipse">
            <a:avLst/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796528" y="2450592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 de lobo (bueiro)
</a:t>
            </a:r>
            <a:pPr indent="0" marL="0">
              <a:buNone/>
            </a:pPr>
            <a:r>
              <a:rPr lang="en-US" sz="13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no meio-fio que capta a água.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183880" y="3282696"/>
            <a:ext cx="457200" cy="457200"/>
          </a:xfrm>
          <a:prstGeom prst="ellipse">
            <a:avLst/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796528" y="3209544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 de águas pluviais
</a:t>
            </a:r>
            <a:pPr indent="0" marL="0">
              <a:buNone/>
            </a:pPr>
            <a:r>
              <a:rPr lang="en-US" sz="13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tubulação subterrânea.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183880" y="4041648"/>
            <a:ext cx="457200" cy="457200"/>
          </a:xfrm>
          <a:prstGeom prst="ellipse">
            <a:avLst/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796528" y="3968496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Poço de visita (bueiro com tampa)
</a:t>
            </a:r>
            <a:pPr indent="0" marL="0">
              <a:buNone/>
            </a:pPr>
            <a:r>
              <a:rPr lang="en-US" sz="13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câmara fechada pelo tampão, para manutenção.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183880" y="4800600"/>
            <a:ext cx="457200" cy="457200"/>
          </a:xfrm>
          <a:prstGeom prst="ellipse">
            <a:avLst/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796528" y="4727448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
</a:t>
            </a:r>
            <a:pPr indent="0" marL="0">
              <a:buNone/>
            </a:pPr>
            <a:r>
              <a:rPr lang="en-US" sz="13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água chega ao rio ou canal.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5715000"/>
            <a:ext cx="11109960" cy="658368"/>
          </a:xfrm>
          <a:prstGeom prst="roundRect">
            <a:avLst>
              <a:gd name="adj" fmla="val 22222"/>
            </a:avLst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57607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1" descr="art/icons/TriangleExclamation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83" y="589678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57150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entope a boca de lobo. Tampão fora do lugar é uma armadilha escondida pela água.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609344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TEÓRICA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= perigo × vulnerabilidade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200400" cy="26517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645920" y="1965960"/>
            <a:ext cx="1005840" cy="100584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7" name="Image 0" descr="art/icons/CloudRai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7322" y="2207362"/>
            <a:ext cx="523037" cy="5230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PERIGO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474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fenômeno: chuva forte, rio que sobe, encosta encharcada.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794760" y="26517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800" dirty="0"/>
          </a:p>
        </p:txBody>
      </p:sp>
      <p:sp>
        <p:nvSpPr>
          <p:cNvPr id="11" name="Shape 7"/>
          <p:cNvSpPr/>
          <p:nvPr/>
        </p:nvSpPr>
        <p:spPr>
          <a:xfrm>
            <a:off x="4480560" y="1783080"/>
            <a:ext cx="3200400" cy="26517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577840" y="1965960"/>
            <a:ext cx="1005840" cy="1005840"/>
          </a:xfrm>
          <a:prstGeom prst="ellipse">
            <a:avLst/>
          </a:prstGeom>
          <a:solidFill>
            <a:srgbClr val="E57A2E"/>
          </a:solidFill>
          <a:ln w="12700">
            <a:solidFill>
              <a:srgbClr val="E57A2E"/>
            </a:solidFill>
            <a:prstDash val="solid"/>
          </a:ln>
        </p:spPr>
      </p:sp>
      <p:pic>
        <p:nvPicPr>
          <p:cNvPr id="13" name="Image 1" descr="art/icons/HouseCircleExclamatio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242" y="2207362"/>
            <a:ext cx="523037" cy="52303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6344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5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709160" y="3474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pessoas e casas podem ser afetadas: área baixa, sem alerta, sem preparo.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7726680" y="26517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800" dirty="0"/>
          </a:p>
        </p:txBody>
      </p:sp>
      <p:sp>
        <p:nvSpPr>
          <p:cNvPr id="17" name="Shape 12"/>
          <p:cNvSpPr/>
          <p:nvPr/>
        </p:nvSpPr>
        <p:spPr>
          <a:xfrm>
            <a:off x="8412480" y="1783080"/>
            <a:ext cx="3200400" cy="26517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509760" y="1965960"/>
            <a:ext cx="1005840" cy="1005840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pic>
        <p:nvPicPr>
          <p:cNvPr id="19" name="Image 2" descr="art/icons/TriangleExclamatio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162" y="2207362"/>
            <a:ext cx="523037" cy="52303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59536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5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8641080" y="3474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chance de haver danos a pessoas e bens.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reduzir o risco?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548640" y="5120640"/>
            <a:ext cx="3566160" cy="1051560"/>
          </a:xfrm>
          <a:prstGeom prst="roundRect">
            <a:avLst>
              <a:gd name="adj" fmla="val 13913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77240" y="52120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jogar lixo na rua, manter a drenagem limpa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297680" y="5120640"/>
            <a:ext cx="3566160" cy="1051560"/>
          </a:xfrm>
          <a:prstGeom prst="roundRect">
            <a:avLst>
              <a:gd name="adj" fmla="val 13913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526280" y="52120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os avisos da Defesa Civil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8046720" y="5120640"/>
            <a:ext cx="3566160" cy="1051560"/>
          </a:xfrm>
          <a:prstGeom prst="roundRect">
            <a:avLst>
              <a:gd name="adj" fmla="val 13913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275320" y="52120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mochila, rota de saída e ponto de encontro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609344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TEÓRICA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fenômenos, quatro nomes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44068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6" name="Image 0" descr="art/scene_alag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2743200" cy="1508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0" y="19659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D9A2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ALAGAMENTO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3657600" y="242316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acumulada na rua: a chuva é forte e a drenagem não dá conta ou está entupida.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172200" y="1691640"/>
            <a:ext cx="544068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art/scene_enxurra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743200" cy="1508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281160" y="19659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57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ENXURRADA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281160" y="242316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que escorre rápido e com força, principalmente em ruas com declive.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4023360"/>
            <a:ext cx="544068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4" name="Image 2" descr="art/scene_enchen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97680"/>
            <a:ext cx="2743200" cy="1508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657600" y="42976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ENCHENTE E INUNDAÇÃO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3657600" y="4754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rio sobe dentro do canal (enchente); se ultrapassar as margens, vira inundação e alcança a planície.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172200" y="4023360"/>
            <a:ext cx="544068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8" name="Image 3" descr="art/scene_deslizament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297680"/>
            <a:ext cx="2743200" cy="1508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281160" y="42976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DESLIZAMENTO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9281160" y="4754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Terra, lama ou pedras descem a encosta, geralmente com o solo encharcado.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D9A2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FENÔMENO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Alagamento: a água não tem por onde escoar</a:t>
            </a:r>
            <a:endParaRPr lang="en-US" sz="3400" dirty="0"/>
          </a:p>
        </p:txBody>
      </p:sp>
      <p:pic>
        <p:nvPicPr>
          <p:cNvPr id="5" name="Image 0" descr="art/diag_alag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583680" cy="357399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448518"/>
            <a:ext cx="6583680" cy="815122"/>
          </a:xfrm>
          <a:prstGeom prst="roundRect">
            <a:avLst>
              <a:gd name="adj" fmla="val 17949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31520" y="5581759"/>
            <a:ext cx="548640" cy="548640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pic>
        <p:nvPicPr>
          <p:cNvPr id="8" name="Image 1" descr="art/icons/Lightbulb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4" y="5713432"/>
            <a:ext cx="285293" cy="28529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63040" y="5448518"/>
            <a:ext cx="5486400" cy="815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parada também é perigosa: esgoto, buracos escondidos e risco de choque elétrico.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7360920" y="1691640"/>
            <a:ext cx="4297680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525512" y="1856232"/>
            <a:ext cx="502920" cy="50292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12" name="Image 2" descr="art/icons/CloudRai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213" y="1976933"/>
            <a:ext cx="261518" cy="26151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183880" y="18013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acontece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183880" y="21031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Chove muito em pouco tempo. A água não entra nas bocas de lobo (bueiros), que estão entupidas de lixo ou são poucas.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7360920" y="3246120"/>
            <a:ext cx="4297680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7525512" y="3410712"/>
            <a:ext cx="502920" cy="502920"/>
          </a:xfrm>
          <a:prstGeom prst="ellipse">
            <a:avLst/>
          </a:prstGeom>
          <a:solidFill>
            <a:srgbClr val="E57A2E"/>
          </a:solidFill>
          <a:ln w="12700">
            <a:solidFill>
              <a:srgbClr val="E57A2E"/>
            </a:solidFill>
            <a:prstDash val="solid"/>
          </a:ln>
        </p:spPr>
      </p:sp>
      <p:pic>
        <p:nvPicPr>
          <p:cNvPr id="17" name="Image 3" descr="art/icons/Ey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213" y="3531413"/>
            <a:ext cx="261518" cy="26151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183880" y="33558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alerta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8183880" y="36576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juntando na sarjeta e nas ruas baixas; bueiro gorgolejando; carros com a água na altura da roda.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7360920" y="4800600"/>
            <a:ext cx="4297680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7525512" y="4965192"/>
            <a:ext cx="502920" cy="50292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22" name="Image 4" descr="art/icons/ShieldHalve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213" y="5085893"/>
            <a:ext cx="261518" cy="26151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183880" y="49103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8183880" y="521208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atravesse a água. Desligue a energia. Suba móveis e objetos. Avise a Defesa Civil (199).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57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FENÔMENO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Enxurrada: água rápida e forte na ladeira</a:t>
            </a:r>
            <a:endParaRPr lang="en-US" sz="3400" dirty="0"/>
          </a:p>
        </p:txBody>
      </p:sp>
      <p:pic>
        <p:nvPicPr>
          <p:cNvPr id="5" name="Image 0" descr="art/diag_enxurr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1691640"/>
            <a:ext cx="6583680" cy="357399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56632" y="5448518"/>
            <a:ext cx="6583680" cy="815122"/>
          </a:xfrm>
          <a:prstGeom prst="roundRect">
            <a:avLst>
              <a:gd name="adj" fmla="val 17949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239512" y="5581759"/>
            <a:ext cx="548640" cy="548640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pic>
        <p:nvPicPr>
          <p:cNvPr id="8" name="Image 1" descr="art/icons/Lightbulb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186" y="5713432"/>
            <a:ext cx="285293" cy="28529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971032" y="5448518"/>
            <a:ext cx="5486400" cy="815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15 cm de água em movimento já podem derrubar um adulto (valor aproximado).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48640" y="1691640"/>
            <a:ext cx="4297680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13232" y="1856232"/>
            <a:ext cx="502920" cy="50292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12" name="Image 2" descr="art/icons/CloudRai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3" y="1976933"/>
            <a:ext cx="261518" cy="26151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18013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acontece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1371600" y="21031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ruas em declive a água ganha velocidade e força. Ela arrasta lixo, galhos e até carros.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48640" y="3246120"/>
            <a:ext cx="4297680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713232" y="3410712"/>
            <a:ext cx="502920" cy="502920"/>
          </a:xfrm>
          <a:prstGeom prst="ellipse">
            <a:avLst/>
          </a:prstGeom>
          <a:solidFill>
            <a:srgbClr val="E57A2E"/>
          </a:solidFill>
          <a:ln w="12700">
            <a:solidFill>
              <a:srgbClr val="E57A2E"/>
            </a:solidFill>
            <a:prstDash val="solid"/>
          </a:ln>
        </p:spPr>
      </p:sp>
      <p:pic>
        <p:nvPicPr>
          <p:cNvPr id="17" name="Image 3" descr="art/icons/Ey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3" y="3531413"/>
            <a:ext cx="261518" cy="26151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33558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alerta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1371600" y="36576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Barulho de água descendo a rua; água barrenta e veloz; tampas de bueiro (tampões) soltas.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48640" y="4800600"/>
            <a:ext cx="4297680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713232" y="4965192"/>
            <a:ext cx="502920" cy="50292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22" name="Image 4" descr="art/icons/ShieldHalve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3" y="5085893"/>
            <a:ext cx="261518" cy="26151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71600" y="49103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1371600" y="521208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Fique longe da correnteza. Use passarelas e rotas seguras. Nunca mexa em bueiros durante a enxurrada.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FENÔMENO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Enchente e inundação: duas fases, não sinônimos</a:t>
            </a:r>
            <a:endParaRPr lang="en-US" sz="3400" dirty="0"/>
          </a:p>
        </p:txBody>
      </p:sp>
      <p:pic>
        <p:nvPicPr>
          <p:cNvPr id="5" name="Image 0" descr="art/diag_ench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583680" cy="31272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892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Calha do rio (nível normal)   2 Enchente (cheia, ainda dentro do canal)   3 Inundação (transbordamento sobre a planície)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5504688"/>
            <a:ext cx="6583680" cy="758952"/>
          </a:xfrm>
          <a:prstGeom prst="roundRect">
            <a:avLst>
              <a:gd name="adj" fmla="val 19277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1520" y="5609844"/>
            <a:ext cx="548640" cy="548640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pic>
        <p:nvPicPr>
          <p:cNvPr id="9" name="Image 1" descr="art/icons/Lightbulb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4" y="5741518"/>
            <a:ext cx="285293" cy="28529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63040" y="5504688"/>
            <a:ext cx="5486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cheia pode chegar horas ou dias depois que a chuva parou.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7360920" y="1691640"/>
            <a:ext cx="4297680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7525512" y="1856232"/>
            <a:ext cx="502920" cy="50292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13" name="Image 2" descr="art/icons/CloudRai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213" y="1976933"/>
            <a:ext cx="261518" cy="26151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183880" y="18013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acontece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8183880" y="21031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Chove nas nascentes e o rio sobe aos poucos. Passando da calha, a água invade a planície de inundação.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7360920" y="3246120"/>
            <a:ext cx="4297680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525512" y="3410712"/>
            <a:ext cx="502920" cy="502920"/>
          </a:xfrm>
          <a:prstGeom prst="ellipse">
            <a:avLst/>
          </a:prstGeom>
          <a:solidFill>
            <a:srgbClr val="E57A2E"/>
          </a:solidFill>
          <a:ln w="12700">
            <a:solidFill>
              <a:srgbClr val="E57A2E"/>
            </a:solidFill>
            <a:prstDash val="solid"/>
          </a:ln>
        </p:spPr>
      </p:sp>
      <p:pic>
        <p:nvPicPr>
          <p:cNvPr id="18" name="Image 3" descr="art/icons/Ey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213" y="3531413"/>
            <a:ext cx="261518" cy="26151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183880" y="33558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alerta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8183880" y="36576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do rio subindo; água barrenta; avisos oficiais; chuva forte nas cabeceiras, mesmo que aqui não chova.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7360920" y="4800600"/>
            <a:ext cx="4297680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525512" y="4965192"/>
            <a:ext cx="502920" cy="50292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23" name="Image 4" descr="art/icons/ShieldHalve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213" y="5085893"/>
            <a:ext cx="261518" cy="26151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183880" y="49103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8183880" y="521208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os alertas, prepare a mochila, desligue energia e gás e saia cedo para um lugar alto.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FENÔMENO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Deslizamento: a encosta perde a força</a:t>
            </a:r>
            <a:endParaRPr lang="en-US" sz="3400" dirty="0"/>
          </a:p>
        </p:txBody>
      </p:sp>
      <p:pic>
        <p:nvPicPr>
          <p:cNvPr id="5" name="Image 0" descr="art/diag_desliz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1691640"/>
            <a:ext cx="6583680" cy="31272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56632" y="4892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Rachadura   2 Água infiltrando no solo   3 Superfície de ruptura (por onde a terra desce)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056632" y="5504688"/>
            <a:ext cx="6583680" cy="758952"/>
          </a:xfrm>
          <a:prstGeom prst="roundRect">
            <a:avLst>
              <a:gd name="adj" fmla="val 19277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239512" y="5609844"/>
            <a:ext cx="548640" cy="548640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pic>
        <p:nvPicPr>
          <p:cNvPr id="9" name="Image 1" descr="art/icons/Lightbulb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186" y="5741518"/>
            <a:ext cx="285293" cy="28529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71032" y="5504688"/>
            <a:ext cx="5486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 de vários dias deixa o solo pesado: o deslizamento pode vir depois que a chuva diminui.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548640" y="1691640"/>
            <a:ext cx="4297680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713232" y="1856232"/>
            <a:ext cx="502920" cy="50292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13" name="Image 2" descr="art/icons/CloudRai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3" y="1976933"/>
            <a:ext cx="261518" cy="26151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18013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acontece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371600" y="21031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muita chuva o solo fica encharcado e pesado. A encosta pode perder a coesão e escorregar.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246120"/>
            <a:ext cx="4297680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13232" y="3410712"/>
            <a:ext cx="502920" cy="502920"/>
          </a:xfrm>
          <a:prstGeom prst="ellipse">
            <a:avLst/>
          </a:prstGeom>
          <a:solidFill>
            <a:srgbClr val="E57A2E"/>
          </a:solidFill>
          <a:ln w="12700">
            <a:solidFill>
              <a:srgbClr val="E57A2E"/>
            </a:solidFill>
            <a:prstDash val="solid"/>
          </a:ln>
        </p:spPr>
      </p:sp>
      <p:pic>
        <p:nvPicPr>
          <p:cNvPr id="18" name="Image 3" descr="art/icons/Ey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3" y="3531413"/>
            <a:ext cx="261518" cy="26151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71600" y="33558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alerta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371600" y="36576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Rachaduras no chão ou nas paredes; árvores e postes inclinados; estalos; água barrenta brotando; portas emperrando.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548640" y="4800600"/>
            <a:ext cx="4297680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13232" y="4965192"/>
            <a:ext cx="502920" cy="50292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23" name="Image 4" descr="art/icons/ShieldHalve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3" y="5085893"/>
            <a:ext cx="261518" cy="26151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371600" y="49103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371600" y="521208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de longe, saia da área, avise a 199, evacue com calma e não volte para buscar objetos.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609344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TEÓRICA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os quatro fenômenos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1099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103120"/>
                <a:gridCol w="2377440"/>
                <a:gridCol w="2514600"/>
                <a:gridCol w="2331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Fenômeno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acontece mais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chega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Perigo principal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Ação-chave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Alagamento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2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Ruas baixas da cidade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Acumula aos poucos, em horas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Choque elétrico, água contaminada, buracos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Desligar a energia; não andar na água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Enxurrada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Ruas em declive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Rápido, em minutos, com força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 derrubado e arrastado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Ficar longe da correnteza; usar a passarela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Enchente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3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Perto de rios (planície)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Gradual, em horas ou dias, com alerta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invadindo casas; isolamento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Sair cedo para um lugar alto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Deslizamento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Encostas ocupadas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Pode ser súbito, mas dá sinais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Soterramento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Sair da área e avisar a 199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Simplificação didática: na vida real os fenômenos podem acontecer juntos.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55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 ou verdade?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1110996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874520"/>
            <a:ext cx="512064" cy="512064"/>
          </a:xfrm>
          <a:prstGeom prst="ellipse">
            <a:avLst/>
          </a:prstGeom>
          <a:solidFill>
            <a:srgbClr val="0F1B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37360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só água da chuva, então não faz mal andar na rua alagada.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0" y="196596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652760" y="196596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55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633472"/>
            <a:ext cx="1110996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31520" y="2770632"/>
            <a:ext cx="512064" cy="512064"/>
          </a:xfrm>
          <a:prstGeom prst="ellipse">
            <a:avLst/>
          </a:prstGeom>
          <a:solidFill>
            <a:srgbClr val="0F1B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633472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Desligar o disjuntor antes de a água chegar às tomadas ajuda a evitar choques.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0" y="286207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652760" y="286207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55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529584"/>
            <a:ext cx="1110996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31520" y="3666744"/>
            <a:ext cx="512064" cy="512064"/>
          </a:xfrm>
          <a:prstGeom prst="ellipse">
            <a:avLst/>
          </a:prstGeom>
          <a:solidFill>
            <a:srgbClr val="0F1B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352958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chuva parou, o rio já não oferece risco.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0" y="3758184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652760" y="3758184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55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425696"/>
            <a:ext cx="1110996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31520" y="4562856"/>
            <a:ext cx="512064" cy="512064"/>
          </a:xfrm>
          <a:prstGeom prst="ellipse">
            <a:avLst/>
          </a:prstGeom>
          <a:solidFill>
            <a:srgbClr val="0F1B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463040" y="442569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Rachadura pequena no chão da encosta resolve-se tapando com cimento.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601200" y="4654296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0652760" y="4654296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55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5321808"/>
            <a:ext cx="1110996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31520" y="5458968"/>
            <a:ext cx="512064" cy="512064"/>
          </a:xfrm>
          <a:prstGeom prst="ellipse">
            <a:avLst/>
          </a:prstGeom>
          <a:solidFill>
            <a:srgbClr val="0F1B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1463040" y="5321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mais seguro sair de casa antes de a água chegar do que esperar ela entrar.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601200" y="555040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0652760" y="555040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55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55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Respostas: mito ou verdade?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1110996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96596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55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737360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água do alagamento pode ter esgoto, lixo, buracos escondidos e fios energizados.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633472"/>
            <a:ext cx="1110996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286207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194560" y="2633472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e eletricidade juntas causam choques graves. Desligue cedo.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529584"/>
            <a:ext cx="1110996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31520" y="375818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55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194560" y="3529584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cheia pode continuar por horas ou dias, porque a água vem das partes altas do rio.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4425696"/>
            <a:ext cx="1110996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31520" y="465429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55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194560" y="4425696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Rachaduras podem indicar que o terreno está se movendo. Não tape: avise a Defesa Civil.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5321808"/>
            <a:ext cx="1110996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31520" y="555040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194560" y="5321808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tempo a rota pode ficar alagada. Sair cedo salva vidas.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emergência: proteja-se, avise, aja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337560" cy="3337560"/>
          </a:xfrm>
          <a:prstGeom prst="roundRect">
            <a:avLst>
              <a:gd name="adj" fmla="val 4384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645920" y="1965960"/>
            <a:ext cx="1143000" cy="114300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7" name="Image 0" descr="art/icons/HelmetSafet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24028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291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PROTEJA-SE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7490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 de proteção e distância do perigo. Você precisa estar bem para ajudar.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950208" y="3246120"/>
            <a:ext cx="384048" cy="457200"/>
          </a:xfrm>
          <a:prstGeom prst="rightArrow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0" y="1783080"/>
            <a:ext cx="3337560" cy="3337560"/>
          </a:xfrm>
          <a:prstGeom prst="roundRect">
            <a:avLst>
              <a:gd name="adj" fmla="val 4384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0" y="1965960"/>
            <a:ext cx="1143000" cy="1143000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pic>
        <p:nvPicPr>
          <p:cNvPr id="13" name="Image 1" descr="art/icons/Phone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24028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72000" y="3291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AVISE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663440" y="37490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para a Defesa Civil (199). Diga onde está e o que está acontecendo.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790688" y="3246120"/>
            <a:ext cx="384048" cy="457200"/>
          </a:xfrm>
          <a:prstGeom prst="rightArrow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29600" y="1783080"/>
            <a:ext cx="3337560" cy="3337560"/>
          </a:xfrm>
          <a:prstGeom prst="roundRect">
            <a:avLst>
              <a:gd name="adj" fmla="val 4384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326880" y="1965960"/>
            <a:ext cx="1143000" cy="114300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19" name="Image 2" descr="art/icons/ShieldHalve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240280"/>
            <a:ext cx="594360" cy="5943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12480" y="3291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AJA COM SEGURANÇA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8503920" y="37490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Desligue a energia, ajude quem precisa e evacue pela rota segura.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548640" y="5349240"/>
            <a:ext cx="5440680" cy="960120"/>
          </a:xfrm>
          <a:prstGeom prst="roundRect">
            <a:avLst>
              <a:gd name="adj" fmla="val 15238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31520" y="55321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art/icons/Bolt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5674766"/>
            <a:ext cx="309067" cy="30906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08760" y="534924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SEMPRE: desligue a energia antes de a água chegar às tomadas.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6217920" y="5349240"/>
            <a:ext cx="5440680" cy="960120"/>
          </a:xfrm>
          <a:prstGeom prst="roundRect">
            <a:avLst>
              <a:gd name="adj" fmla="val 15238"/>
            </a:avLst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00800" y="55321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4" descr="art/icons/Xmark_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446" y="5674766"/>
            <a:ext cx="309067" cy="30906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178040" y="534924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NUNCA: andar na água, voltar para buscar objetos, mexer em bueiros na enxurrada.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8CCE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úteis e mochila de emergência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606040" cy="1920240"/>
          </a:xfrm>
          <a:prstGeom prst="roundRect">
            <a:avLst>
              <a:gd name="adj" fmla="val 7619"/>
            </a:avLst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" y="18745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71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Civil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37560" y="1737360"/>
            <a:ext cx="2606040" cy="1920240"/>
          </a:xfrm>
          <a:prstGeom prst="roundRect">
            <a:avLst>
              <a:gd name="adj" fmla="val 7619"/>
            </a:avLst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337560" y="18745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3337560" y="2971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Bombeiros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3840480"/>
            <a:ext cx="2606040" cy="1920240"/>
          </a:xfrm>
          <a:prstGeom prst="roundRect">
            <a:avLst>
              <a:gd name="adj" fmla="val 7619"/>
            </a:avLst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48640" y="397764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074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337560" y="3840480"/>
            <a:ext cx="2606040" cy="1920240"/>
          </a:xfrm>
          <a:prstGeom prst="roundRect">
            <a:avLst>
              <a:gd name="adj" fmla="val 7619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337560" y="397764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6000" dirty="0"/>
          </a:p>
        </p:txBody>
      </p:sp>
      <p:sp>
        <p:nvSpPr>
          <p:cNvPr id="16" name="Text 13"/>
          <p:cNvSpPr txBox="1"/>
          <p:nvPr/>
        </p:nvSpPr>
        <p:spPr>
          <a:xfrm>
            <a:off x="3337560" y="5074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989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por SMS da Defesa Civil: envie o CEP para 40199. Confirme no site da Defesa Civil do seu município.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1737360"/>
            <a:ext cx="539496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9" name="Image 0" descr="art/mochila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965960"/>
            <a:ext cx="1737360" cy="17373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44652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de emergência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196596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em saco plástico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e comida que não estraga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Remédios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Lanterna e pilhas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Carregador de celular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Roupas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telefones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801368" cy="329184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JOGAR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rápida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20440" cy="438912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telefone da Defesa Civil?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3977640"/>
            <a:ext cx="3063240" cy="594360"/>
          </a:xfrm>
          <a:prstGeom prst="roundRect">
            <a:avLst>
              <a:gd name="adj" fmla="val 24615"/>
            </a:avLst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0392" y="4050792"/>
            <a:ext cx="448056" cy="448056"/>
          </a:xfrm>
          <a:prstGeom prst="ellipse">
            <a:avLst/>
          </a:prstGeom>
          <a:solidFill>
            <a:srgbClr val="2A9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44752" y="3977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77240" y="4690872"/>
            <a:ext cx="3063240" cy="594360"/>
          </a:xfrm>
          <a:prstGeom prst="roundRect">
            <a:avLst>
              <a:gd name="adj" fmla="val 24615"/>
            </a:avLst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0392" y="4764024"/>
            <a:ext cx="448056" cy="448056"/>
          </a:xfrm>
          <a:prstGeom prst="ellipse">
            <a:avLst/>
          </a:prstGeom>
          <a:solidFill>
            <a:srgbClr val="2A9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44752" y="46908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7240" y="5404104"/>
            <a:ext cx="3063240" cy="594360"/>
          </a:xfrm>
          <a:prstGeom prst="roundRect">
            <a:avLst>
              <a:gd name="adj" fmla="val 24615"/>
            </a:avLst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0392" y="5477256"/>
            <a:ext cx="448056" cy="448056"/>
          </a:xfrm>
          <a:prstGeom prst="ellipse">
            <a:avLst/>
          </a:prstGeom>
          <a:solidFill>
            <a:srgbClr val="2A9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444752" y="540410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343400" y="1783080"/>
            <a:ext cx="3520440" cy="438912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572000" y="1965960"/>
            <a:ext cx="548640" cy="548640"/>
          </a:xfrm>
          <a:prstGeom prst="ellipse">
            <a:avLst/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26974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primeiro passo do protocolo de segurança?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572000" y="3977640"/>
            <a:ext cx="3063240" cy="594360"/>
          </a:xfrm>
          <a:prstGeom prst="roundRect">
            <a:avLst>
              <a:gd name="adj" fmla="val 24615"/>
            </a:avLst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45152" y="4050792"/>
            <a:ext cx="448056" cy="448056"/>
          </a:xfrm>
          <a:prstGeom prst="ellipse">
            <a:avLst/>
          </a:prstGeom>
          <a:solidFill>
            <a:srgbClr val="2A9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239512" y="3977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a Defesa Civil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572000" y="4690872"/>
            <a:ext cx="3063240" cy="594360"/>
          </a:xfrm>
          <a:prstGeom prst="roundRect">
            <a:avLst>
              <a:gd name="adj" fmla="val 24615"/>
            </a:avLst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45152" y="4764024"/>
            <a:ext cx="448056" cy="448056"/>
          </a:xfrm>
          <a:prstGeom prst="ellipse">
            <a:avLst/>
          </a:prstGeom>
          <a:solidFill>
            <a:srgbClr val="2A9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239512" y="46908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Proteger-se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572000" y="5404104"/>
            <a:ext cx="3063240" cy="594360"/>
          </a:xfrm>
          <a:prstGeom prst="roundRect">
            <a:avLst>
              <a:gd name="adj" fmla="val 24615"/>
            </a:avLst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45152" y="5477256"/>
            <a:ext cx="448056" cy="448056"/>
          </a:xfrm>
          <a:prstGeom prst="ellipse">
            <a:avLst/>
          </a:prstGeom>
          <a:solidFill>
            <a:srgbClr val="2A9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239512" y="540410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Ajudar os vizinhos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138160" y="1783080"/>
            <a:ext cx="3520440" cy="438912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366760" y="1965960"/>
            <a:ext cx="548640" cy="548640"/>
          </a:xfrm>
          <a:prstGeom prst="ellipse">
            <a:avLst/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8366760" y="26974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fenômeno tem água rápida e forte em ruas com declive?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8366760" y="3977640"/>
            <a:ext cx="3063240" cy="594360"/>
          </a:xfrm>
          <a:prstGeom prst="roundRect">
            <a:avLst>
              <a:gd name="adj" fmla="val 24615"/>
            </a:avLst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39912" y="4050792"/>
            <a:ext cx="448056" cy="448056"/>
          </a:xfrm>
          <a:prstGeom prst="ellipse">
            <a:avLst/>
          </a:prstGeom>
          <a:solidFill>
            <a:srgbClr val="2A9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034272" y="3977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Alagamento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366760" y="4690872"/>
            <a:ext cx="3063240" cy="594360"/>
          </a:xfrm>
          <a:prstGeom prst="roundRect">
            <a:avLst>
              <a:gd name="adj" fmla="val 24615"/>
            </a:avLst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39912" y="4764024"/>
            <a:ext cx="448056" cy="448056"/>
          </a:xfrm>
          <a:prstGeom prst="ellipse">
            <a:avLst/>
          </a:prstGeom>
          <a:solidFill>
            <a:srgbClr val="2A9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9034272" y="46908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Enxurrada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366760" y="5404104"/>
            <a:ext cx="3063240" cy="594360"/>
          </a:xfrm>
          <a:prstGeom prst="roundRect">
            <a:avLst>
              <a:gd name="adj" fmla="val 24615"/>
            </a:avLst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439912" y="5477256"/>
            <a:ext cx="448056" cy="448056"/>
          </a:xfrm>
          <a:prstGeom prst="ellipse">
            <a:avLst/>
          </a:prstGeom>
          <a:solidFill>
            <a:srgbClr val="2A9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9034272" y="540410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Enchente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82296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 |  JOGAR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5544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é hora de jogar!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8404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FE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aprendeu os conceitos. No HIDRO você vai decidir, com o relógio correndo, como proteger pessoas e a comunidade.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766560" y="914400"/>
            <a:ext cx="4846320" cy="5029200"/>
          </a:xfrm>
          <a:prstGeom prst="roundRect">
            <a:avLst>
              <a:gd name="adj" fmla="val 3019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</p:sp>
      <p:pic>
        <p:nvPicPr>
          <p:cNvPr id="7" name="Image 0" descr="art/agent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3291840"/>
            <a:ext cx="1737360" cy="1737360"/>
          </a:xfrm>
          <a:prstGeom prst="rect">
            <a:avLst/>
          </a:prstGeom>
        </p:spPr>
      </p:pic>
      <p:pic>
        <p:nvPicPr>
          <p:cNvPr id="8" name="Image 1" descr="art/hidro_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3291840" cy="3291840"/>
          </a:xfrm>
          <a:prstGeom prst="rect">
            <a:avLst/>
          </a:prstGeom>
        </p:spPr>
      </p:pic>
      <p:pic>
        <p:nvPicPr>
          <p:cNvPr id="9" name="Image 2" descr="art/moradora_b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291840"/>
            <a:ext cx="1737360" cy="173736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 e a equipe da comunidade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801368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O JOGO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HIDRO: Redução de Riscos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6" name="Image 0" descr="art/icons/HelmetSafet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2015338"/>
            <a:ext cx="404165" cy="40416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é o Hidro
</a:t>
            </a:r>
            <a:pPr indent="0" marL="0">
              <a:buNone/>
            </a:pPr>
            <a:r>
              <a:rPr lang="en-US" sz="16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que ajuda a comunidade a se proteger.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2926080"/>
            <a:ext cx="777240" cy="77724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9" name="Image 1" descr="art/icons/Ma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3112618"/>
            <a:ext cx="404165" cy="40416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54480" y="28803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cenários
</a:t>
            </a:r>
            <a:pPr indent="0" marL="0">
              <a:buNone/>
            </a:pPr>
            <a:r>
              <a:rPr lang="en-US" sz="16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alagamento, enxurrada, enchente e deslizamento.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548640" y="4023360"/>
            <a:ext cx="777240" cy="777240"/>
          </a:xfrm>
          <a:prstGeom prst="ellipse">
            <a:avLst/>
          </a:prstGeom>
          <a:solidFill>
            <a:srgbClr val="E57A2E"/>
          </a:solidFill>
          <a:ln w="12700">
            <a:solidFill>
              <a:srgbClr val="E57A2E"/>
            </a:solidFill>
            <a:prstDash val="solid"/>
          </a:ln>
        </p:spPr>
      </p:sp>
      <p:pic>
        <p:nvPicPr>
          <p:cNvPr id="12" name="Image 2" descr="art/icons/C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4209898"/>
            <a:ext cx="404165" cy="40416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554480" y="39776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sobe com o tempo
</a:t>
            </a:r>
            <a:pPr indent="0" marL="0">
              <a:buNone/>
            </a:pPr>
            <a:r>
              <a:rPr lang="en-US" sz="16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rápido e com segurança.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548640" y="5120640"/>
            <a:ext cx="777240" cy="777240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pic>
        <p:nvPicPr>
          <p:cNvPr id="15" name="Image 3" descr="art/icons/Medal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5307178"/>
            <a:ext cx="404165" cy="40416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554480" y="50749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conversas e medalhas
</a:t>
            </a:r>
            <a:pPr indent="0" marL="0">
              <a:buNone/>
            </a:pPr>
            <a:r>
              <a:rPr lang="en-US" sz="16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ouro, prata ou bronze em cada fase.</a:t>
            </a:r>
            <a:endParaRPr lang="en-US" sz="1600" dirty="0"/>
          </a:p>
        </p:txBody>
      </p:sp>
      <p:pic>
        <p:nvPicPr>
          <p:cNvPr id="17" name="Image 4" descr="art/game_ui_p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783080"/>
            <a:ext cx="5486400" cy="30861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17220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do jogo (ilustração)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6172200" y="5349240"/>
            <a:ext cx="5486400" cy="822960"/>
          </a:xfrm>
          <a:prstGeom prst="roundRect">
            <a:avLst>
              <a:gd name="adj" fmla="val 17778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6400800" y="5349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no navegador: computador, tablet ou celular.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8CCE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801368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O JOGO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jogar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6035040" cy="2148840"/>
          </a:xfrm>
          <a:prstGeom prst="roundRect">
            <a:avLst>
              <a:gd name="adj" fmla="val 6809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965960"/>
            <a:ext cx="685800" cy="68580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7" name="Image 0" descr="art/icons/Keyboar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3055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computador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645920" y="25603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Setas ou W A S D: andar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ESPAÇO: agir e passar o texto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ESC: pausar   |   G: glossário   |   K: guia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4114800"/>
            <a:ext cx="6035040" cy="2148840"/>
          </a:xfrm>
          <a:prstGeom prst="roundRect">
            <a:avLst>
              <a:gd name="adj" fmla="val 6809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4297680"/>
            <a:ext cx="685800" cy="685800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pic>
        <p:nvPicPr>
          <p:cNvPr id="12" name="Image 1" descr="art/icons/MobileScreenButton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446227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celular ou tablet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48920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Arraste na metade esquerda: andar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AGIR (ou toque no item): agir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na tela: passar o texto</a:t>
            </a:r>
            <a:endParaRPr lang="en-US" sz="1600" dirty="0"/>
          </a:p>
        </p:txBody>
      </p:sp>
      <p:pic>
        <p:nvPicPr>
          <p:cNvPr id="15" name="Image 2" descr="art/game_ui_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828800"/>
            <a:ext cx="4709160" cy="278072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949440" y="4700969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na horizontal: joystick à esquerda, botão AGIR à direita.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8CCE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801368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O JOGO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Lendo a tela do jogo</a:t>
            </a:r>
            <a:endParaRPr lang="en-US" sz="3400" dirty="0"/>
          </a:p>
        </p:txBody>
      </p:sp>
      <p:pic>
        <p:nvPicPr>
          <p:cNvPr id="5" name="Image 0" descr="art/game_ui_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7223760" cy="406336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092440" y="1792224"/>
            <a:ext cx="457200" cy="457200"/>
          </a:xfrm>
          <a:prstGeom prst="ellipse">
            <a:avLst/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705088" y="17373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Medidor de RISCO
</a:t>
            </a:r>
            <a:pPr indent="0" marL="0">
              <a:buNone/>
            </a:pPr>
            <a:r>
              <a:rPr lang="en-US" sz="13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com o tempo (cor e texto)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092440" y="2505456"/>
            <a:ext cx="457200" cy="457200"/>
          </a:xfrm>
          <a:prstGeom prst="ellipse">
            <a:avLst/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705088" y="245059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
</a:t>
            </a:r>
            <a:pPr indent="0" marL="0">
              <a:buNone/>
            </a:pPr>
            <a:r>
              <a:rPr lang="en-US" sz="13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do que fazer agora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3218688"/>
            <a:ext cx="457200" cy="457200"/>
          </a:xfrm>
          <a:prstGeom prst="ellipse">
            <a:avLst/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705088" y="316382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Itens para agir
</a:t>
            </a:r>
            <a:pPr indent="0" marL="0">
              <a:buNone/>
            </a:pPr>
            <a:r>
              <a:rPr lang="en-US" sz="13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cinza: bloqueado; verde: próximo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092440" y="3931920"/>
            <a:ext cx="457200" cy="457200"/>
          </a:xfrm>
          <a:prstGeom prst="ellipse">
            <a:avLst/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705088" y="387705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Morador que conversa
</a:t>
            </a:r>
            <a:pPr indent="0" marL="0">
              <a:buNone/>
            </a:pPr>
            <a:r>
              <a:rPr lang="en-US" sz="13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 ou verdade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0" y="4645152"/>
            <a:ext cx="457200" cy="457200"/>
          </a:xfrm>
          <a:prstGeom prst="ellipse">
            <a:avLst/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705088" y="459028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 verde
</a:t>
            </a:r>
            <a:pPr indent="0" marL="0">
              <a:buNone/>
            </a:pPr>
            <a:r>
              <a:rPr lang="en-US" sz="13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o caminho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092440" y="5358384"/>
            <a:ext cx="457200" cy="457200"/>
          </a:xfrm>
          <a:prstGeom prst="ellipse">
            <a:avLst/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8705088" y="530352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do topo
</a:t>
            </a:r>
            <a:pPr indent="0" marL="0">
              <a:buNone/>
            </a:pPr>
            <a:r>
              <a:rPr lang="en-US" sz="13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pausa, mapa, glossário, som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5943600"/>
            <a:ext cx="7223760" cy="685800"/>
          </a:xfrm>
          <a:prstGeom prst="roundRect">
            <a:avLst>
              <a:gd name="adj" fmla="val 21333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7240" y="59436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risco chegar ao limite ou houver uma decisão perigosa, a fase recomeça.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8CCE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801368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O JOGO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regras de ouro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40680" cy="1828800"/>
          </a:xfrm>
          <a:prstGeom prst="roundRect">
            <a:avLst>
              <a:gd name="adj" fmla="val 8000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240280"/>
            <a:ext cx="914400" cy="91440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7" name="Image 0" descr="art/icons/HelmetSafet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45973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11680" y="20391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o protocolo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25328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primeiro, depois o 199, depois as ações.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172200" y="1783080"/>
            <a:ext cx="5440680" cy="1828800"/>
          </a:xfrm>
          <a:prstGeom prst="roundRect">
            <a:avLst>
              <a:gd name="adj" fmla="val 8000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46520" y="2240280"/>
            <a:ext cx="914400" cy="914400"/>
          </a:xfrm>
          <a:prstGeom prst="ellipse">
            <a:avLst/>
          </a:prstGeom>
          <a:solidFill>
            <a:srgbClr val="E57A2E"/>
          </a:solidFill>
          <a:ln w="12700">
            <a:solidFill>
              <a:srgbClr val="E57A2E"/>
            </a:solidFill>
            <a:prstDash val="solid"/>
          </a:ln>
        </p:spPr>
      </p:sp>
      <p:pic>
        <p:nvPicPr>
          <p:cNvPr id="12" name="Image 1" descr="art/icons/C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45973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635240" y="20391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sobe com o tempo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7635240" y="25328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relógio pausa durante os diálogos e o quiz.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3794760"/>
            <a:ext cx="5440680" cy="1828800"/>
          </a:xfrm>
          <a:prstGeom prst="roundRect">
            <a:avLst>
              <a:gd name="adj" fmla="val 8000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4251960"/>
            <a:ext cx="914400" cy="914400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pic>
        <p:nvPicPr>
          <p:cNvPr id="17" name="Image 2" descr="art/icons/RotateRigh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47141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011680" y="40507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Errar faz parte</a:t>
            </a:r>
            <a:endParaRPr lang="en-US" sz="2100" dirty="0"/>
          </a:p>
        </p:txBody>
      </p:sp>
      <p:sp>
        <p:nvSpPr>
          <p:cNvPr id="19" name="Text 13"/>
          <p:cNvSpPr txBox="1"/>
          <p:nvPr/>
        </p:nvSpPr>
        <p:spPr>
          <a:xfrm>
            <a:off x="2011680" y="454456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perigosa ou risco no limite: a fase recomeça.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6172200" y="3794760"/>
            <a:ext cx="5440680" cy="1828800"/>
          </a:xfrm>
          <a:prstGeom prst="roundRect">
            <a:avLst>
              <a:gd name="adj" fmla="val 8000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46520" y="4251960"/>
            <a:ext cx="914400" cy="914400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pic>
        <p:nvPicPr>
          <p:cNvPr id="22" name="Image 3" descr="art/icons/Medal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471416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635240" y="40507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Conquiste medalhas</a:t>
            </a:r>
            <a:endParaRPr lang="en-US" sz="2100" dirty="0"/>
          </a:p>
        </p:txBody>
      </p:sp>
      <p:sp>
        <p:nvSpPr>
          <p:cNvPr id="24" name="Text 17"/>
          <p:cNvSpPr txBox="1"/>
          <p:nvPr/>
        </p:nvSpPr>
        <p:spPr>
          <a:xfrm>
            <a:off x="7635240" y="454456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com 75% ou mais, sem decisões perigosas e de primeira.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548640" y="5897880"/>
            <a:ext cx="11109960" cy="502920"/>
          </a:xfrm>
          <a:prstGeom prst="roundRect">
            <a:avLst>
              <a:gd name="adj" fmla="val 29091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777240" y="5897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converse com os moradores marcados com "?" para ganhar pontos.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8CCE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2473452" cy="329184"/>
          </a:xfrm>
          <a:prstGeom prst="roundRect">
            <a:avLst>
              <a:gd name="adj" fmla="val 50000"/>
            </a:avLst>
          </a:prstGeom>
          <a:solidFill>
            <a:srgbClr val="D9A2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 |  ALAGAMENTO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Alagamento urbano</a:t>
            </a:r>
            <a:endParaRPr lang="en-US" sz="3400" dirty="0"/>
          </a:p>
        </p:txBody>
      </p:sp>
      <p:pic>
        <p:nvPicPr>
          <p:cNvPr id="5" name="Image 0" descr="art/scene_alag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035040" cy="33192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285232"/>
            <a:ext cx="6035040" cy="978408"/>
          </a:xfrm>
          <a:prstGeom prst="roundRect">
            <a:avLst>
              <a:gd name="adj" fmla="val 14953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285232"/>
            <a:ext cx="5577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Conceito-chave: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microdrenagem entupida e o perigo da eletricidade na água.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missão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2075688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Equipe-se, ligue para o 199, desligue o disjuntor, erga móveis, barre a porta, limpe as bocas de lobo e sinalize o poço de visita sem tampão.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949440" y="3337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Fique atento 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3675888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medidor de risco (água subindo)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Ordem: capa, depois 199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Poço sem tampão: chegar perto é perigo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949440" y="5212080"/>
            <a:ext cx="4709160" cy="1051560"/>
          </a:xfrm>
          <a:prstGeom prst="roundRect">
            <a:avLst>
              <a:gd name="adj" fmla="val 13913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178040" y="52120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para pensar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desligar o disjuntor vem antes de a água chegar às tomadas?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8CCE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57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|  ENXURRADA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Enxurrada em ladeira</a:t>
            </a:r>
            <a:endParaRPr lang="en-US" sz="3400" dirty="0"/>
          </a:p>
        </p:txBody>
      </p:sp>
      <p:pic>
        <p:nvPicPr>
          <p:cNvPr id="5" name="Image 0" descr="art/scene_enxurr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035040" cy="33192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285232"/>
            <a:ext cx="6035040" cy="978408"/>
          </a:xfrm>
          <a:prstGeom prst="roundRect">
            <a:avLst>
              <a:gd name="adj" fmla="val 14953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285232"/>
            <a:ext cx="5577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Conceito-chave: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rápida, com força: só a passarela é segura.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missão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2075688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 a via com cones, resgate o gato pela passarela, monte a mureta de sacos de areia e sinalize a boca de lobo sem chegar perto.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949440" y="3337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Fique atento 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3675888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correnteza: nunca entre na água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demora, mais transborda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tentativas na água reiniciam a fase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949440" y="5212080"/>
            <a:ext cx="4709160" cy="1051560"/>
          </a:xfrm>
          <a:prstGeom prst="roundRect">
            <a:avLst>
              <a:gd name="adj" fmla="val 13913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178040" y="52120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para pensar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enxurrada é perigosa mesmo com pouca profundidade?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8CCE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2281428" cy="329184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 |  ENCHENTE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3: Enchente fluvial</a:t>
            </a:r>
            <a:endParaRPr lang="en-US" sz="3400" dirty="0"/>
          </a:p>
        </p:txBody>
      </p:sp>
      <p:pic>
        <p:nvPicPr>
          <p:cNvPr id="5" name="Image 0" descr="art/scene_ench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035040" cy="33192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285232"/>
            <a:ext cx="6035040" cy="978408"/>
          </a:xfrm>
          <a:prstGeom prst="roundRect">
            <a:avLst>
              <a:gd name="adj" fmla="val 14953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285232"/>
            <a:ext cx="5577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Conceito-chave: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rio sobe devagar: há tempo, se agirmos cedo.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missão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2075688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Vista-se, prepare a mochila, ligue 199, desligue energia e gás, proteja a entrada e os móveis, e ajude os vizinhos (inclusive quem está acamado) até o abrigo no alto.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949440" y="3337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Fique atento 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3675888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cota do rio subindo devagar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planície vai encher: evacue cedo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Atravesse só pela passarela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949440" y="5212080"/>
            <a:ext cx="4709160" cy="1051560"/>
          </a:xfrm>
          <a:prstGeom prst="roundRect">
            <a:avLst>
              <a:gd name="adj" fmla="val 13913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178040" y="52120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para pensar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entre esperar a água chegar e sair cedo?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8CCE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2665476" cy="329184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 |  DESLIZAMENTO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4: Deslizamento de encosta</a:t>
            </a:r>
            <a:endParaRPr lang="en-US" sz="3400" dirty="0"/>
          </a:p>
        </p:txBody>
      </p:sp>
      <p:pic>
        <p:nvPicPr>
          <p:cNvPr id="5" name="Image 0" descr="art/scene_desliz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035040" cy="33192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285232"/>
            <a:ext cx="6035040" cy="978408"/>
          </a:xfrm>
          <a:prstGeom prst="roundRect">
            <a:avLst>
              <a:gd name="adj" fmla="val 14953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285232"/>
            <a:ext cx="5577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Conceito-chave: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alerta na encosta: rachaduras, estalos, árvores inclinadas.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missão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2075688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os sinais de longe, ligue 199, desvie a água, isole a área e evacue a moradora e o vizinho idoso pela trilha segura.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949440" y="3337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Fique atento 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3675888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Rachaduras, árvore inclinada, estalos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Pisar no talude deixa lento e aumenta o risco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volte para buscar objetos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949440" y="5212080"/>
            <a:ext cx="4709160" cy="1051560"/>
          </a:xfrm>
          <a:prstGeom prst="roundRect">
            <a:avLst>
              <a:gd name="adj" fmla="val 13913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178040" y="52120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para pensar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existe uma trilha segura e por que não usar o atalho pelo talude?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8CCE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513332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organizar o jogo em sala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20440" cy="352044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47088" y="2011680"/>
            <a:ext cx="914400" cy="91440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7" name="Image 0" descr="art/icons/PeopleGrou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544" y="223113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Duplas ou trios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61188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joga, navegador confere o protocolo, repórter anota as decisões. Troquem os papéis a cada fase.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343400" y="1783080"/>
            <a:ext cx="3520440" cy="352044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41848" y="2011680"/>
            <a:ext cx="914400" cy="914400"/>
          </a:xfrm>
          <a:prstGeom prst="ellipse">
            <a:avLst/>
          </a:prstGeom>
          <a:solidFill>
            <a:srgbClr val="E57A2E"/>
          </a:solidFill>
          <a:ln w="12700">
            <a:solidFill>
              <a:srgbClr val="E57A2E"/>
            </a:solidFill>
            <a:prstDash val="solid"/>
          </a:ln>
        </p:spPr>
      </p:sp>
      <p:pic>
        <p:nvPicPr>
          <p:cNvPr id="12" name="Image 1" descr="art/icons/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223113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2628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com 1 computador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617720" y="361188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4 alunos por aparelho, com rodízio de 5 minutos. Quem não joga aconselha.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138160" y="1783080"/>
            <a:ext cx="3520440" cy="352044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436608" y="2011680"/>
            <a:ext cx="914400" cy="91440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17" name="Image 2" descr="art/icons/Tv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23113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2104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turma (projetado)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8412480" y="361188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professor joga na tela e a turma decide por votação, com cartões ou mão levantada.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5532120"/>
            <a:ext cx="11109960" cy="731520"/>
          </a:xfrm>
          <a:prstGeom prst="roundRect">
            <a:avLst>
              <a:gd name="adj" fmla="val 20000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22960" y="553212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precisa de um navegador (computador, tablet ou celular). Teste antes: abra o jogo e faça a Fase 1.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801368" cy="329184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JOGO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observação da dupla</a:t>
            </a:r>
            <a:endParaRPr lang="en-US" sz="3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109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2468880"/>
                <a:gridCol w="2468880"/>
                <a:gridCol w="1325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aconteceu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 que ajudou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 que atrapalhou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Medalha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Alagamento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2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Enxurrada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Enchente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3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Deslizamento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Dupla: ______________________________     Papéis: piloto, navegador e repórter (troquem a cada fase).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57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de conversa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4068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240280"/>
            <a:ext cx="868680" cy="86868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7" name="Image 0" descr="art/icons/Gamepa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448763"/>
            <a:ext cx="451714" cy="45171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65960" y="192024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fase foi a mais difícil? Por quê?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6172200" y="1783080"/>
            <a:ext cx="544068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46520" y="2240280"/>
            <a:ext cx="868680" cy="868680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pic>
        <p:nvPicPr>
          <p:cNvPr id="11" name="Image 1" descr="art/icons/Lightbulb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03" y="2448763"/>
            <a:ext cx="451714" cy="45171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89520" y="192024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foi a decisão mais difícil e o que você aprendeu com ela?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548640" y="3749040"/>
            <a:ext cx="544068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822960" y="4206240"/>
            <a:ext cx="868680" cy="86868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15" name="Image 2" descr="art/icons/RotateRigh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4414723"/>
            <a:ext cx="451714" cy="45171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965960" y="388620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faria diferente numa situação real?</a:t>
            </a:r>
            <a:endParaRPr lang="en-US" sz="1900" dirty="0"/>
          </a:p>
        </p:txBody>
      </p:sp>
      <p:sp>
        <p:nvSpPr>
          <p:cNvPr id="17" name="Shape 11"/>
          <p:cNvSpPr/>
          <p:nvPr/>
        </p:nvSpPr>
        <p:spPr>
          <a:xfrm>
            <a:off x="6172200" y="3749040"/>
            <a:ext cx="544068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446520" y="4206240"/>
            <a:ext cx="868680" cy="868680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pic>
        <p:nvPicPr>
          <p:cNvPr id="19" name="Image 3" descr="art/icons/Hous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4414723"/>
            <a:ext cx="451714" cy="45171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589520" y="388620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sinais de risco existem no nosso bairro ou na nossa escola?</a:t>
            </a:r>
            <a:endParaRPr lang="en-US" sz="1900" dirty="0"/>
          </a:p>
        </p:txBody>
      </p:sp>
      <p:sp>
        <p:nvSpPr>
          <p:cNvPr id="21" name="Shape 14"/>
          <p:cNvSpPr/>
          <p:nvPr/>
        </p:nvSpPr>
        <p:spPr>
          <a:xfrm>
            <a:off x="548640" y="5806440"/>
            <a:ext cx="11109960" cy="548640"/>
          </a:xfrm>
          <a:prstGeom prst="roundRect">
            <a:avLst>
              <a:gd name="adj" fmla="val 26667"/>
            </a:avLst>
          </a:prstGeom>
          <a:solidFill>
            <a:srgbClr val="BFE3F6"/>
          </a:solidFill>
          <a:ln w="12700">
            <a:solidFill>
              <a:srgbClr val="BFE3F6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822960" y="58064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experiências são respeitadas. Ninguém é obrigado a contar.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57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para casa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57784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075688"/>
            <a:ext cx="731520" cy="731520"/>
          </a:xfrm>
          <a:prstGeom prst="ellipse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pic>
        <p:nvPicPr>
          <p:cNvPr id="7" name="Image 0" descr="art/icons/ClipboardLis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2251253"/>
            <a:ext cx="380390" cy="38039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187452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de Emergência da família
</a:t>
            </a:r>
            <a:pPr indent="0" marL="0">
              <a:buNone/>
            </a:pPr>
            <a:r>
              <a:rPr lang="en-US" sz="14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com quem mora com você.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246120"/>
            <a:ext cx="557784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31520" y="3538728"/>
            <a:ext cx="731520" cy="73152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11" name="Image 1" descr="art/icons/Ma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5" y="3714293"/>
            <a:ext cx="380390" cy="38039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91640" y="333756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riscos do bairro
</a:t>
            </a:r>
            <a:pPr indent="0" marL="0">
              <a:buNone/>
            </a:pPr>
            <a:r>
              <a:rPr lang="en-US" sz="14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 onde alaga, onde a água corre rápido, onde há encosta e onde é seguro.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4709160"/>
            <a:ext cx="557784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31520" y="5001768"/>
            <a:ext cx="731520" cy="731520"/>
          </a:xfrm>
          <a:prstGeom prst="ellipse">
            <a:avLst/>
          </a:prstGeom>
          <a:solidFill>
            <a:srgbClr val="E57A2E"/>
          </a:solidFill>
          <a:ln w="12700">
            <a:solidFill>
              <a:srgbClr val="E57A2E"/>
            </a:solidFill>
            <a:prstDash val="solid"/>
          </a:ln>
        </p:spPr>
      </p:sp>
      <p:pic>
        <p:nvPicPr>
          <p:cNvPr id="15" name="Image 2" descr="art/icons/Bullhor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5177333"/>
            <a:ext cx="380390" cy="38039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91640" y="48006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para 2 pessoas
</a:t>
            </a:r>
            <a:pPr indent="0" marL="0">
              <a:buNone/>
            </a:pPr>
            <a:r>
              <a:rPr lang="en-US" sz="14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mito ou verdade que você aprendeu.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492240" y="1783080"/>
            <a:ext cx="516636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492240" y="1783080"/>
            <a:ext cx="5166360" cy="685800"/>
          </a:xfrm>
          <a:prstGeom prst="roundRect">
            <a:avLst>
              <a:gd name="adj" fmla="val 21333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492240" y="178308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DE EMERGÊNCIA DA FAMÍLIA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6766560" y="2697480"/>
            <a:ext cx="4617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Telefones: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Civil 199  |  Bombeiros 193  |  SAMU 192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ponto de encontro: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rota de saída: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ajuda crianças, idosos e animais: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pronta?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documentos, água, remédios, lanterna, carregador e lista de telefones.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993392" cy="329184"/>
          </a:xfrm>
          <a:prstGeom prst="roundRect">
            <a:avLst>
              <a:gd name="adj" fmla="val 50000"/>
            </a:avLst>
          </a:prstGeom>
          <a:solidFill>
            <a:srgbClr val="2A9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PROFESSOR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Adaptações por ano e outras disciplinas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4068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9659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A9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6º e 7º anos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Observar, nomear e reconhecer sinais de alerta</a:t>
            </a:r>
            <a:endParaRPr lang="en-US" sz="19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Jogar em duplas com o guia ligado</a:t>
            </a:r>
            <a:endParaRPr lang="en-US" sz="19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Produzir desenhos e cartazes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172200" y="1783080"/>
            <a:ext cx="544068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46520" y="19659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8º e 9º anos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5146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causas: urbanização e bacia hidrográfica</a:t>
            </a:r>
            <a:endParaRPr lang="en-US" sz="19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 interpretar o gráfico de escoamento</a:t>
            </a:r>
            <a:endParaRPr lang="en-US" sz="19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riscos do bairro e debate sobre políticas públicas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Conexões com outras disciplinas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2578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D9A2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788920" y="52578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52578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A9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52578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57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Língua Portuguesa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509760" y="52578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as habilidades da BNCC do seu currículo para registrar o planejamento.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993392" cy="329184"/>
          </a:xfrm>
          <a:prstGeom prst="roundRect">
            <a:avLst>
              <a:gd name="adj" fmla="val 50000"/>
            </a:avLst>
          </a:prstGeom>
          <a:solidFill>
            <a:srgbClr val="2A9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PROFESSOR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avaliar a oficina</a:t>
            </a:r>
            <a:endParaRPr lang="en-US" sz="3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109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80360"/>
                <a:gridCol w="3108960"/>
                <a:gridCol w="31089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construção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7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Alcançado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Avançado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36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Confunde os fenômenos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 os quatro fenômenos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 causas e dá exemplos do bairro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Lembra parte da sequência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 proteja-se, avise, aja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 cada passo e a ordem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Decisões no jogo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Erra sem perceber por quê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 decisões que ajudaram ou atrapalharam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Propõe como agiria na vida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 quando solicitado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 com a dupla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Ajuda outros grupos e conduz a discussão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ficha, a roda de conversa e as medalhas como evidências (avaliação formativa).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2A9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Glossário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700784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
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de um perigo causar dano a pessoas.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97680" y="164592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480560" y="1700784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Civil (199)
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Órgão que previne, alerta e ajuda em desastres.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46720" y="164592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0" y="1700784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
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 de proteção individual: botas, capa, colete, luvas.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807208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31520" y="286207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Microdrenagem
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Sarjetas, bocas de lobo, poços de visita e galerias.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2807208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480560" y="286207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 de lobo (bueiro)
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no meio-fio que capta a água da chuva.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46720" y="2807208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29600" y="286207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Poço de visita (bueiro com tampa)
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Câmara subterrânea da drenagem, fechada por um tampão.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968496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31520" y="40233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Tampão
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 de ferro do poço de visita.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297680" y="3968496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480560" y="40233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 de águas pluviais
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Tubulação subterrânea que leva a água ao rio ou canal.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046720" y="3968496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229600" y="40233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do rio
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da água do rio.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5129784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31520" y="518464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Montante e jusante
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Montante: parte mais alta, de onde a água vem. Jusante: parte mais baixa.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297680" y="5129784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480560" y="518464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Talude
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inclinada de uma encosta.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046720" y="5129784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229600" y="518464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Evacuação
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de forma organizada de uma área de risco para um lugar seguro.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5C4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344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e material da oficina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94560"/>
            <a:ext cx="6583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HIDRO: Redução de Riscos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e desenvolvimento: Antonio Idêrlian Pereira de Sousa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Geógrafo, Mestre e Doutorando em Geografia (PPGG/FCH/UFGD). Técnico do Laboratório de Geoprocessamento, Faculdade de Ciências Agrárias (FCA/UFGD).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rgbClr val="BFE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Contato: antonioiderlian@outlook.com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5029200"/>
            <a:ext cx="6583680" cy="1097280"/>
          </a:xfrm>
          <a:prstGeom prst="roundRect">
            <a:avLst>
              <a:gd name="adj" fmla="val 13333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68680" y="50292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Ilustrações: cenas montadas com os sprites do jogo e diagramas originais. Uso educacional. Licenciamento em definição. Confirme telefones e alertas com a Defesa Civil local.</a:t>
            </a:r>
            <a:endParaRPr lang="en-US" sz="1300" dirty="0"/>
          </a:p>
          <a:p>
            <a:r>
              <a:rPr sz="1300">
                <a:solidFill>
                  <a:srgbClr val="B8CCE6"/>
                </a:solidFill>
                <a:latin typeface="Calibri"/>
              </a:rPr>
              <a:t>Programa de computador registrado no INPI sob o processo nº BR 51 2026 009207-8, titularidade da UFGD.</a:t>
            </a:r>
          </a:p>
        </p:txBody>
      </p:sp>
      <p:sp>
        <p:nvSpPr>
          <p:cNvPr id="8" name="Shape 5"/>
          <p:cNvSpPr/>
          <p:nvPr/>
        </p:nvSpPr>
        <p:spPr>
          <a:xfrm>
            <a:off x="7680960" y="914400"/>
            <a:ext cx="4023360" cy="5212080"/>
          </a:xfrm>
          <a:prstGeom prst="roundRect">
            <a:avLst>
              <a:gd name="adj" fmla="val 3636"/>
            </a:avLst>
          </a:prstGeom>
          <a:solidFill>
            <a:srgbClr val="1B2C4A"/>
          </a:solidFill>
          <a:ln w="12700">
            <a:solidFill>
              <a:srgbClr val="1B2C4A"/>
            </a:solidFill>
            <a:prstDash val="solid"/>
          </a:ln>
        </p:spPr>
      </p:sp>
      <p:pic>
        <p:nvPicPr>
          <p:cNvPr id="9" name="Image 0" descr="art/hidro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240280"/>
            <a:ext cx="2468880" cy="2468880"/>
          </a:xfrm>
          <a:prstGeom prst="rect">
            <a:avLst/>
          </a:prstGeom>
        </p:spPr>
      </p:pic>
      <p:pic>
        <p:nvPicPr>
          <p:cNvPr id="10" name="Image 1" descr="art/idoso_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246120"/>
            <a:ext cx="1463040" cy="1463040"/>
          </a:xfrm>
          <a:prstGeom prst="rect">
            <a:avLst/>
          </a:prstGeom>
        </p:spPr>
      </p:pic>
      <p:pic>
        <p:nvPicPr>
          <p:cNvPr id="11" name="Image 2" descr="art/moradora_b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291840"/>
            <a:ext cx="1417320" cy="1417320"/>
          </a:xfrm>
          <a:prstGeom prst="rect">
            <a:avLst/>
          </a:prstGeom>
        </p:spPr>
      </p:pic>
      <p:pic>
        <p:nvPicPr>
          <p:cNvPr id="12" name="Image 3" descr="art/crianca_bi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3931920"/>
            <a:ext cx="914400" cy="9144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680960" y="11430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Oficina HIDRO: O que você faria se a chuva não parasse?</dc:title>
  <dc:subject>Educação para redução de riscos de desastres hidrológicos (6º ao 9º ano)</dc:subject>
  <dc:creator>Antonio Idêrlian Pereira de Sousa</dc:creator>
  <cp:lastModifiedBy>Antonio Idêrlian Pereira de Sousa</cp:lastModifiedBy>
  <cp:revision>1</cp:revision>
  <dcterms:created xsi:type="dcterms:W3CDTF">2026-09-22T21:17:13Z</dcterms:created>
  <dcterms:modified xsi:type="dcterms:W3CDTF">2026-09-22T21:17:13Z</dcterms:modified>
</cp:coreProperties>
</file>